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covered Google Drive (full-text + title) and Gmail. Gmail contained no standalone model document — only curriculum descriptions referencing this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almost certainly the model being asked about. It appears in the Session 3 Gottman deck, Free life coach training slides, Session 3 (2024) and Module 2 slides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consolidation: the manual pair (Conscious Request / Response) and the Compassionate Communication Model overlap heavily. One canonical version would remove the ambiguity students hit when both are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8192E"/>
        </a:solidFill>
      </p:bgPr>
    </p:bg>
    <p:spTree>
      <p:nvGrpSpPr>
        <p:cNvPr id="1" name=""/>
        <p:cNvGrpSpPr/>
        <p:nvPr/>
      </p:nvGrpSpPr>
      <p:grpSpPr>
        <a:xfrm>
          <a:off x="0" y="0"/>
          <a:ext cx="0" cy="0"/>
          <a:chOff x="0" y="0"/>
          <a:chExt cx="0" cy="0"/>
        </a:xfrm>
      </p:grpSpPr>
      <p:sp>
        <p:nvSpPr>
          <p:cNvPr id="2" name="Shape 0"/>
          <p:cNvSpPr/>
          <p:nvPr/>
        </p:nvSpPr>
        <p:spPr>
          <a:xfrm>
            <a:off x="8686800" y="-1463040"/>
            <a:ext cx="5120640" cy="5120640"/>
          </a:xfrm>
          <a:prstGeom prst="ellipse">
            <a:avLst/>
          </a:prstGeom>
          <a:solidFill>
            <a:srgbClr val="6D2E46">
              <a:alpha val="65000"/>
            </a:srgbClr>
          </a:solidFill>
          <a:ln/>
        </p:spPr>
      </p:sp>
      <p:sp>
        <p:nvSpPr>
          <p:cNvPr id="3" name="Shape 1"/>
          <p:cNvSpPr/>
          <p:nvPr/>
        </p:nvSpPr>
        <p:spPr>
          <a:xfrm>
            <a:off x="10241280" y="4023360"/>
            <a:ext cx="2926080" cy="2926080"/>
          </a:xfrm>
          <a:prstGeom prst="ellipse">
            <a:avLst/>
          </a:prstGeom>
          <a:solidFill>
            <a:srgbClr val="A26769">
              <a:alpha val="40000"/>
            </a:srgbClr>
          </a:solidFill>
          <a:ln/>
        </p:spPr>
      </p:sp>
      <p:sp>
        <p:nvSpPr>
          <p:cNvPr id="4" name="Text 2"/>
          <p:cNvSpPr/>
          <p:nvPr/>
        </p:nvSpPr>
        <p:spPr>
          <a:xfrm>
            <a:off x="640080" y="1371600"/>
            <a:ext cx="7680960" cy="274320"/>
          </a:xfrm>
          <a:prstGeom prst="rect">
            <a:avLst/>
          </a:prstGeom>
          <a:noFill/>
          <a:ln/>
        </p:spPr>
        <p:txBody>
          <a:bodyPr wrap="square" lIns="0" tIns="0" rIns="0" bIns="0" rtlCol="0" anchor="ctr"/>
          <a:lstStyle/>
          <a:p>
            <a:pPr indent="0" marL="0">
              <a:buNone/>
            </a:pPr>
            <a:r>
              <a:rPr lang="en-US" sz="1100" b="1" spc="200" kern="0" dirty="0">
                <a:solidFill>
                  <a:srgbClr val="A26769"/>
                </a:solidFill>
                <a:latin typeface="Calibri" pitchFamily="34" charset="0"/>
                <a:ea typeface="Calibri" pitchFamily="34" charset="-122"/>
                <a:cs typeface="Calibri" pitchFamily="34" charset="-120"/>
              </a:rPr>
              <a:t>LUKE HAWKINS COACHING  ·  INTERNAL AUDIT</a:t>
            </a:r>
            <a:endParaRPr lang="en-US" sz="1100" dirty="0"/>
          </a:p>
        </p:txBody>
      </p:sp>
      <p:sp>
        <p:nvSpPr>
          <p:cNvPr id="5" name="Text 3"/>
          <p:cNvSpPr/>
          <p:nvPr/>
        </p:nvSpPr>
        <p:spPr>
          <a:xfrm>
            <a:off x="640080" y="1828800"/>
            <a:ext cx="7863840" cy="1920240"/>
          </a:xfrm>
          <a:prstGeom prst="rect">
            <a:avLst/>
          </a:prstGeom>
          <a:noFill/>
          <a:ln/>
        </p:spPr>
        <p:txBody>
          <a:bodyPr wrap="square" lIns="0" tIns="0" rIns="0" bIns="0" rtlCol="0" anchor="ctr"/>
          <a:lstStyle/>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Relationship Resolution</a:t>
            </a:r>
            <a:endParaRPr lang="en-US" sz="4400" dirty="0"/>
          </a:p>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Communication Models</a:t>
            </a:r>
            <a:endParaRPr lang="en-US" sz="4400" dirty="0"/>
          </a:p>
        </p:txBody>
      </p:sp>
      <p:sp>
        <p:nvSpPr>
          <p:cNvPr id="6" name="Text 4"/>
          <p:cNvSpPr/>
          <p:nvPr/>
        </p:nvSpPr>
        <p:spPr>
          <a:xfrm>
            <a:off x="640080" y="3931920"/>
            <a:ext cx="7315200" cy="914400"/>
          </a:xfrm>
          <a:prstGeom prst="rect">
            <a:avLst/>
          </a:prstGeom>
          <a:noFill/>
          <a:ln/>
        </p:spPr>
        <p:txBody>
          <a:bodyPr wrap="square" lIns="0" tIns="0" rIns="0" bIns="0" rtlCol="0" anchor="ctr"/>
          <a:lstStyle/>
          <a:p>
            <a:pPr indent="0" marL="0">
              <a:lnSpc>
                <a:spcPts val="2400"/>
              </a:lnSpc>
              <a:buNone/>
            </a:pPr>
            <a:r>
              <a:rPr lang="en-US" sz="1500" dirty="0">
                <a:solidFill>
                  <a:srgbClr val="E8D9DC"/>
                </a:solidFill>
                <a:latin typeface="Calibri" pitchFamily="34" charset="0"/>
                <a:ea typeface="Calibri" pitchFamily="34" charset="-122"/>
                <a:cs typeface="Calibri" pitchFamily="34" charset="-120"/>
              </a:rPr>
              <a:t>Every conflict-resolution and repair communication framework found across Google Drive — what each one is, where it lives, and how they fit together.</a:t>
            </a:r>
            <a:endParaRPr lang="en-US" sz="1500" dirty="0"/>
          </a:p>
        </p:txBody>
      </p:sp>
      <p:sp>
        <p:nvSpPr>
          <p:cNvPr id="7" name="Text 5"/>
          <p:cNvSpPr/>
          <p:nvPr/>
        </p:nvSpPr>
        <p:spPr>
          <a:xfrm>
            <a:off x="640080" y="5120640"/>
            <a:ext cx="7863840" cy="365760"/>
          </a:xfrm>
          <a:prstGeom prst="rect">
            <a:avLst/>
          </a:prstGeom>
          <a:noFill/>
          <a:ln/>
        </p:spPr>
        <p:txBody>
          <a:bodyPr wrap="square" lIns="0" tIns="0" rIns="0" bIns="0" rtlCol="0" anchor="ctr"/>
          <a:lstStyle/>
          <a:p>
            <a:pPr indent="0" marL="0">
              <a:buNone/>
            </a:pPr>
            <a:r>
              <a:rPr lang="en-US" sz="1300" b="1" dirty="0">
                <a:solidFill>
                  <a:srgbClr val="C08A3E"/>
                </a:solidFill>
                <a:latin typeface="Calibri" pitchFamily="34" charset="0"/>
                <a:ea typeface="Calibri" pitchFamily="34" charset="-122"/>
                <a:cs typeface="Calibri" pitchFamily="34" charset="-120"/>
              </a:rPr>
              <a:t>9 models found  ·  8 source files  ·  Audited 19 August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1E8"/>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100" b="1" spc="200" kern="0" dirty="0">
                <a:solidFill>
                  <a:srgbClr val="A26769"/>
                </a:solidFill>
                <a:latin typeface="Calibri" pitchFamily="34" charset="0"/>
                <a:ea typeface="Calibri" pitchFamily="34" charset="-122"/>
                <a:cs typeface="Calibri" pitchFamily="34" charset="-120"/>
              </a:rPr>
              <a:t>SCOPE OF THE SEARCH</a:t>
            </a:r>
            <a:endParaRPr lang="en-US" sz="1100" dirty="0"/>
          </a:p>
        </p:txBody>
      </p:sp>
      <p:sp>
        <p:nvSpPr>
          <p:cNvPr id="3" name="Text 1"/>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What was searched, and what came back</a:t>
            </a:r>
            <a:endParaRPr lang="en-US" sz="3400" dirty="0"/>
          </a:p>
        </p:txBody>
      </p:sp>
      <p:sp>
        <p:nvSpPr>
          <p:cNvPr id="4" name="Shape 2"/>
          <p:cNvSpPr/>
          <p:nvPr/>
        </p:nvSpPr>
        <p:spPr>
          <a:xfrm>
            <a:off x="640080" y="1508760"/>
            <a:ext cx="2651760" cy="2331720"/>
          </a:xfrm>
          <a:prstGeom prst="roundRect">
            <a:avLst>
              <a:gd name="adj" fmla="val 3922"/>
            </a:avLst>
          </a:prstGeom>
          <a:solidFill>
            <a:srgbClr val="FFFFFF"/>
          </a:solidFill>
          <a:ln/>
          <a:effectLst>
            <a:outerShdw sx="100000" sy="100000" kx="0" ky="0" algn="bl" rotWithShape="0" blurRad="127000" dist="25400" dir="5400000">
              <a:srgbClr val="6D2E46">
                <a:alpha val="13000"/>
              </a:srgbClr>
            </a:outerShdw>
          </a:effectLst>
        </p:spPr>
      </p:sp>
      <p:sp>
        <p:nvSpPr>
          <p:cNvPr id="5" name="Text 3"/>
          <p:cNvSpPr/>
          <p:nvPr/>
        </p:nvSpPr>
        <p:spPr>
          <a:xfrm>
            <a:off x="868680" y="1691640"/>
            <a:ext cx="2194560" cy="777240"/>
          </a:xfrm>
          <a:prstGeom prst="rect">
            <a:avLst/>
          </a:prstGeom>
          <a:noFill/>
          <a:ln/>
        </p:spPr>
        <p:txBody>
          <a:bodyPr wrap="square" lIns="0" tIns="0" rIns="0" bIns="0" rtlCol="0" anchor="ctr"/>
          <a:lstStyle/>
          <a:p>
            <a:pPr indent="0" marL="0">
              <a:buNone/>
            </a:pPr>
            <a:r>
              <a:rPr lang="en-US" sz="4600" b="1" dirty="0">
                <a:solidFill>
                  <a:srgbClr val="6D2E46"/>
                </a:solidFill>
                <a:latin typeface="Cambria" pitchFamily="34" charset="0"/>
                <a:ea typeface="Cambria" pitchFamily="34" charset="-122"/>
                <a:cs typeface="Cambria" pitchFamily="34" charset="-120"/>
              </a:rPr>
              <a:t>9</a:t>
            </a:r>
            <a:endParaRPr lang="en-US" sz="4600" dirty="0"/>
          </a:p>
        </p:txBody>
      </p:sp>
      <p:sp>
        <p:nvSpPr>
          <p:cNvPr id="6" name="Text 4"/>
          <p:cNvSpPr/>
          <p:nvPr/>
        </p:nvSpPr>
        <p:spPr>
          <a:xfrm>
            <a:off x="868680" y="2487168"/>
            <a:ext cx="2194560" cy="310896"/>
          </a:xfrm>
          <a:prstGeom prst="rect">
            <a:avLst/>
          </a:prstGeom>
          <a:noFill/>
          <a:ln/>
        </p:spPr>
        <p:txBody>
          <a:bodyPr wrap="square" lIns="0" tIns="0" rIns="0" bIns="0" rtlCol="0" anchor="ctr"/>
          <a:lstStyle/>
          <a:p>
            <a:pPr indent="0" marL="0">
              <a:buNone/>
            </a:pPr>
            <a:r>
              <a:rPr lang="en-US" sz="1300" b="1" dirty="0">
                <a:solidFill>
                  <a:srgbClr val="2B2320"/>
                </a:solidFill>
                <a:latin typeface="Calibri" pitchFamily="34" charset="0"/>
                <a:ea typeface="Calibri" pitchFamily="34" charset="-122"/>
                <a:cs typeface="Calibri" pitchFamily="34" charset="-120"/>
              </a:rPr>
              <a:t>Distinct models</a:t>
            </a:r>
            <a:endParaRPr lang="en-US" sz="1300" dirty="0"/>
          </a:p>
        </p:txBody>
      </p:sp>
      <p:sp>
        <p:nvSpPr>
          <p:cNvPr id="7" name="Text 5"/>
          <p:cNvSpPr/>
          <p:nvPr/>
        </p:nvSpPr>
        <p:spPr>
          <a:xfrm>
            <a:off x="868680" y="2834640"/>
            <a:ext cx="2194560" cy="868680"/>
          </a:xfrm>
          <a:prstGeom prst="rect">
            <a:avLst/>
          </a:prstGeom>
          <a:noFill/>
          <a:ln/>
        </p:spPr>
        <p:txBody>
          <a:bodyPr wrap="square" lIns="0" tIns="0" rIns="0" bIns="0" rtlCol="0" anchor="ctr"/>
          <a:lstStyle/>
          <a:p>
            <a:pPr indent="0" marL="0">
              <a:lnSpc>
                <a:spcPts val="1500"/>
              </a:lnSpc>
              <a:buNone/>
            </a:pPr>
            <a:r>
              <a:rPr lang="en-US" sz="1100" dirty="0">
                <a:solidFill>
                  <a:srgbClr val="7A6A64"/>
                </a:solidFill>
                <a:latin typeface="Calibri" pitchFamily="34" charset="0"/>
                <a:ea typeface="Calibri" pitchFamily="34" charset="-122"/>
                <a:cs typeface="Calibri" pitchFamily="34" charset="-120"/>
              </a:rPr>
              <a:t>Named frameworks that govern how two people talk through an upset.</a:t>
            </a:r>
            <a:endParaRPr lang="en-US" sz="1100" dirty="0"/>
          </a:p>
        </p:txBody>
      </p:sp>
      <p:sp>
        <p:nvSpPr>
          <p:cNvPr id="8" name="Shape 6"/>
          <p:cNvSpPr/>
          <p:nvPr/>
        </p:nvSpPr>
        <p:spPr>
          <a:xfrm>
            <a:off x="3602736" y="1508760"/>
            <a:ext cx="2651760" cy="2331720"/>
          </a:xfrm>
          <a:prstGeom prst="roundRect">
            <a:avLst>
              <a:gd name="adj" fmla="val 3922"/>
            </a:avLst>
          </a:prstGeom>
          <a:solidFill>
            <a:srgbClr val="FFFFFF"/>
          </a:solidFill>
          <a:ln/>
          <a:effectLst>
            <a:outerShdw sx="100000" sy="100000" kx="0" ky="0" algn="bl" rotWithShape="0" blurRad="127000" dist="25400" dir="5400000">
              <a:srgbClr val="6D2E46">
                <a:alpha val="13000"/>
              </a:srgbClr>
            </a:outerShdw>
          </a:effectLst>
        </p:spPr>
      </p:sp>
      <p:sp>
        <p:nvSpPr>
          <p:cNvPr id="9" name="Text 7"/>
          <p:cNvSpPr/>
          <p:nvPr/>
        </p:nvSpPr>
        <p:spPr>
          <a:xfrm>
            <a:off x="3831336" y="1691640"/>
            <a:ext cx="2194560" cy="777240"/>
          </a:xfrm>
          <a:prstGeom prst="rect">
            <a:avLst/>
          </a:prstGeom>
          <a:noFill/>
          <a:ln/>
        </p:spPr>
        <p:txBody>
          <a:bodyPr wrap="square" lIns="0" tIns="0" rIns="0" bIns="0" rtlCol="0" anchor="ctr"/>
          <a:lstStyle/>
          <a:p>
            <a:pPr indent="0" marL="0">
              <a:buNone/>
            </a:pPr>
            <a:r>
              <a:rPr lang="en-US" sz="4600" b="1" dirty="0">
                <a:solidFill>
                  <a:srgbClr val="6D2E46"/>
                </a:solidFill>
                <a:latin typeface="Cambria" pitchFamily="34" charset="0"/>
                <a:ea typeface="Cambria" pitchFamily="34" charset="-122"/>
                <a:cs typeface="Cambria" pitchFamily="34" charset="-120"/>
              </a:rPr>
              <a:t>8</a:t>
            </a:r>
            <a:endParaRPr lang="en-US" sz="4600" dirty="0"/>
          </a:p>
        </p:txBody>
      </p:sp>
      <p:sp>
        <p:nvSpPr>
          <p:cNvPr id="10" name="Text 8"/>
          <p:cNvSpPr/>
          <p:nvPr/>
        </p:nvSpPr>
        <p:spPr>
          <a:xfrm>
            <a:off x="3831336" y="2487168"/>
            <a:ext cx="2194560" cy="310896"/>
          </a:xfrm>
          <a:prstGeom prst="rect">
            <a:avLst/>
          </a:prstGeom>
          <a:noFill/>
          <a:ln/>
        </p:spPr>
        <p:txBody>
          <a:bodyPr wrap="square" lIns="0" tIns="0" rIns="0" bIns="0" rtlCol="0" anchor="ctr"/>
          <a:lstStyle/>
          <a:p>
            <a:pPr indent="0" marL="0">
              <a:buNone/>
            </a:pPr>
            <a:r>
              <a:rPr lang="en-US" sz="1300" b="1" dirty="0">
                <a:solidFill>
                  <a:srgbClr val="2B2320"/>
                </a:solidFill>
                <a:latin typeface="Calibri" pitchFamily="34" charset="0"/>
                <a:ea typeface="Calibri" pitchFamily="34" charset="-122"/>
                <a:cs typeface="Calibri" pitchFamily="34" charset="-120"/>
              </a:rPr>
              <a:t>Source files</a:t>
            </a:r>
            <a:endParaRPr lang="en-US" sz="1300" dirty="0"/>
          </a:p>
        </p:txBody>
      </p:sp>
      <p:sp>
        <p:nvSpPr>
          <p:cNvPr id="11" name="Text 9"/>
          <p:cNvSpPr/>
          <p:nvPr/>
        </p:nvSpPr>
        <p:spPr>
          <a:xfrm>
            <a:off x="3831336" y="2834640"/>
            <a:ext cx="2194560" cy="868680"/>
          </a:xfrm>
          <a:prstGeom prst="rect">
            <a:avLst/>
          </a:prstGeom>
          <a:noFill/>
          <a:ln/>
        </p:spPr>
        <p:txBody>
          <a:bodyPr wrap="square" lIns="0" tIns="0" rIns="0" bIns="0" rtlCol="0" anchor="ctr"/>
          <a:lstStyle/>
          <a:p>
            <a:pPr indent="0" marL="0">
              <a:lnSpc>
                <a:spcPts val="1500"/>
              </a:lnSpc>
              <a:buNone/>
            </a:pPr>
            <a:r>
              <a:rPr lang="en-US" sz="1100" dirty="0">
                <a:solidFill>
                  <a:srgbClr val="7A6A64"/>
                </a:solidFill>
                <a:latin typeface="Calibri" pitchFamily="34" charset="0"/>
                <a:ea typeface="Calibri" pitchFamily="34" charset="-122"/>
                <a:cs typeface="Calibri" pitchFamily="34" charset="-120"/>
              </a:rPr>
              <a:t>Manuals, coaching interventions and training decks across Drive.</a:t>
            </a:r>
            <a:endParaRPr lang="en-US" sz="1100" dirty="0"/>
          </a:p>
        </p:txBody>
      </p:sp>
      <p:sp>
        <p:nvSpPr>
          <p:cNvPr id="12" name="Shape 10"/>
          <p:cNvSpPr/>
          <p:nvPr/>
        </p:nvSpPr>
        <p:spPr>
          <a:xfrm>
            <a:off x="6565392" y="1508760"/>
            <a:ext cx="2651760" cy="2331720"/>
          </a:xfrm>
          <a:prstGeom prst="roundRect">
            <a:avLst>
              <a:gd name="adj" fmla="val 3922"/>
            </a:avLst>
          </a:prstGeom>
          <a:solidFill>
            <a:srgbClr val="FFFFFF"/>
          </a:solidFill>
          <a:ln/>
          <a:effectLst>
            <a:outerShdw sx="100000" sy="100000" kx="0" ky="0" algn="bl" rotWithShape="0" blurRad="127000" dist="25400" dir="5400000">
              <a:srgbClr val="6D2E46">
                <a:alpha val="13000"/>
              </a:srgbClr>
            </a:outerShdw>
          </a:effectLst>
        </p:spPr>
      </p:sp>
      <p:sp>
        <p:nvSpPr>
          <p:cNvPr id="13" name="Text 11"/>
          <p:cNvSpPr/>
          <p:nvPr/>
        </p:nvSpPr>
        <p:spPr>
          <a:xfrm>
            <a:off x="6793992" y="1691640"/>
            <a:ext cx="2194560" cy="777240"/>
          </a:xfrm>
          <a:prstGeom prst="rect">
            <a:avLst/>
          </a:prstGeom>
          <a:noFill/>
          <a:ln/>
        </p:spPr>
        <p:txBody>
          <a:bodyPr wrap="square" lIns="0" tIns="0" rIns="0" bIns="0" rtlCol="0" anchor="ctr"/>
          <a:lstStyle/>
          <a:p>
            <a:pPr indent="0" marL="0">
              <a:buNone/>
            </a:pPr>
            <a:r>
              <a:rPr lang="en-US" sz="4600" b="1" dirty="0">
                <a:solidFill>
                  <a:srgbClr val="6D2E46"/>
                </a:solidFill>
                <a:latin typeface="Cambria" pitchFamily="34" charset="0"/>
                <a:ea typeface="Cambria" pitchFamily="34" charset="-122"/>
                <a:cs typeface="Cambria" pitchFamily="34" charset="-120"/>
              </a:rPr>
              <a:t>1</a:t>
            </a:r>
            <a:endParaRPr lang="en-US" sz="4600" dirty="0"/>
          </a:p>
        </p:txBody>
      </p:sp>
      <p:sp>
        <p:nvSpPr>
          <p:cNvPr id="14" name="Text 12"/>
          <p:cNvSpPr/>
          <p:nvPr/>
        </p:nvSpPr>
        <p:spPr>
          <a:xfrm>
            <a:off x="6793992" y="2487168"/>
            <a:ext cx="2194560" cy="310896"/>
          </a:xfrm>
          <a:prstGeom prst="rect">
            <a:avLst/>
          </a:prstGeom>
          <a:noFill/>
          <a:ln/>
        </p:spPr>
        <p:txBody>
          <a:bodyPr wrap="square" lIns="0" tIns="0" rIns="0" bIns="0" rtlCol="0" anchor="ctr"/>
          <a:lstStyle/>
          <a:p>
            <a:pPr indent="0" marL="0">
              <a:buNone/>
            </a:pPr>
            <a:r>
              <a:rPr lang="en-US" sz="1300" b="1" dirty="0">
                <a:solidFill>
                  <a:srgbClr val="2B2320"/>
                </a:solidFill>
                <a:latin typeface="Calibri" pitchFamily="34" charset="0"/>
                <a:ea typeface="Calibri" pitchFamily="34" charset="-122"/>
                <a:cs typeface="Calibri" pitchFamily="34" charset="-120"/>
              </a:rPr>
              <a:t>Flagship model</a:t>
            </a:r>
            <a:endParaRPr lang="en-US" sz="1300" dirty="0"/>
          </a:p>
        </p:txBody>
      </p:sp>
      <p:sp>
        <p:nvSpPr>
          <p:cNvPr id="15" name="Text 13"/>
          <p:cNvSpPr/>
          <p:nvPr/>
        </p:nvSpPr>
        <p:spPr>
          <a:xfrm>
            <a:off x="6793992" y="2834640"/>
            <a:ext cx="2194560" cy="868680"/>
          </a:xfrm>
          <a:prstGeom prst="rect">
            <a:avLst/>
          </a:prstGeom>
          <a:noFill/>
          <a:ln/>
        </p:spPr>
        <p:txBody>
          <a:bodyPr wrap="square" lIns="0" tIns="0" rIns="0" bIns="0" rtlCol="0" anchor="ctr"/>
          <a:lstStyle/>
          <a:p>
            <a:pPr indent="0" marL="0">
              <a:lnSpc>
                <a:spcPts val="1500"/>
              </a:lnSpc>
              <a:buNone/>
            </a:pPr>
            <a:r>
              <a:rPr lang="en-US" sz="1100" dirty="0">
                <a:solidFill>
                  <a:srgbClr val="7A6A64"/>
                </a:solidFill>
                <a:latin typeface="Calibri" pitchFamily="34" charset="0"/>
                <a:ea typeface="Calibri" pitchFamily="34" charset="-122"/>
                <a:cs typeface="Calibri" pitchFamily="34" charset="-120"/>
              </a:rPr>
              <a:t>The NTT Compassionate Communication Model — the current teaching version.</a:t>
            </a:r>
            <a:endParaRPr lang="en-US" sz="1100" dirty="0"/>
          </a:p>
        </p:txBody>
      </p:sp>
      <p:sp>
        <p:nvSpPr>
          <p:cNvPr id="16" name="Shape 14"/>
          <p:cNvSpPr/>
          <p:nvPr/>
        </p:nvSpPr>
        <p:spPr>
          <a:xfrm>
            <a:off x="9528048" y="1508760"/>
            <a:ext cx="2651760" cy="2331720"/>
          </a:xfrm>
          <a:prstGeom prst="roundRect">
            <a:avLst>
              <a:gd name="adj" fmla="val 3922"/>
            </a:avLst>
          </a:prstGeom>
          <a:solidFill>
            <a:srgbClr val="FFFFFF"/>
          </a:solidFill>
          <a:ln/>
          <a:effectLst>
            <a:outerShdw sx="100000" sy="100000" kx="0" ky="0" algn="bl" rotWithShape="0" blurRad="127000" dist="25400" dir="5400000">
              <a:srgbClr val="6D2E46">
                <a:alpha val="13000"/>
              </a:srgbClr>
            </a:outerShdw>
          </a:effectLst>
        </p:spPr>
      </p:sp>
      <p:sp>
        <p:nvSpPr>
          <p:cNvPr id="17" name="Text 15"/>
          <p:cNvSpPr/>
          <p:nvPr/>
        </p:nvSpPr>
        <p:spPr>
          <a:xfrm>
            <a:off x="9756648" y="1691640"/>
            <a:ext cx="2194560" cy="777240"/>
          </a:xfrm>
          <a:prstGeom prst="rect">
            <a:avLst/>
          </a:prstGeom>
          <a:noFill/>
          <a:ln/>
        </p:spPr>
        <p:txBody>
          <a:bodyPr wrap="square" lIns="0" tIns="0" rIns="0" bIns="0" rtlCol="0" anchor="ctr"/>
          <a:lstStyle/>
          <a:p>
            <a:pPr indent="0" marL="0">
              <a:buNone/>
            </a:pPr>
            <a:r>
              <a:rPr lang="en-US" sz="4600" b="1" dirty="0">
                <a:solidFill>
                  <a:srgbClr val="7A6A64"/>
                </a:solidFill>
                <a:latin typeface="Cambria" pitchFamily="34" charset="0"/>
                <a:ea typeface="Cambria" pitchFamily="34" charset="-122"/>
                <a:cs typeface="Cambria" pitchFamily="34" charset="-120"/>
              </a:rPr>
              <a:t>0</a:t>
            </a:r>
            <a:endParaRPr lang="en-US" sz="4600" dirty="0"/>
          </a:p>
        </p:txBody>
      </p:sp>
      <p:sp>
        <p:nvSpPr>
          <p:cNvPr id="18" name="Text 16"/>
          <p:cNvSpPr/>
          <p:nvPr/>
        </p:nvSpPr>
        <p:spPr>
          <a:xfrm>
            <a:off x="9756648" y="2487168"/>
            <a:ext cx="2194560" cy="310896"/>
          </a:xfrm>
          <a:prstGeom prst="rect">
            <a:avLst/>
          </a:prstGeom>
          <a:noFill/>
          <a:ln/>
        </p:spPr>
        <p:txBody>
          <a:bodyPr wrap="square" lIns="0" tIns="0" rIns="0" bIns="0" rtlCol="0" anchor="ctr"/>
          <a:lstStyle/>
          <a:p>
            <a:pPr indent="0" marL="0">
              <a:buNone/>
            </a:pPr>
            <a:r>
              <a:rPr lang="en-US" sz="1300" b="1" dirty="0">
                <a:solidFill>
                  <a:srgbClr val="2B2320"/>
                </a:solidFill>
                <a:latin typeface="Calibri" pitchFamily="34" charset="0"/>
                <a:ea typeface="Calibri" pitchFamily="34" charset="-122"/>
                <a:cs typeface="Calibri" pitchFamily="34" charset="-120"/>
              </a:rPr>
              <a:t>Found in email</a:t>
            </a:r>
            <a:endParaRPr lang="en-US" sz="1300" dirty="0"/>
          </a:p>
        </p:txBody>
      </p:sp>
      <p:sp>
        <p:nvSpPr>
          <p:cNvPr id="19" name="Text 17"/>
          <p:cNvSpPr/>
          <p:nvPr/>
        </p:nvSpPr>
        <p:spPr>
          <a:xfrm>
            <a:off x="9756648" y="2834640"/>
            <a:ext cx="2194560" cy="868680"/>
          </a:xfrm>
          <a:prstGeom prst="rect">
            <a:avLst/>
          </a:prstGeom>
          <a:noFill/>
          <a:ln/>
        </p:spPr>
        <p:txBody>
          <a:bodyPr wrap="square" lIns="0" tIns="0" rIns="0" bIns="0" rtlCol="0" anchor="ctr"/>
          <a:lstStyle/>
          <a:p>
            <a:pPr indent="0" marL="0">
              <a:lnSpc>
                <a:spcPts val="1500"/>
              </a:lnSpc>
              <a:buNone/>
            </a:pPr>
            <a:r>
              <a:rPr lang="en-US" sz="1100" dirty="0">
                <a:solidFill>
                  <a:srgbClr val="7A6A64"/>
                </a:solidFill>
                <a:latin typeface="Calibri" pitchFamily="34" charset="0"/>
                <a:ea typeface="Calibri" pitchFamily="34" charset="-122"/>
                <a:cs typeface="Calibri" pitchFamily="34" charset="-120"/>
              </a:rPr>
              <a:t>Gmail references the material in curriculum copy, but holds no model doc.</a:t>
            </a:r>
            <a:endParaRPr lang="en-US" sz="1100" dirty="0"/>
          </a:p>
        </p:txBody>
      </p:sp>
      <p:sp>
        <p:nvSpPr>
          <p:cNvPr id="20" name="Shape 18"/>
          <p:cNvSpPr/>
          <p:nvPr/>
        </p:nvSpPr>
        <p:spPr>
          <a:xfrm>
            <a:off x="640080" y="4160520"/>
            <a:ext cx="10881360" cy="1600200"/>
          </a:xfrm>
          <a:prstGeom prst="roundRect">
            <a:avLst>
              <a:gd name="adj" fmla="val 5714"/>
            </a:avLst>
          </a:prstGeom>
          <a:solidFill>
            <a:srgbClr val="6D2E46"/>
          </a:solidFill>
          <a:ln/>
        </p:spPr>
      </p:sp>
      <p:sp>
        <p:nvSpPr>
          <p:cNvPr id="21" name="Text 19"/>
          <p:cNvSpPr/>
          <p:nvPr/>
        </p:nvSpPr>
        <p:spPr>
          <a:xfrm>
            <a:off x="1051560" y="4370832"/>
            <a:ext cx="3657600" cy="292608"/>
          </a:xfrm>
          <a:prstGeom prst="rect">
            <a:avLst/>
          </a:prstGeom>
          <a:noFill/>
          <a:ln/>
        </p:spPr>
        <p:txBody>
          <a:bodyPr wrap="square" lIns="0" tIns="0" rIns="0" bIns="0" rtlCol="0" anchor="ctr"/>
          <a:lstStyle/>
          <a:p>
            <a:pPr indent="0" marL="0">
              <a:buNone/>
            </a:pPr>
            <a:r>
              <a:rPr lang="en-US" sz="1200" b="1" spc="150" kern="0" dirty="0">
                <a:solidFill>
                  <a:srgbClr val="C08A3E"/>
                </a:solidFill>
                <a:latin typeface="Calibri" pitchFamily="34" charset="0"/>
                <a:ea typeface="Calibri" pitchFamily="34" charset="-122"/>
                <a:cs typeface="Calibri" pitchFamily="34" charset="-120"/>
              </a:rPr>
              <a:t>The short answer</a:t>
            </a:r>
            <a:endParaRPr lang="en-US" sz="1200" dirty="0"/>
          </a:p>
        </p:txBody>
      </p:sp>
      <p:sp>
        <p:nvSpPr>
          <p:cNvPr id="22" name="Text 20"/>
          <p:cNvSpPr/>
          <p:nvPr/>
        </p:nvSpPr>
        <p:spPr>
          <a:xfrm>
            <a:off x="1051560" y="4681728"/>
            <a:ext cx="10058400" cy="914400"/>
          </a:xfrm>
          <a:prstGeom prst="rect">
            <a:avLst/>
          </a:prstGeom>
          <a:noFill/>
          <a:ln/>
        </p:spPr>
        <p:txBody>
          <a:bodyPr wrap="square" lIns="0" tIns="0" rIns="0" bIns="0" rtlCol="0" anchor="ctr"/>
          <a:lstStyle/>
          <a:p>
            <a:pPr indent="0" marL="0">
              <a:lnSpc>
                <a:spcPts val="2100"/>
              </a:lnSpc>
              <a:buNone/>
            </a:pPr>
            <a:r>
              <a:rPr lang="en-US" sz="1400" dirty="0">
                <a:solidFill>
                  <a:srgbClr val="F5E9EC"/>
                </a:solidFill>
                <a:latin typeface="Calibri" pitchFamily="34" charset="0"/>
                <a:ea typeface="Calibri" pitchFamily="34" charset="-122"/>
                <a:cs typeface="Calibri" pitchFamily="34" charset="-120"/>
              </a:rPr>
              <a:t>There is no single “relationship resolution communication model” file. The material sits in three layers: one live teaching model (Compassionate Communication), an older manual pair (Conscious Request / Conscious Response), and a set of supporting frames that diagnose the conflict before either is used.</a:t>
            </a:r>
            <a:endParaRPr lang="en-US" sz="1400" dirty="0"/>
          </a:p>
        </p:txBody>
      </p:sp>
      <p:sp>
        <p:nvSpPr>
          <p:cNvPr id="23" name="Text 21"/>
          <p:cNvSpPr/>
          <p:nvPr/>
        </p:nvSpPr>
        <p:spPr>
          <a:xfrm>
            <a:off x="640080" y="6291072"/>
            <a:ext cx="10881360" cy="292608"/>
          </a:xfrm>
          <a:prstGeom prst="rect">
            <a:avLst/>
          </a:prstGeom>
          <a:noFill/>
          <a:ln/>
        </p:spPr>
        <p:txBody>
          <a:bodyPr wrap="square" lIns="0" tIns="0" rIns="0" bIns="0" rtlCol="0" anchor="ctr"/>
          <a:lstStyle/>
          <a:p>
            <a:pPr indent="0" marL="0">
              <a:buNone/>
            </a:pPr>
            <a:r>
              <a:rPr lang="en-US" sz="1000" i="1" dirty="0">
                <a:solidFill>
                  <a:srgbClr val="7A6A64"/>
                </a:solidFill>
                <a:latin typeface="Calibri" pitchFamily="34" charset="0"/>
                <a:ea typeface="Calibri" pitchFamily="34" charset="-122"/>
                <a:cs typeface="Calibri" pitchFamily="34" charset="-120"/>
              </a:rPr>
              <a:t>Sources: Google Drive full-text and title search; Gmail thread search.</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1E8"/>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100" b="1" spc="200" kern="0" dirty="0">
                <a:solidFill>
                  <a:srgbClr val="A26769"/>
                </a:solidFill>
                <a:latin typeface="Calibri" pitchFamily="34" charset="0"/>
                <a:ea typeface="Calibri" pitchFamily="34" charset="-122"/>
                <a:cs typeface="Calibri" pitchFamily="34" charset="-120"/>
              </a:rPr>
              <a:t>THE INVENTORY</a:t>
            </a:r>
            <a:endParaRPr lang="en-US" sz="1100" dirty="0"/>
          </a:p>
        </p:txBody>
      </p:sp>
      <p:sp>
        <p:nvSpPr>
          <p:cNvPr id="3" name="Text 1"/>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All nine models at a glance</a:t>
            </a:r>
            <a:endParaRPr lang="en-US" sz="3400" dirty="0"/>
          </a:p>
        </p:txBody>
      </p:sp>
      <p:sp>
        <p:nvSpPr>
          <p:cNvPr id="4" name="Text 2"/>
          <p:cNvSpPr/>
          <p:nvPr/>
        </p:nvSpPr>
        <p:spPr>
          <a:xfrm>
            <a:off x="1097280" y="1115568"/>
            <a:ext cx="4160520" cy="274320"/>
          </a:xfrm>
          <a:prstGeom prst="rect">
            <a:avLst/>
          </a:prstGeom>
          <a:noFill/>
          <a:ln/>
        </p:spPr>
        <p:txBody>
          <a:bodyPr wrap="square" lIns="0" tIns="0" rIns="0" bIns="0" rtlCol="0" anchor="ctr"/>
          <a:lstStyle/>
          <a:p>
            <a:pPr indent="0" marL="0">
              <a:buNone/>
            </a:pPr>
            <a:r>
              <a:rPr lang="en-US" sz="1000" b="1" spc="150" kern="0" dirty="0">
                <a:solidFill>
                  <a:srgbClr val="A26769"/>
                </a:solidFill>
                <a:latin typeface="Calibri" pitchFamily="34" charset="0"/>
                <a:ea typeface="Calibri" pitchFamily="34" charset="-122"/>
                <a:cs typeface="Calibri" pitchFamily="34" charset="-120"/>
              </a:rPr>
              <a:t>MODEL</a:t>
            </a:r>
            <a:endParaRPr lang="en-US" sz="1000" dirty="0"/>
          </a:p>
        </p:txBody>
      </p:sp>
      <p:sp>
        <p:nvSpPr>
          <p:cNvPr id="5" name="Text 3"/>
          <p:cNvSpPr/>
          <p:nvPr/>
        </p:nvSpPr>
        <p:spPr>
          <a:xfrm>
            <a:off x="5257800" y="1115568"/>
            <a:ext cx="3200400" cy="274320"/>
          </a:xfrm>
          <a:prstGeom prst="rect">
            <a:avLst/>
          </a:prstGeom>
          <a:noFill/>
          <a:ln/>
        </p:spPr>
        <p:txBody>
          <a:bodyPr wrap="square" lIns="0" tIns="0" rIns="0" bIns="0" rtlCol="0" anchor="ctr"/>
          <a:lstStyle/>
          <a:p>
            <a:pPr indent="0" marL="0">
              <a:buNone/>
            </a:pPr>
            <a:r>
              <a:rPr lang="en-US" sz="1000" b="1" spc="150" kern="0" dirty="0">
                <a:solidFill>
                  <a:srgbClr val="A26769"/>
                </a:solidFill>
                <a:latin typeface="Calibri" pitchFamily="34" charset="0"/>
                <a:ea typeface="Calibri" pitchFamily="34" charset="-122"/>
                <a:cs typeface="Calibri" pitchFamily="34" charset="-120"/>
              </a:rPr>
              <a:t>WHAT IT DOES</a:t>
            </a:r>
            <a:endParaRPr lang="en-US" sz="1000" dirty="0"/>
          </a:p>
        </p:txBody>
      </p:sp>
      <p:sp>
        <p:nvSpPr>
          <p:cNvPr id="6" name="Text 4"/>
          <p:cNvSpPr/>
          <p:nvPr/>
        </p:nvSpPr>
        <p:spPr>
          <a:xfrm>
            <a:off x="8458200" y="1115568"/>
            <a:ext cx="3063240" cy="274320"/>
          </a:xfrm>
          <a:prstGeom prst="rect">
            <a:avLst/>
          </a:prstGeom>
          <a:noFill/>
          <a:ln/>
        </p:spPr>
        <p:txBody>
          <a:bodyPr wrap="square" lIns="0" tIns="0" rIns="0" bIns="0" rtlCol="0" anchor="ctr"/>
          <a:lstStyle/>
          <a:p>
            <a:pPr indent="0" marL="0">
              <a:buNone/>
            </a:pPr>
            <a:r>
              <a:rPr lang="en-US" sz="1000" b="1" spc="150" kern="0" dirty="0">
                <a:solidFill>
                  <a:srgbClr val="A26769"/>
                </a:solidFill>
                <a:latin typeface="Calibri" pitchFamily="34" charset="0"/>
                <a:ea typeface="Calibri" pitchFamily="34" charset="-122"/>
                <a:cs typeface="Calibri" pitchFamily="34" charset="-120"/>
              </a:rPr>
              <a:t>WHERE IT LIVES</a:t>
            </a:r>
            <a:endParaRPr lang="en-US" sz="1000" dirty="0"/>
          </a:p>
        </p:txBody>
      </p:sp>
      <p:sp>
        <p:nvSpPr>
          <p:cNvPr id="7" name="Shape 5"/>
          <p:cNvSpPr/>
          <p:nvPr/>
        </p:nvSpPr>
        <p:spPr>
          <a:xfrm>
            <a:off x="502920" y="1463040"/>
            <a:ext cx="11155680" cy="484632"/>
          </a:xfrm>
          <a:prstGeom prst="rect">
            <a:avLst/>
          </a:prstGeom>
          <a:solidFill>
            <a:srgbClr val="FFFFFF"/>
          </a:solidFill>
          <a:ln/>
        </p:spPr>
      </p:sp>
      <p:sp>
        <p:nvSpPr>
          <p:cNvPr id="8" name="Shape 6"/>
          <p:cNvSpPr/>
          <p:nvPr/>
        </p:nvSpPr>
        <p:spPr>
          <a:xfrm>
            <a:off x="640080" y="1563624"/>
            <a:ext cx="283464" cy="283464"/>
          </a:xfrm>
          <a:prstGeom prst="ellipse">
            <a:avLst/>
          </a:prstGeom>
          <a:solidFill>
            <a:srgbClr val="6D2E46"/>
          </a:solidFill>
          <a:ln/>
        </p:spPr>
      </p:sp>
      <p:sp>
        <p:nvSpPr>
          <p:cNvPr id="9" name="Text 7"/>
          <p:cNvSpPr/>
          <p:nvPr/>
        </p:nvSpPr>
        <p:spPr>
          <a:xfrm>
            <a:off x="640080" y="1563624"/>
            <a:ext cx="283464"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1097280" y="1463040"/>
            <a:ext cx="3977640" cy="484632"/>
          </a:xfrm>
          <a:prstGeom prst="rect">
            <a:avLst/>
          </a:prstGeom>
          <a:noFill/>
          <a:ln/>
        </p:spPr>
        <p:txBody>
          <a:bodyPr wrap="square" lIns="0" tIns="0" rIns="0" bIns="0" rtlCol="0" anchor="ctr"/>
          <a:lstStyle/>
          <a:p>
            <a:pPr indent="0" marL="0">
              <a:buNone/>
            </a:pPr>
            <a:r>
              <a:rPr lang="en-US" sz="1250" b="1" dirty="0">
                <a:solidFill>
                  <a:srgbClr val="2B2320"/>
                </a:solidFill>
                <a:latin typeface="Calibri" pitchFamily="34" charset="0"/>
                <a:ea typeface="Calibri" pitchFamily="34" charset="-122"/>
                <a:cs typeface="Calibri" pitchFamily="34" charset="-120"/>
              </a:rPr>
              <a:t>NTT Compassionate Communication Model</a:t>
            </a:r>
            <a:endParaRPr lang="en-US" sz="1250" dirty="0"/>
          </a:p>
        </p:txBody>
      </p:sp>
      <p:sp>
        <p:nvSpPr>
          <p:cNvPr id="11" name="Text 9"/>
          <p:cNvSpPr/>
          <p:nvPr/>
        </p:nvSpPr>
        <p:spPr>
          <a:xfrm>
            <a:off x="5257800" y="1463040"/>
            <a:ext cx="3017520" cy="484632"/>
          </a:xfrm>
          <a:prstGeom prst="rect">
            <a:avLst/>
          </a:prstGeom>
          <a:noFill/>
          <a:ln/>
        </p:spPr>
        <p:txBody>
          <a:bodyPr wrap="square" lIns="0" tIns="0" rIns="0" bIns="0" rtlCol="0" anchor="ctr"/>
          <a:lstStyle/>
          <a:p>
            <a:pPr indent="0" marL="0">
              <a:buNone/>
            </a:pPr>
            <a:r>
              <a:rPr lang="en-US" sz="1150" dirty="0">
                <a:solidFill>
                  <a:srgbClr val="7A6A64"/>
                </a:solidFill>
                <a:latin typeface="Calibri" pitchFamily="34" charset="0"/>
                <a:ea typeface="Calibri" pitchFamily="34" charset="-122"/>
                <a:cs typeface="Calibri" pitchFamily="34" charset="-120"/>
              </a:rPr>
              <a:t>5-step repair conversation</a:t>
            </a:r>
            <a:endParaRPr lang="en-US" sz="1150" dirty="0"/>
          </a:p>
        </p:txBody>
      </p:sp>
      <p:sp>
        <p:nvSpPr>
          <p:cNvPr id="12" name="Text 10"/>
          <p:cNvSpPr/>
          <p:nvPr/>
        </p:nvSpPr>
        <p:spPr>
          <a:xfrm>
            <a:off x="8458200" y="1463040"/>
            <a:ext cx="3063240" cy="484632"/>
          </a:xfrm>
          <a:prstGeom prst="rect">
            <a:avLst/>
          </a:prstGeom>
          <a:noFill/>
          <a:ln/>
        </p:spPr>
        <p:txBody>
          <a:bodyPr wrap="square" lIns="0" tIns="0" rIns="0" bIns="0" rtlCol="0" anchor="ctr"/>
          <a:lstStyle/>
          <a:p>
            <a:pPr indent="0" marL="0">
              <a:buNone/>
            </a:pPr>
            <a:r>
              <a:rPr lang="en-US" sz="1150" dirty="0">
                <a:solidFill>
                  <a:srgbClr val="7A6A64"/>
                </a:solidFill>
                <a:latin typeface="Calibri" pitchFamily="34" charset="0"/>
                <a:ea typeface="Calibri" pitchFamily="34" charset="-122"/>
                <a:cs typeface="Calibri" pitchFamily="34" charset="-120"/>
              </a:rPr>
              <a:t>Session 3 deck (Gottman version)</a:t>
            </a:r>
            <a:endParaRPr lang="en-US" sz="1150" dirty="0"/>
          </a:p>
        </p:txBody>
      </p:sp>
      <p:sp>
        <p:nvSpPr>
          <p:cNvPr id="13" name="Shape 11"/>
          <p:cNvSpPr/>
          <p:nvPr/>
        </p:nvSpPr>
        <p:spPr>
          <a:xfrm>
            <a:off x="640080" y="2048256"/>
            <a:ext cx="283464" cy="283464"/>
          </a:xfrm>
          <a:prstGeom prst="ellipse">
            <a:avLst/>
          </a:prstGeom>
          <a:solidFill>
            <a:srgbClr val="6D2E46"/>
          </a:solidFill>
          <a:ln/>
        </p:spPr>
      </p:sp>
      <p:sp>
        <p:nvSpPr>
          <p:cNvPr id="14" name="Text 12"/>
          <p:cNvSpPr/>
          <p:nvPr/>
        </p:nvSpPr>
        <p:spPr>
          <a:xfrm>
            <a:off x="640080" y="2048256"/>
            <a:ext cx="283464"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1097280" y="1947672"/>
            <a:ext cx="3977640" cy="484632"/>
          </a:xfrm>
          <a:prstGeom prst="rect">
            <a:avLst/>
          </a:prstGeom>
          <a:noFill/>
          <a:ln/>
        </p:spPr>
        <p:txBody>
          <a:bodyPr wrap="square" lIns="0" tIns="0" rIns="0" bIns="0" rtlCol="0" anchor="ctr"/>
          <a:lstStyle/>
          <a:p>
            <a:pPr indent="0" marL="0">
              <a:buNone/>
            </a:pPr>
            <a:r>
              <a:rPr lang="en-US" sz="1250" b="1" dirty="0">
                <a:solidFill>
                  <a:srgbClr val="2B2320"/>
                </a:solidFill>
                <a:latin typeface="Calibri" pitchFamily="34" charset="0"/>
                <a:ea typeface="Calibri" pitchFamily="34" charset="-122"/>
                <a:cs typeface="Calibri" pitchFamily="34" charset="-120"/>
              </a:rPr>
              <a:t>Conflict Resolution Rules + The Mantra</a:t>
            </a:r>
            <a:endParaRPr lang="en-US" sz="1250" dirty="0"/>
          </a:p>
        </p:txBody>
      </p:sp>
      <p:sp>
        <p:nvSpPr>
          <p:cNvPr id="16" name="Text 14"/>
          <p:cNvSpPr/>
          <p:nvPr/>
        </p:nvSpPr>
        <p:spPr>
          <a:xfrm>
            <a:off x="5257800" y="1947672"/>
            <a:ext cx="3017520" cy="484632"/>
          </a:xfrm>
          <a:prstGeom prst="rect">
            <a:avLst/>
          </a:prstGeom>
          <a:noFill/>
          <a:ln/>
        </p:spPr>
        <p:txBody>
          <a:bodyPr wrap="square" lIns="0" tIns="0" rIns="0" bIns="0" rtlCol="0" anchor="ctr"/>
          <a:lstStyle/>
          <a:p>
            <a:pPr indent="0" marL="0">
              <a:buNone/>
            </a:pPr>
            <a:r>
              <a:rPr lang="en-US" sz="1150" dirty="0">
                <a:solidFill>
                  <a:srgbClr val="7A6A64"/>
                </a:solidFill>
                <a:latin typeface="Calibri" pitchFamily="34" charset="0"/>
                <a:ea typeface="Calibri" pitchFamily="34" charset="-122"/>
                <a:cs typeface="Calibri" pitchFamily="34" charset="-120"/>
              </a:rPr>
              <a:t>Ground rules that wrap model 1</a:t>
            </a:r>
            <a:endParaRPr lang="en-US" sz="1150" dirty="0"/>
          </a:p>
        </p:txBody>
      </p:sp>
      <p:sp>
        <p:nvSpPr>
          <p:cNvPr id="17" name="Text 15"/>
          <p:cNvSpPr/>
          <p:nvPr/>
        </p:nvSpPr>
        <p:spPr>
          <a:xfrm>
            <a:off x="8458200" y="1947672"/>
            <a:ext cx="3063240" cy="484632"/>
          </a:xfrm>
          <a:prstGeom prst="rect">
            <a:avLst/>
          </a:prstGeom>
          <a:noFill/>
          <a:ln/>
        </p:spPr>
        <p:txBody>
          <a:bodyPr wrap="square" lIns="0" tIns="0" rIns="0" bIns="0" rtlCol="0" anchor="ctr"/>
          <a:lstStyle/>
          <a:p>
            <a:pPr indent="0" marL="0">
              <a:buNone/>
            </a:pPr>
            <a:r>
              <a:rPr lang="en-US" sz="1150" dirty="0">
                <a:solidFill>
                  <a:srgbClr val="7A6A64"/>
                </a:solidFill>
                <a:latin typeface="Calibri" pitchFamily="34" charset="0"/>
                <a:ea typeface="Calibri" pitchFamily="34" charset="-122"/>
                <a:cs typeface="Calibri" pitchFamily="34" charset="-120"/>
              </a:rPr>
              <a:t>Session 3 deck (Gottman version)</a:t>
            </a:r>
            <a:endParaRPr lang="en-US" sz="1150" dirty="0"/>
          </a:p>
        </p:txBody>
      </p:sp>
      <p:sp>
        <p:nvSpPr>
          <p:cNvPr id="18" name="Shape 16"/>
          <p:cNvSpPr/>
          <p:nvPr/>
        </p:nvSpPr>
        <p:spPr>
          <a:xfrm>
            <a:off x="502920" y="2432304"/>
            <a:ext cx="11155680" cy="484632"/>
          </a:xfrm>
          <a:prstGeom prst="rect">
            <a:avLst/>
          </a:prstGeom>
          <a:solidFill>
            <a:srgbClr val="FFFFFF"/>
          </a:solidFill>
          <a:ln/>
        </p:spPr>
      </p:sp>
      <p:sp>
        <p:nvSpPr>
          <p:cNvPr id="19" name="Shape 17"/>
          <p:cNvSpPr/>
          <p:nvPr/>
        </p:nvSpPr>
        <p:spPr>
          <a:xfrm>
            <a:off x="640080" y="2532888"/>
            <a:ext cx="283464" cy="283464"/>
          </a:xfrm>
          <a:prstGeom prst="ellipse">
            <a:avLst/>
          </a:prstGeom>
          <a:solidFill>
            <a:srgbClr val="A26769"/>
          </a:solidFill>
          <a:ln/>
        </p:spPr>
      </p:sp>
      <p:sp>
        <p:nvSpPr>
          <p:cNvPr id="20" name="Text 18"/>
          <p:cNvSpPr/>
          <p:nvPr/>
        </p:nvSpPr>
        <p:spPr>
          <a:xfrm>
            <a:off x="640080" y="2532888"/>
            <a:ext cx="283464"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1097280" y="2432304"/>
            <a:ext cx="3977640" cy="484632"/>
          </a:xfrm>
          <a:prstGeom prst="rect">
            <a:avLst/>
          </a:prstGeom>
          <a:noFill/>
          <a:ln/>
        </p:spPr>
        <p:txBody>
          <a:bodyPr wrap="square" lIns="0" tIns="0" rIns="0" bIns="0" rtlCol="0" anchor="ctr"/>
          <a:lstStyle/>
          <a:p>
            <a:pPr indent="0" marL="0">
              <a:buNone/>
            </a:pPr>
            <a:r>
              <a:rPr lang="en-US" sz="1250" b="1" dirty="0">
                <a:solidFill>
                  <a:srgbClr val="2B2320"/>
                </a:solidFill>
                <a:latin typeface="Calibri" pitchFamily="34" charset="0"/>
                <a:ea typeface="Calibri" pitchFamily="34" charset="-122"/>
                <a:cs typeface="Calibri" pitchFamily="34" charset="-120"/>
              </a:rPr>
              <a:t>The Conscious Request</a:t>
            </a:r>
            <a:endParaRPr lang="en-US" sz="1250" dirty="0"/>
          </a:p>
        </p:txBody>
      </p:sp>
      <p:sp>
        <p:nvSpPr>
          <p:cNvPr id="22" name="Text 20"/>
          <p:cNvSpPr/>
          <p:nvPr/>
        </p:nvSpPr>
        <p:spPr>
          <a:xfrm>
            <a:off x="5257800" y="2432304"/>
            <a:ext cx="3017520" cy="484632"/>
          </a:xfrm>
          <a:prstGeom prst="rect">
            <a:avLst/>
          </a:prstGeom>
          <a:noFill/>
          <a:ln/>
        </p:spPr>
        <p:txBody>
          <a:bodyPr wrap="square" lIns="0" tIns="0" rIns="0" bIns="0" rtlCol="0" anchor="ctr"/>
          <a:lstStyle/>
          <a:p>
            <a:pPr indent="0" marL="0">
              <a:buNone/>
            </a:pPr>
            <a:r>
              <a:rPr lang="en-US" sz="1150" dirty="0">
                <a:solidFill>
                  <a:srgbClr val="7A6A64"/>
                </a:solidFill>
                <a:latin typeface="Calibri" pitchFamily="34" charset="0"/>
                <a:ea typeface="Calibri" pitchFamily="34" charset="-122"/>
                <a:cs typeface="Calibri" pitchFamily="34" charset="-120"/>
              </a:rPr>
              <a:t>6-step way to raise an upset</a:t>
            </a:r>
            <a:endParaRPr lang="en-US" sz="1150" dirty="0"/>
          </a:p>
        </p:txBody>
      </p:sp>
      <p:sp>
        <p:nvSpPr>
          <p:cNvPr id="23" name="Text 21"/>
          <p:cNvSpPr/>
          <p:nvPr/>
        </p:nvSpPr>
        <p:spPr>
          <a:xfrm>
            <a:off x="8458200" y="2432304"/>
            <a:ext cx="3063240" cy="484632"/>
          </a:xfrm>
          <a:prstGeom prst="rect">
            <a:avLst/>
          </a:prstGeom>
          <a:noFill/>
          <a:ln/>
        </p:spPr>
        <p:txBody>
          <a:bodyPr wrap="square" lIns="0" tIns="0" rIns="0" bIns="0" rtlCol="0" anchor="ctr"/>
          <a:lstStyle/>
          <a:p>
            <a:pPr indent="0" marL="0">
              <a:buNone/>
            </a:pPr>
            <a:r>
              <a:rPr lang="en-US" sz="1150" dirty="0">
                <a:solidFill>
                  <a:srgbClr val="7A6A64"/>
                </a:solidFill>
                <a:latin typeface="Calibri" pitchFamily="34" charset="0"/>
                <a:ea typeface="Calibri" pitchFamily="34" charset="-122"/>
                <a:cs typeface="Calibri" pitchFamily="34" charset="-120"/>
              </a:rPr>
              <a:t>NTT Master Prac Manual, p.159</a:t>
            </a:r>
            <a:endParaRPr lang="en-US" sz="1150" dirty="0"/>
          </a:p>
        </p:txBody>
      </p:sp>
      <p:sp>
        <p:nvSpPr>
          <p:cNvPr id="24" name="Shape 22"/>
          <p:cNvSpPr/>
          <p:nvPr/>
        </p:nvSpPr>
        <p:spPr>
          <a:xfrm>
            <a:off x="640080" y="3017520"/>
            <a:ext cx="283464" cy="283464"/>
          </a:xfrm>
          <a:prstGeom prst="ellipse">
            <a:avLst/>
          </a:prstGeom>
          <a:solidFill>
            <a:srgbClr val="A26769"/>
          </a:solidFill>
          <a:ln/>
        </p:spPr>
      </p:sp>
      <p:sp>
        <p:nvSpPr>
          <p:cNvPr id="25" name="Text 23"/>
          <p:cNvSpPr/>
          <p:nvPr/>
        </p:nvSpPr>
        <p:spPr>
          <a:xfrm>
            <a:off x="640080" y="3017520"/>
            <a:ext cx="283464"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4"/>
          <p:cNvSpPr/>
          <p:nvPr/>
        </p:nvSpPr>
        <p:spPr>
          <a:xfrm>
            <a:off x="1097280" y="2916936"/>
            <a:ext cx="3977640" cy="484632"/>
          </a:xfrm>
          <a:prstGeom prst="rect">
            <a:avLst/>
          </a:prstGeom>
          <a:noFill/>
          <a:ln/>
        </p:spPr>
        <p:txBody>
          <a:bodyPr wrap="square" lIns="0" tIns="0" rIns="0" bIns="0" rtlCol="0" anchor="ctr"/>
          <a:lstStyle/>
          <a:p>
            <a:pPr indent="0" marL="0">
              <a:buNone/>
            </a:pPr>
            <a:r>
              <a:rPr lang="en-US" sz="1250" b="1" dirty="0">
                <a:solidFill>
                  <a:srgbClr val="2B2320"/>
                </a:solidFill>
                <a:latin typeface="Calibri" pitchFamily="34" charset="0"/>
                <a:ea typeface="Calibri" pitchFamily="34" charset="-122"/>
                <a:cs typeface="Calibri" pitchFamily="34" charset="-120"/>
              </a:rPr>
              <a:t>The Conscious Response</a:t>
            </a:r>
            <a:endParaRPr lang="en-US" sz="1250" dirty="0"/>
          </a:p>
        </p:txBody>
      </p:sp>
      <p:sp>
        <p:nvSpPr>
          <p:cNvPr id="27" name="Text 25"/>
          <p:cNvSpPr/>
          <p:nvPr/>
        </p:nvSpPr>
        <p:spPr>
          <a:xfrm>
            <a:off x="5257800" y="2916936"/>
            <a:ext cx="3017520" cy="484632"/>
          </a:xfrm>
          <a:prstGeom prst="rect">
            <a:avLst/>
          </a:prstGeom>
          <a:noFill/>
          <a:ln/>
        </p:spPr>
        <p:txBody>
          <a:bodyPr wrap="square" lIns="0" tIns="0" rIns="0" bIns="0" rtlCol="0" anchor="ctr"/>
          <a:lstStyle/>
          <a:p>
            <a:pPr indent="0" marL="0">
              <a:buNone/>
            </a:pPr>
            <a:r>
              <a:rPr lang="en-US" sz="1150" dirty="0">
                <a:solidFill>
                  <a:srgbClr val="7A6A64"/>
                </a:solidFill>
                <a:latin typeface="Calibri" pitchFamily="34" charset="0"/>
                <a:ea typeface="Calibri" pitchFamily="34" charset="-122"/>
                <a:cs typeface="Calibri" pitchFamily="34" charset="-120"/>
              </a:rPr>
              <a:t>6-step way to receive one</a:t>
            </a:r>
            <a:endParaRPr lang="en-US" sz="1150" dirty="0"/>
          </a:p>
        </p:txBody>
      </p:sp>
      <p:sp>
        <p:nvSpPr>
          <p:cNvPr id="28" name="Text 26"/>
          <p:cNvSpPr/>
          <p:nvPr/>
        </p:nvSpPr>
        <p:spPr>
          <a:xfrm>
            <a:off x="8458200" y="2916936"/>
            <a:ext cx="3063240" cy="484632"/>
          </a:xfrm>
          <a:prstGeom prst="rect">
            <a:avLst/>
          </a:prstGeom>
          <a:noFill/>
          <a:ln/>
        </p:spPr>
        <p:txBody>
          <a:bodyPr wrap="square" lIns="0" tIns="0" rIns="0" bIns="0" rtlCol="0" anchor="ctr"/>
          <a:lstStyle/>
          <a:p>
            <a:pPr indent="0" marL="0">
              <a:buNone/>
            </a:pPr>
            <a:r>
              <a:rPr lang="en-US" sz="1150" dirty="0">
                <a:solidFill>
                  <a:srgbClr val="7A6A64"/>
                </a:solidFill>
                <a:latin typeface="Calibri" pitchFamily="34" charset="0"/>
                <a:ea typeface="Calibri" pitchFamily="34" charset="-122"/>
                <a:cs typeface="Calibri" pitchFamily="34" charset="-120"/>
              </a:rPr>
              <a:t>NTT Master Prac Manual, p.159</a:t>
            </a:r>
            <a:endParaRPr lang="en-US" sz="1150" dirty="0"/>
          </a:p>
        </p:txBody>
      </p:sp>
      <p:sp>
        <p:nvSpPr>
          <p:cNvPr id="29" name="Shape 27"/>
          <p:cNvSpPr/>
          <p:nvPr/>
        </p:nvSpPr>
        <p:spPr>
          <a:xfrm>
            <a:off x="502920" y="3401568"/>
            <a:ext cx="11155680" cy="484632"/>
          </a:xfrm>
          <a:prstGeom prst="rect">
            <a:avLst/>
          </a:prstGeom>
          <a:solidFill>
            <a:srgbClr val="FFFFFF"/>
          </a:solidFill>
          <a:ln/>
        </p:spPr>
      </p:sp>
      <p:sp>
        <p:nvSpPr>
          <p:cNvPr id="30" name="Shape 28"/>
          <p:cNvSpPr/>
          <p:nvPr/>
        </p:nvSpPr>
        <p:spPr>
          <a:xfrm>
            <a:off x="640080" y="3502152"/>
            <a:ext cx="283464" cy="283464"/>
          </a:xfrm>
          <a:prstGeom prst="ellipse">
            <a:avLst/>
          </a:prstGeom>
          <a:solidFill>
            <a:srgbClr val="A26769"/>
          </a:solidFill>
          <a:ln/>
        </p:spPr>
      </p:sp>
      <p:sp>
        <p:nvSpPr>
          <p:cNvPr id="31" name="Text 29"/>
          <p:cNvSpPr/>
          <p:nvPr/>
        </p:nvSpPr>
        <p:spPr>
          <a:xfrm>
            <a:off x="640080" y="3502152"/>
            <a:ext cx="283464"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2" name="Text 30"/>
          <p:cNvSpPr/>
          <p:nvPr/>
        </p:nvSpPr>
        <p:spPr>
          <a:xfrm>
            <a:off x="1097280" y="3401568"/>
            <a:ext cx="3977640" cy="484632"/>
          </a:xfrm>
          <a:prstGeom prst="rect">
            <a:avLst/>
          </a:prstGeom>
          <a:noFill/>
          <a:ln/>
        </p:spPr>
        <p:txBody>
          <a:bodyPr wrap="square" lIns="0" tIns="0" rIns="0" bIns="0" rtlCol="0" anchor="ctr"/>
          <a:lstStyle/>
          <a:p>
            <a:pPr indent="0" marL="0">
              <a:buNone/>
            </a:pPr>
            <a:r>
              <a:rPr lang="en-US" sz="1250" b="1" dirty="0">
                <a:solidFill>
                  <a:srgbClr val="2B2320"/>
                </a:solidFill>
                <a:latin typeface="Calibri" pitchFamily="34" charset="0"/>
                <a:ea typeface="Calibri" pitchFamily="34" charset="-122"/>
                <a:cs typeface="Calibri" pitchFamily="34" charset="-120"/>
              </a:rPr>
              <a:t>The Process to Relationship Problem Solving</a:t>
            </a:r>
            <a:endParaRPr lang="en-US" sz="1250" dirty="0"/>
          </a:p>
        </p:txBody>
      </p:sp>
      <p:sp>
        <p:nvSpPr>
          <p:cNvPr id="33" name="Text 31"/>
          <p:cNvSpPr/>
          <p:nvPr/>
        </p:nvSpPr>
        <p:spPr>
          <a:xfrm>
            <a:off x="5257800" y="3401568"/>
            <a:ext cx="3017520" cy="484632"/>
          </a:xfrm>
          <a:prstGeom prst="rect">
            <a:avLst/>
          </a:prstGeom>
          <a:noFill/>
          <a:ln/>
        </p:spPr>
        <p:txBody>
          <a:bodyPr wrap="square" lIns="0" tIns="0" rIns="0" bIns="0" rtlCol="0" anchor="ctr"/>
          <a:lstStyle/>
          <a:p>
            <a:pPr indent="0" marL="0">
              <a:buNone/>
            </a:pPr>
            <a:r>
              <a:rPr lang="en-US" sz="1150" dirty="0">
                <a:solidFill>
                  <a:srgbClr val="7A6A64"/>
                </a:solidFill>
                <a:latin typeface="Calibri" pitchFamily="34" charset="0"/>
                <a:ea typeface="Calibri" pitchFamily="34" charset="-122"/>
                <a:cs typeface="Calibri" pitchFamily="34" charset="-120"/>
              </a:rPr>
              <a:t>Self-audit before you speak</a:t>
            </a:r>
            <a:endParaRPr lang="en-US" sz="1150" dirty="0"/>
          </a:p>
        </p:txBody>
      </p:sp>
      <p:sp>
        <p:nvSpPr>
          <p:cNvPr id="34" name="Text 32"/>
          <p:cNvSpPr/>
          <p:nvPr/>
        </p:nvSpPr>
        <p:spPr>
          <a:xfrm>
            <a:off x="8458200" y="3401568"/>
            <a:ext cx="3063240" cy="484632"/>
          </a:xfrm>
          <a:prstGeom prst="rect">
            <a:avLst/>
          </a:prstGeom>
          <a:noFill/>
          <a:ln/>
        </p:spPr>
        <p:txBody>
          <a:bodyPr wrap="square" lIns="0" tIns="0" rIns="0" bIns="0" rtlCol="0" anchor="ctr"/>
          <a:lstStyle/>
          <a:p>
            <a:pPr indent="0" marL="0">
              <a:buNone/>
            </a:pPr>
            <a:r>
              <a:rPr lang="en-US" sz="1150" dirty="0">
                <a:solidFill>
                  <a:srgbClr val="7A6A64"/>
                </a:solidFill>
                <a:latin typeface="Calibri" pitchFamily="34" charset="0"/>
                <a:ea typeface="Calibri" pitchFamily="34" charset="-122"/>
                <a:cs typeface="Calibri" pitchFamily="34" charset="-120"/>
              </a:rPr>
              <a:t>NTT Master Prac Manual, p.159</a:t>
            </a:r>
            <a:endParaRPr lang="en-US" sz="1150" dirty="0"/>
          </a:p>
        </p:txBody>
      </p:sp>
      <p:sp>
        <p:nvSpPr>
          <p:cNvPr id="35" name="Shape 33"/>
          <p:cNvSpPr/>
          <p:nvPr/>
        </p:nvSpPr>
        <p:spPr>
          <a:xfrm>
            <a:off x="640080" y="3986784"/>
            <a:ext cx="283464" cy="283464"/>
          </a:xfrm>
          <a:prstGeom prst="ellipse">
            <a:avLst/>
          </a:prstGeom>
          <a:solidFill>
            <a:srgbClr val="A26769"/>
          </a:solidFill>
          <a:ln/>
        </p:spPr>
      </p:sp>
      <p:sp>
        <p:nvSpPr>
          <p:cNvPr id="36" name="Text 34"/>
          <p:cNvSpPr/>
          <p:nvPr/>
        </p:nvSpPr>
        <p:spPr>
          <a:xfrm>
            <a:off x="640080" y="3986784"/>
            <a:ext cx="283464"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7" name="Text 35"/>
          <p:cNvSpPr/>
          <p:nvPr/>
        </p:nvSpPr>
        <p:spPr>
          <a:xfrm>
            <a:off x="1097280" y="3886200"/>
            <a:ext cx="3977640" cy="484632"/>
          </a:xfrm>
          <a:prstGeom prst="rect">
            <a:avLst/>
          </a:prstGeom>
          <a:noFill/>
          <a:ln/>
        </p:spPr>
        <p:txBody>
          <a:bodyPr wrap="square" lIns="0" tIns="0" rIns="0" bIns="0" rtlCol="0" anchor="ctr"/>
          <a:lstStyle/>
          <a:p>
            <a:pPr indent="0" marL="0">
              <a:buNone/>
            </a:pPr>
            <a:r>
              <a:rPr lang="en-US" sz="1250" b="1" dirty="0">
                <a:solidFill>
                  <a:srgbClr val="2B2320"/>
                </a:solidFill>
                <a:latin typeface="Calibri" pitchFamily="34" charset="0"/>
                <a:ea typeface="Calibri" pitchFamily="34" charset="-122"/>
                <a:cs typeface="Calibri" pitchFamily="34" charset="-120"/>
              </a:rPr>
              <a:t>Couples Intervention language pattern</a:t>
            </a:r>
            <a:endParaRPr lang="en-US" sz="1250" dirty="0"/>
          </a:p>
        </p:txBody>
      </p:sp>
      <p:sp>
        <p:nvSpPr>
          <p:cNvPr id="38" name="Text 36"/>
          <p:cNvSpPr/>
          <p:nvPr/>
        </p:nvSpPr>
        <p:spPr>
          <a:xfrm>
            <a:off x="5257800" y="3886200"/>
            <a:ext cx="3017520" cy="484632"/>
          </a:xfrm>
          <a:prstGeom prst="rect">
            <a:avLst/>
          </a:prstGeom>
          <a:noFill/>
          <a:ln/>
        </p:spPr>
        <p:txBody>
          <a:bodyPr wrap="square" lIns="0" tIns="0" rIns="0" bIns="0" rtlCol="0" anchor="ctr"/>
          <a:lstStyle/>
          <a:p>
            <a:pPr indent="0" marL="0">
              <a:buNone/>
            </a:pPr>
            <a:r>
              <a:rPr lang="en-US" sz="1150" dirty="0">
                <a:solidFill>
                  <a:srgbClr val="7A6A64"/>
                </a:solidFill>
                <a:latin typeface="Calibri" pitchFamily="34" charset="0"/>
                <a:ea typeface="Calibri" pitchFamily="34" charset="-122"/>
                <a:cs typeface="Calibri" pitchFamily="34" charset="-120"/>
              </a:rPr>
              <a:t>In-session repair script + Ho’oponopono</a:t>
            </a:r>
            <a:endParaRPr lang="en-US" sz="1150" dirty="0"/>
          </a:p>
        </p:txBody>
      </p:sp>
      <p:sp>
        <p:nvSpPr>
          <p:cNvPr id="39" name="Text 37"/>
          <p:cNvSpPr/>
          <p:nvPr/>
        </p:nvSpPr>
        <p:spPr>
          <a:xfrm>
            <a:off x="8458200" y="3886200"/>
            <a:ext cx="3063240" cy="484632"/>
          </a:xfrm>
          <a:prstGeom prst="rect">
            <a:avLst/>
          </a:prstGeom>
          <a:noFill/>
          <a:ln/>
        </p:spPr>
        <p:txBody>
          <a:bodyPr wrap="square" lIns="0" tIns="0" rIns="0" bIns="0" rtlCol="0" anchor="ctr"/>
          <a:lstStyle/>
          <a:p>
            <a:pPr indent="0" marL="0">
              <a:buNone/>
            </a:pPr>
            <a:r>
              <a:rPr lang="en-US" sz="1150" dirty="0">
                <a:solidFill>
                  <a:srgbClr val="7A6A64"/>
                </a:solidFill>
                <a:latin typeface="Calibri" pitchFamily="34" charset="0"/>
                <a:ea typeface="Calibri" pitchFamily="34" charset="-122"/>
                <a:cs typeface="Calibri" pitchFamily="34" charset="-120"/>
              </a:rPr>
              <a:t>NTT Relationship Coaching for Couples</a:t>
            </a:r>
            <a:endParaRPr lang="en-US" sz="1150" dirty="0"/>
          </a:p>
        </p:txBody>
      </p:sp>
      <p:sp>
        <p:nvSpPr>
          <p:cNvPr id="40" name="Shape 38"/>
          <p:cNvSpPr/>
          <p:nvPr/>
        </p:nvSpPr>
        <p:spPr>
          <a:xfrm>
            <a:off x="502920" y="4370832"/>
            <a:ext cx="11155680" cy="484632"/>
          </a:xfrm>
          <a:prstGeom prst="rect">
            <a:avLst/>
          </a:prstGeom>
          <a:solidFill>
            <a:srgbClr val="FFFFFF"/>
          </a:solidFill>
          <a:ln/>
        </p:spPr>
      </p:sp>
      <p:sp>
        <p:nvSpPr>
          <p:cNvPr id="41" name="Shape 39"/>
          <p:cNvSpPr/>
          <p:nvPr/>
        </p:nvSpPr>
        <p:spPr>
          <a:xfrm>
            <a:off x="640080" y="4471416"/>
            <a:ext cx="283464" cy="283464"/>
          </a:xfrm>
          <a:prstGeom prst="ellipse">
            <a:avLst/>
          </a:prstGeom>
          <a:solidFill>
            <a:srgbClr val="A26769"/>
          </a:solidFill>
          <a:ln/>
        </p:spPr>
      </p:sp>
      <p:sp>
        <p:nvSpPr>
          <p:cNvPr id="42" name="Text 40"/>
          <p:cNvSpPr/>
          <p:nvPr/>
        </p:nvSpPr>
        <p:spPr>
          <a:xfrm>
            <a:off x="640080" y="4471416"/>
            <a:ext cx="283464"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3" name="Text 41"/>
          <p:cNvSpPr/>
          <p:nvPr/>
        </p:nvSpPr>
        <p:spPr>
          <a:xfrm>
            <a:off x="1097280" y="4370832"/>
            <a:ext cx="3977640" cy="484632"/>
          </a:xfrm>
          <a:prstGeom prst="rect">
            <a:avLst/>
          </a:prstGeom>
          <a:noFill/>
          <a:ln/>
        </p:spPr>
        <p:txBody>
          <a:bodyPr wrap="square" lIns="0" tIns="0" rIns="0" bIns="0" rtlCol="0" anchor="ctr"/>
          <a:lstStyle/>
          <a:p>
            <a:pPr indent="0" marL="0">
              <a:buNone/>
            </a:pPr>
            <a:r>
              <a:rPr lang="en-US" sz="1250" b="1" dirty="0">
                <a:solidFill>
                  <a:srgbClr val="2B2320"/>
                </a:solidFill>
                <a:latin typeface="Calibri" pitchFamily="34" charset="0"/>
                <a:ea typeface="Calibri" pitchFamily="34" charset="-122"/>
                <a:cs typeface="Calibri" pitchFamily="34" charset="-120"/>
              </a:rPr>
              <a:t>Relationship Coaching Framework (5 steps)</a:t>
            </a:r>
            <a:endParaRPr lang="en-US" sz="1250" dirty="0"/>
          </a:p>
        </p:txBody>
      </p:sp>
      <p:sp>
        <p:nvSpPr>
          <p:cNvPr id="44" name="Text 42"/>
          <p:cNvSpPr/>
          <p:nvPr/>
        </p:nvSpPr>
        <p:spPr>
          <a:xfrm>
            <a:off x="5257800" y="4370832"/>
            <a:ext cx="3017520" cy="484632"/>
          </a:xfrm>
          <a:prstGeom prst="rect">
            <a:avLst/>
          </a:prstGeom>
          <a:noFill/>
          <a:ln/>
        </p:spPr>
        <p:txBody>
          <a:bodyPr wrap="square" lIns="0" tIns="0" rIns="0" bIns="0" rtlCol="0" anchor="ctr"/>
          <a:lstStyle/>
          <a:p>
            <a:pPr indent="0" marL="0">
              <a:buNone/>
            </a:pPr>
            <a:r>
              <a:rPr lang="en-US" sz="1150" dirty="0">
                <a:solidFill>
                  <a:srgbClr val="7A6A64"/>
                </a:solidFill>
                <a:latin typeface="Calibri" pitchFamily="34" charset="0"/>
                <a:ea typeface="Calibri" pitchFamily="34" charset="-122"/>
                <a:cs typeface="Calibri" pitchFamily="34" charset="-120"/>
              </a:rPr>
              <a:t>Ownership + commitment scripts</a:t>
            </a:r>
            <a:endParaRPr lang="en-US" sz="1150" dirty="0"/>
          </a:p>
        </p:txBody>
      </p:sp>
      <p:sp>
        <p:nvSpPr>
          <p:cNvPr id="45" name="Text 43"/>
          <p:cNvSpPr/>
          <p:nvPr/>
        </p:nvSpPr>
        <p:spPr>
          <a:xfrm>
            <a:off x="8458200" y="4370832"/>
            <a:ext cx="3063240" cy="484632"/>
          </a:xfrm>
          <a:prstGeom prst="rect">
            <a:avLst/>
          </a:prstGeom>
          <a:noFill/>
          <a:ln/>
        </p:spPr>
        <p:txBody>
          <a:bodyPr wrap="square" lIns="0" tIns="0" rIns="0" bIns="0" rtlCol="0" anchor="ctr"/>
          <a:lstStyle/>
          <a:p>
            <a:pPr indent="0" marL="0">
              <a:buNone/>
            </a:pPr>
            <a:r>
              <a:rPr lang="en-US" sz="1150" dirty="0">
                <a:solidFill>
                  <a:srgbClr val="7A6A64"/>
                </a:solidFill>
                <a:latin typeface="Calibri" pitchFamily="34" charset="0"/>
                <a:ea typeface="Calibri" pitchFamily="34" charset="-122"/>
                <a:cs typeface="Calibri" pitchFamily="34" charset="-120"/>
              </a:rPr>
              <a:t>Session 3 deck (Gottman version)</a:t>
            </a:r>
            <a:endParaRPr lang="en-US" sz="1150" dirty="0"/>
          </a:p>
        </p:txBody>
      </p:sp>
      <p:sp>
        <p:nvSpPr>
          <p:cNvPr id="46" name="Shape 44"/>
          <p:cNvSpPr/>
          <p:nvPr/>
        </p:nvSpPr>
        <p:spPr>
          <a:xfrm>
            <a:off x="640080" y="4956048"/>
            <a:ext cx="283464" cy="283464"/>
          </a:xfrm>
          <a:prstGeom prst="ellipse">
            <a:avLst/>
          </a:prstGeom>
          <a:solidFill>
            <a:srgbClr val="A26769"/>
          </a:solidFill>
          <a:ln/>
        </p:spPr>
      </p:sp>
      <p:sp>
        <p:nvSpPr>
          <p:cNvPr id="47" name="Text 45"/>
          <p:cNvSpPr/>
          <p:nvPr/>
        </p:nvSpPr>
        <p:spPr>
          <a:xfrm>
            <a:off x="640080" y="4956048"/>
            <a:ext cx="283464"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8" name="Text 46"/>
          <p:cNvSpPr/>
          <p:nvPr/>
        </p:nvSpPr>
        <p:spPr>
          <a:xfrm>
            <a:off x="1097280" y="4855464"/>
            <a:ext cx="3977640" cy="484632"/>
          </a:xfrm>
          <a:prstGeom prst="rect">
            <a:avLst/>
          </a:prstGeom>
          <a:noFill/>
          <a:ln/>
        </p:spPr>
        <p:txBody>
          <a:bodyPr wrap="square" lIns="0" tIns="0" rIns="0" bIns="0" rtlCol="0" anchor="ctr"/>
          <a:lstStyle/>
          <a:p>
            <a:pPr indent="0" marL="0">
              <a:buNone/>
            </a:pPr>
            <a:r>
              <a:rPr lang="en-US" sz="1250" b="1" dirty="0">
                <a:solidFill>
                  <a:srgbClr val="2B2320"/>
                </a:solidFill>
                <a:latin typeface="Calibri" pitchFamily="34" charset="0"/>
                <a:ea typeface="Calibri" pitchFamily="34" charset="-122"/>
                <a:cs typeface="Calibri" pitchFamily="34" charset="-120"/>
              </a:rPr>
              <a:t>Gottman’s Four Horsemen + Antidotes</a:t>
            </a:r>
            <a:endParaRPr lang="en-US" sz="1250" dirty="0"/>
          </a:p>
        </p:txBody>
      </p:sp>
      <p:sp>
        <p:nvSpPr>
          <p:cNvPr id="49" name="Text 47"/>
          <p:cNvSpPr/>
          <p:nvPr/>
        </p:nvSpPr>
        <p:spPr>
          <a:xfrm>
            <a:off x="5257800" y="4855464"/>
            <a:ext cx="3017520" cy="484632"/>
          </a:xfrm>
          <a:prstGeom prst="rect">
            <a:avLst/>
          </a:prstGeom>
          <a:noFill/>
          <a:ln/>
        </p:spPr>
        <p:txBody>
          <a:bodyPr wrap="square" lIns="0" tIns="0" rIns="0" bIns="0" rtlCol="0" anchor="ctr"/>
          <a:lstStyle/>
          <a:p>
            <a:pPr indent="0" marL="0">
              <a:buNone/>
            </a:pPr>
            <a:r>
              <a:rPr lang="en-US" sz="1150" dirty="0">
                <a:solidFill>
                  <a:srgbClr val="7A6A64"/>
                </a:solidFill>
                <a:latin typeface="Calibri" pitchFamily="34" charset="0"/>
                <a:ea typeface="Calibri" pitchFamily="34" charset="-122"/>
                <a:cs typeface="Calibri" pitchFamily="34" charset="-120"/>
              </a:rPr>
              <a:t>Diagnose, then replace the pattern</a:t>
            </a:r>
            <a:endParaRPr lang="en-US" sz="1150" dirty="0"/>
          </a:p>
        </p:txBody>
      </p:sp>
      <p:sp>
        <p:nvSpPr>
          <p:cNvPr id="50" name="Text 48"/>
          <p:cNvSpPr/>
          <p:nvPr/>
        </p:nvSpPr>
        <p:spPr>
          <a:xfrm>
            <a:off x="8458200" y="4855464"/>
            <a:ext cx="3063240" cy="484632"/>
          </a:xfrm>
          <a:prstGeom prst="rect">
            <a:avLst/>
          </a:prstGeom>
          <a:noFill/>
          <a:ln/>
        </p:spPr>
        <p:txBody>
          <a:bodyPr wrap="square" lIns="0" tIns="0" rIns="0" bIns="0" rtlCol="0" anchor="ctr"/>
          <a:lstStyle/>
          <a:p>
            <a:pPr indent="0" marL="0">
              <a:buNone/>
            </a:pPr>
            <a:r>
              <a:rPr lang="en-US" sz="1150" dirty="0">
                <a:solidFill>
                  <a:srgbClr val="7A6A64"/>
                </a:solidFill>
                <a:latin typeface="Calibri" pitchFamily="34" charset="0"/>
                <a:ea typeface="Calibri" pitchFamily="34" charset="-122"/>
                <a:cs typeface="Calibri" pitchFamily="34" charset="-120"/>
              </a:rPr>
              <a:t>Manual p.143 / 5-Day Session 4</a:t>
            </a:r>
            <a:endParaRPr lang="en-US" sz="1150" dirty="0"/>
          </a:p>
        </p:txBody>
      </p:sp>
      <p:sp>
        <p:nvSpPr>
          <p:cNvPr id="51" name="Shape 49"/>
          <p:cNvSpPr/>
          <p:nvPr/>
        </p:nvSpPr>
        <p:spPr>
          <a:xfrm>
            <a:off x="502920" y="5340096"/>
            <a:ext cx="11155680" cy="484632"/>
          </a:xfrm>
          <a:prstGeom prst="rect">
            <a:avLst/>
          </a:prstGeom>
          <a:solidFill>
            <a:srgbClr val="FFFFFF"/>
          </a:solidFill>
          <a:ln/>
        </p:spPr>
      </p:sp>
      <p:sp>
        <p:nvSpPr>
          <p:cNvPr id="52" name="Shape 50"/>
          <p:cNvSpPr/>
          <p:nvPr/>
        </p:nvSpPr>
        <p:spPr>
          <a:xfrm>
            <a:off x="640080" y="5440680"/>
            <a:ext cx="283464" cy="283464"/>
          </a:xfrm>
          <a:prstGeom prst="ellipse">
            <a:avLst/>
          </a:prstGeom>
          <a:solidFill>
            <a:srgbClr val="A26769"/>
          </a:solidFill>
          <a:ln/>
        </p:spPr>
      </p:sp>
      <p:sp>
        <p:nvSpPr>
          <p:cNvPr id="53" name="Text 51"/>
          <p:cNvSpPr/>
          <p:nvPr/>
        </p:nvSpPr>
        <p:spPr>
          <a:xfrm>
            <a:off x="640080" y="5440680"/>
            <a:ext cx="283464"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4" name="Text 52"/>
          <p:cNvSpPr/>
          <p:nvPr/>
        </p:nvSpPr>
        <p:spPr>
          <a:xfrm>
            <a:off x="1097280" y="5340096"/>
            <a:ext cx="3977640" cy="484632"/>
          </a:xfrm>
          <a:prstGeom prst="rect">
            <a:avLst/>
          </a:prstGeom>
          <a:noFill/>
          <a:ln/>
        </p:spPr>
        <p:txBody>
          <a:bodyPr wrap="square" lIns="0" tIns="0" rIns="0" bIns="0" rtlCol="0" anchor="ctr"/>
          <a:lstStyle/>
          <a:p>
            <a:pPr indent="0" marL="0">
              <a:buNone/>
            </a:pPr>
            <a:r>
              <a:rPr lang="en-US" sz="1250" b="1" dirty="0">
                <a:solidFill>
                  <a:srgbClr val="2B2320"/>
                </a:solidFill>
                <a:latin typeface="Calibri" pitchFamily="34" charset="0"/>
                <a:ea typeface="Calibri" pitchFamily="34" charset="-122"/>
                <a:cs typeface="Calibri" pitchFamily="34" charset="-120"/>
              </a:rPr>
              <a:t>The 4 R’s</a:t>
            </a:r>
            <a:endParaRPr lang="en-US" sz="1250" dirty="0"/>
          </a:p>
        </p:txBody>
      </p:sp>
      <p:sp>
        <p:nvSpPr>
          <p:cNvPr id="55" name="Text 53"/>
          <p:cNvSpPr/>
          <p:nvPr/>
        </p:nvSpPr>
        <p:spPr>
          <a:xfrm>
            <a:off x="5257800" y="5340096"/>
            <a:ext cx="3017520" cy="484632"/>
          </a:xfrm>
          <a:prstGeom prst="rect">
            <a:avLst/>
          </a:prstGeom>
          <a:noFill/>
          <a:ln/>
        </p:spPr>
        <p:txBody>
          <a:bodyPr wrap="square" lIns="0" tIns="0" rIns="0" bIns="0" rtlCol="0" anchor="ctr"/>
          <a:lstStyle/>
          <a:p>
            <a:pPr indent="0" marL="0">
              <a:buNone/>
            </a:pPr>
            <a:r>
              <a:rPr lang="en-US" sz="1150" dirty="0">
                <a:solidFill>
                  <a:srgbClr val="7A6A64"/>
                </a:solidFill>
                <a:latin typeface="Calibri" pitchFamily="34" charset="0"/>
                <a:ea typeface="Calibri" pitchFamily="34" charset="-122"/>
                <a:cs typeface="Calibri" pitchFamily="34" charset="-120"/>
              </a:rPr>
              <a:t>How unspoken conflict escalates</a:t>
            </a:r>
            <a:endParaRPr lang="en-US" sz="1150" dirty="0"/>
          </a:p>
        </p:txBody>
      </p:sp>
      <p:sp>
        <p:nvSpPr>
          <p:cNvPr id="56" name="Text 54"/>
          <p:cNvSpPr/>
          <p:nvPr/>
        </p:nvSpPr>
        <p:spPr>
          <a:xfrm>
            <a:off x="8458200" y="5340096"/>
            <a:ext cx="3063240" cy="484632"/>
          </a:xfrm>
          <a:prstGeom prst="rect">
            <a:avLst/>
          </a:prstGeom>
          <a:noFill/>
          <a:ln/>
        </p:spPr>
        <p:txBody>
          <a:bodyPr wrap="square" lIns="0" tIns="0" rIns="0" bIns="0" rtlCol="0" anchor="ctr"/>
          <a:lstStyle/>
          <a:p>
            <a:pPr indent="0" marL="0">
              <a:buNone/>
            </a:pPr>
            <a:r>
              <a:rPr lang="en-US" sz="1150" dirty="0">
                <a:solidFill>
                  <a:srgbClr val="7A6A64"/>
                </a:solidFill>
                <a:latin typeface="Calibri" pitchFamily="34" charset="0"/>
                <a:ea typeface="Calibri" pitchFamily="34" charset="-122"/>
                <a:cs typeface="Calibri" pitchFamily="34" charset="-120"/>
              </a:rPr>
              <a:t>Relationship Mastery – Master Prac</a:t>
            </a:r>
            <a:endParaRPr lang="en-US" sz="1150" dirty="0"/>
          </a:p>
        </p:txBody>
      </p:sp>
      <p:sp>
        <p:nvSpPr>
          <p:cNvPr id="57" name="Text 55"/>
          <p:cNvSpPr/>
          <p:nvPr/>
        </p:nvSpPr>
        <p:spPr>
          <a:xfrm>
            <a:off x="640080" y="6291072"/>
            <a:ext cx="10881360" cy="292608"/>
          </a:xfrm>
          <a:prstGeom prst="rect">
            <a:avLst/>
          </a:prstGeom>
          <a:noFill/>
          <a:ln/>
        </p:spPr>
        <p:txBody>
          <a:bodyPr wrap="square" lIns="0" tIns="0" rIns="0" bIns="0" rtlCol="0" anchor="ctr"/>
          <a:lstStyle/>
          <a:p>
            <a:pPr indent="0" marL="0">
              <a:buNone/>
            </a:pPr>
            <a:r>
              <a:rPr lang="en-US" sz="1000" i="1" dirty="0">
                <a:solidFill>
                  <a:srgbClr val="7A6A64"/>
                </a:solidFill>
                <a:latin typeface="Calibri" pitchFamily="34" charset="0"/>
                <a:ea typeface="Calibri" pitchFamily="34" charset="-122"/>
                <a:cs typeface="Calibri" pitchFamily="34" charset="-120"/>
              </a:rPr>
              <a:t>Models 1–2 are the current teaching version. Models 3–5 are the earlier manual lineage. Models 8–9 diagnose rather than resolve.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48192E"/>
        </a:solidFill>
      </p:bgPr>
    </p:bg>
    <p:spTree>
      <p:nvGrpSpPr>
        <p:cNvPr id="1" name=""/>
        <p:cNvGrpSpPr/>
        <p:nvPr/>
      </p:nvGrpSpPr>
      <p:grpSpPr>
        <a:xfrm>
          <a:off x="0" y="0"/>
          <a:ext cx="0" cy="0"/>
          <a:chOff x="0" y="0"/>
          <a:chExt cx="0" cy="0"/>
        </a:xfrm>
      </p:grpSpPr>
      <p:sp>
        <p:nvSpPr>
          <p:cNvPr id="2" name="Shape 0"/>
          <p:cNvSpPr/>
          <p:nvPr/>
        </p:nvSpPr>
        <p:spPr>
          <a:xfrm>
            <a:off x="-1371600" y="4754880"/>
            <a:ext cx="4023360" cy="4023360"/>
          </a:xfrm>
          <a:prstGeom prst="ellipse">
            <a:avLst/>
          </a:prstGeom>
          <a:solidFill>
            <a:srgbClr val="6D2E46">
              <a:alpha val="55000"/>
            </a:srgbClr>
          </a:solidFill>
          <a:ln/>
        </p:spPr>
      </p:sp>
      <p:sp>
        <p:nvSpPr>
          <p:cNvPr id="3" name="Text 1"/>
          <p:cNvSpPr/>
          <p:nvPr/>
        </p:nvSpPr>
        <p:spPr>
          <a:xfrm>
            <a:off x="640080" y="1234440"/>
            <a:ext cx="7315200" cy="274320"/>
          </a:xfrm>
          <a:prstGeom prst="rect">
            <a:avLst/>
          </a:prstGeom>
          <a:noFill/>
          <a:ln/>
        </p:spPr>
        <p:txBody>
          <a:bodyPr wrap="square" lIns="0" tIns="0" rIns="0" bIns="0" rtlCol="0" anchor="ctr"/>
          <a:lstStyle/>
          <a:p>
            <a:pPr indent="0" marL="0">
              <a:buNone/>
            </a:pPr>
            <a:r>
              <a:rPr lang="en-US" sz="1100" b="1" spc="200" kern="0" dirty="0">
                <a:solidFill>
                  <a:srgbClr val="C08A3E"/>
                </a:solidFill>
                <a:latin typeface="Calibri" pitchFamily="34" charset="0"/>
                <a:ea typeface="Calibri" pitchFamily="34" charset="-122"/>
                <a:cs typeface="Calibri" pitchFamily="34" charset="-120"/>
              </a:rPr>
              <a:t>MODEL 01  ·  THE FLAGSHIP</a:t>
            </a:r>
            <a:endParaRPr lang="en-US" sz="1100" dirty="0"/>
          </a:p>
        </p:txBody>
      </p:sp>
      <p:sp>
        <p:nvSpPr>
          <p:cNvPr id="4" name="Text 2"/>
          <p:cNvSpPr/>
          <p:nvPr/>
        </p:nvSpPr>
        <p:spPr>
          <a:xfrm>
            <a:off x="640080" y="1645920"/>
            <a:ext cx="7863840" cy="164592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The NTT Compassionate</a:t>
            </a:r>
            <a:endParaRPr lang="en-US" sz="4000" dirty="0"/>
          </a:p>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Communication Model</a:t>
            </a:r>
            <a:endParaRPr lang="en-US" sz="4000" dirty="0"/>
          </a:p>
        </p:txBody>
      </p:sp>
      <p:sp>
        <p:nvSpPr>
          <p:cNvPr id="5" name="Text 3"/>
          <p:cNvSpPr/>
          <p:nvPr/>
        </p:nvSpPr>
        <p:spPr>
          <a:xfrm>
            <a:off x="640080" y="3520440"/>
            <a:ext cx="6949440" cy="1005840"/>
          </a:xfrm>
          <a:prstGeom prst="rect">
            <a:avLst/>
          </a:prstGeom>
          <a:noFill/>
          <a:ln/>
        </p:spPr>
        <p:txBody>
          <a:bodyPr wrap="square" lIns="0" tIns="0" rIns="0" bIns="0" rtlCol="0" anchor="ctr"/>
          <a:lstStyle/>
          <a:p>
            <a:pPr indent="0" marL="0">
              <a:lnSpc>
                <a:spcPts val="2400"/>
              </a:lnSpc>
              <a:buNone/>
            </a:pPr>
            <a:r>
              <a:rPr lang="en-US" sz="1500" dirty="0">
                <a:solidFill>
                  <a:srgbClr val="E8D9DC"/>
                </a:solidFill>
                <a:latin typeface="Calibri" pitchFamily="34" charset="0"/>
                <a:ea typeface="Calibri" pitchFamily="34" charset="-122"/>
                <a:cs typeface="Calibri" pitchFamily="34" charset="-120"/>
              </a:rPr>
              <a:t>Five steps for when you are on the receiving end of something your partner said or did that upset you. Built around recognising the meaning that got triggered — in them, and in you.</a:t>
            </a:r>
            <a:endParaRPr lang="en-US" sz="1500" dirty="0"/>
          </a:p>
        </p:txBody>
      </p:sp>
      <p:sp>
        <p:nvSpPr>
          <p:cNvPr id="6" name="Shape 4"/>
          <p:cNvSpPr/>
          <p:nvPr/>
        </p:nvSpPr>
        <p:spPr>
          <a:xfrm>
            <a:off x="640080" y="4754880"/>
            <a:ext cx="6949440" cy="868680"/>
          </a:xfrm>
          <a:prstGeom prst="roundRect">
            <a:avLst>
              <a:gd name="adj" fmla="val 10526"/>
            </a:avLst>
          </a:prstGeom>
          <a:solidFill>
            <a:srgbClr val="FFFFFF">
              <a:alpha val="12000"/>
            </a:srgbClr>
          </a:solidFill>
          <a:ln/>
        </p:spPr>
      </p:sp>
      <p:sp>
        <p:nvSpPr>
          <p:cNvPr id="7" name="Text 5"/>
          <p:cNvSpPr/>
          <p:nvPr/>
        </p:nvSpPr>
        <p:spPr>
          <a:xfrm>
            <a:off x="960120" y="4864608"/>
            <a:ext cx="6309360" cy="640080"/>
          </a:xfrm>
          <a:prstGeom prst="rect">
            <a:avLst/>
          </a:prstGeom>
          <a:noFill/>
          <a:ln/>
        </p:spPr>
        <p:txBody>
          <a:bodyPr wrap="square" lIns="0" tIns="0" rIns="0" bIns="0" rtlCol="0" anchor="ctr"/>
          <a:lstStyle/>
          <a:p>
            <a:pPr indent="0" marL="0">
              <a:lnSpc>
                <a:spcPts val="1800"/>
              </a:lnSpc>
              <a:buNone/>
            </a:pPr>
            <a:r>
              <a:rPr lang="en-US" sz="1200" dirty="0">
                <a:solidFill>
                  <a:srgbClr val="F0E2E6"/>
                </a:solidFill>
                <a:latin typeface="Calibri" pitchFamily="34" charset="0"/>
                <a:ea typeface="Calibri" pitchFamily="34" charset="-122"/>
                <a:cs typeface="Calibri" pitchFamily="34" charset="-120"/>
              </a:rPr>
              <a:t>Found in: “Session 3 (John Gottman detailed version)” — slides marked “Not in manual”, meaning this is newer than the printed Master Prac manual.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1E8"/>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100" b="1" spc="200" kern="0" dirty="0">
                <a:solidFill>
                  <a:srgbClr val="A26769"/>
                </a:solidFill>
                <a:latin typeface="Calibri" pitchFamily="34" charset="0"/>
                <a:ea typeface="Calibri" pitchFamily="34" charset="-122"/>
                <a:cs typeface="Calibri" pitchFamily="34" charset="-120"/>
              </a:rPr>
              <a:t>MODEL 01 · THE FIVE STEPS</a:t>
            </a:r>
            <a:endParaRPr lang="en-US" sz="1100" dirty="0"/>
          </a:p>
        </p:txBody>
      </p:sp>
      <p:sp>
        <p:nvSpPr>
          <p:cNvPr id="3" name="Text 1"/>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How the conversation runs</a:t>
            </a:r>
            <a:endParaRPr lang="en-US" sz="3400" dirty="0"/>
          </a:p>
        </p:txBody>
      </p:sp>
      <p:sp>
        <p:nvSpPr>
          <p:cNvPr id="4" name="Shape 2"/>
          <p:cNvSpPr/>
          <p:nvPr/>
        </p:nvSpPr>
        <p:spPr>
          <a:xfrm>
            <a:off x="640080" y="1463040"/>
            <a:ext cx="10881360" cy="786384"/>
          </a:xfrm>
          <a:prstGeom prst="roundRect">
            <a:avLst>
              <a:gd name="adj" fmla="val 9302"/>
            </a:avLst>
          </a:prstGeom>
          <a:solidFill>
            <a:srgbClr val="FFFFFF"/>
          </a:solidFill>
          <a:ln/>
          <a:effectLst>
            <a:outerShdw sx="100000" sy="100000" kx="0" ky="0" algn="bl" rotWithShape="0" blurRad="101600" dist="25400" dir="5400000">
              <a:srgbClr val="6D2E46">
                <a:alpha val="10000"/>
              </a:srgbClr>
            </a:outerShdw>
          </a:effectLst>
        </p:spPr>
      </p:sp>
      <p:sp>
        <p:nvSpPr>
          <p:cNvPr id="5" name="Shape 3"/>
          <p:cNvSpPr/>
          <p:nvPr/>
        </p:nvSpPr>
        <p:spPr>
          <a:xfrm>
            <a:off x="914400" y="1655064"/>
            <a:ext cx="402336" cy="402336"/>
          </a:xfrm>
          <a:prstGeom prst="ellipse">
            <a:avLst/>
          </a:prstGeom>
          <a:solidFill>
            <a:srgbClr val="6D2E46"/>
          </a:solidFill>
          <a:ln/>
        </p:spPr>
      </p:sp>
      <p:sp>
        <p:nvSpPr>
          <p:cNvPr id="6" name="Text 4"/>
          <p:cNvSpPr/>
          <p:nvPr/>
        </p:nvSpPr>
        <p:spPr>
          <a:xfrm>
            <a:off x="914400" y="1655064"/>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508760" y="1581912"/>
            <a:ext cx="3017520" cy="292608"/>
          </a:xfrm>
          <a:prstGeom prst="rect">
            <a:avLst/>
          </a:prstGeom>
          <a:noFill/>
          <a:ln/>
        </p:spPr>
        <p:txBody>
          <a:bodyPr wrap="square" lIns="0" tIns="0" rIns="0" bIns="0" rtlCol="0" anchor="ctr"/>
          <a:lstStyle/>
          <a:p>
            <a:pPr indent="0" marL="0">
              <a:buNone/>
            </a:pPr>
            <a:r>
              <a:rPr lang="en-US" sz="1400" b="1" dirty="0">
                <a:solidFill>
                  <a:srgbClr val="6D2E46"/>
                </a:solidFill>
                <a:latin typeface="Calibri" pitchFamily="34" charset="0"/>
                <a:ea typeface="Calibri" pitchFamily="34" charset="-122"/>
                <a:cs typeface="Calibri" pitchFamily="34" charset="-120"/>
              </a:rPr>
              <a:t>Set the preframe</a:t>
            </a:r>
            <a:endParaRPr lang="en-US" sz="1400" dirty="0"/>
          </a:p>
        </p:txBody>
      </p:sp>
      <p:sp>
        <p:nvSpPr>
          <p:cNvPr id="8" name="Text 6"/>
          <p:cNvSpPr/>
          <p:nvPr/>
        </p:nvSpPr>
        <p:spPr>
          <a:xfrm>
            <a:off x="1508760" y="1865376"/>
            <a:ext cx="9601200" cy="310896"/>
          </a:xfrm>
          <a:prstGeom prst="rect">
            <a:avLst/>
          </a:prstGeom>
          <a:noFill/>
          <a:ln/>
        </p:spPr>
        <p:txBody>
          <a:bodyPr wrap="square" lIns="0" tIns="0" rIns="0" bIns="0" rtlCol="0" anchor="ctr"/>
          <a:lstStyle/>
          <a:p>
            <a:pPr indent="0" marL="0">
              <a:buNone/>
            </a:pPr>
            <a:r>
              <a:rPr lang="en-US" sz="1200" dirty="0">
                <a:solidFill>
                  <a:srgbClr val="7A6A64"/>
                </a:solidFill>
                <a:latin typeface="Calibri" pitchFamily="34" charset="0"/>
                <a:ea typeface="Calibri" pitchFamily="34" charset="-122"/>
                <a:cs typeface="Calibri" pitchFamily="34" charset="-120"/>
              </a:rPr>
              <a:t>Agree the rules before you start: stay in your hearts, no defensiveness, total self-honesty, approach it as a team.</a:t>
            </a:r>
            <a:endParaRPr lang="en-US" sz="1200" dirty="0"/>
          </a:p>
        </p:txBody>
      </p:sp>
      <p:sp>
        <p:nvSpPr>
          <p:cNvPr id="9" name="Shape 7"/>
          <p:cNvSpPr/>
          <p:nvPr/>
        </p:nvSpPr>
        <p:spPr>
          <a:xfrm>
            <a:off x="640080" y="2359152"/>
            <a:ext cx="10881360" cy="786384"/>
          </a:xfrm>
          <a:prstGeom prst="roundRect">
            <a:avLst>
              <a:gd name="adj" fmla="val 9302"/>
            </a:avLst>
          </a:prstGeom>
          <a:solidFill>
            <a:srgbClr val="FFFFFF"/>
          </a:solidFill>
          <a:ln/>
          <a:effectLst>
            <a:outerShdw sx="100000" sy="100000" kx="0" ky="0" algn="bl" rotWithShape="0" blurRad="101600" dist="25400" dir="5400000">
              <a:srgbClr val="6D2E46">
                <a:alpha val="10000"/>
              </a:srgbClr>
            </a:outerShdw>
          </a:effectLst>
        </p:spPr>
      </p:sp>
      <p:sp>
        <p:nvSpPr>
          <p:cNvPr id="10" name="Shape 8"/>
          <p:cNvSpPr/>
          <p:nvPr/>
        </p:nvSpPr>
        <p:spPr>
          <a:xfrm>
            <a:off x="914400" y="2551176"/>
            <a:ext cx="402336" cy="402336"/>
          </a:xfrm>
          <a:prstGeom prst="ellipse">
            <a:avLst/>
          </a:prstGeom>
          <a:solidFill>
            <a:srgbClr val="6D2E46"/>
          </a:solidFill>
          <a:ln/>
        </p:spPr>
      </p:sp>
      <p:sp>
        <p:nvSpPr>
          <p:cNvPr id="11" name="Text 9"/>
          <p:cNvSpPr/>
          <p:nvPr/>
        </p:nvSpPr>
        <p:spPr>
          <a:xfrm>
            <a:off x="914400" y="255117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508760" y="2478024"/>
            <a:ext cx="3017520" cy="292608"/>
          </a:xfrm>
          <a:prstGeom prst="rect">
            <a:avLst/>
          </a:prstGeom>
          <a:noFill/>
          <a:ln/>
        </p:spPr>
        <p:txBody>
          <a:bodyPr wrap="square" lIns="0" tIns="0" rIns="0" bIns="0" rtlCol="0" anchor="ctr"/>
          <a:lstStyle/>
          <a:p>
            <a:pPr indent="0" marL="0">
              <a:buNone/>
            </a:pPr>
            <a:r>
              <a:rPr lang="en-US" sz="1400" b="1" dirty="0">
                <a:solidFill>
                  <a:srgbClr val="6D2E46"/>
                </a:solidFill>
                <a:latin typeface="Calibri" pitchFamily="34" charset="0"/>
                <a:ea typeface="Calibri" pitchFamily="34" charset="-122"/>
                <a:cs typeface="Calibri" pitchFamily="34" charset="-120"/>
              </a:rPr>
              <a:t>Express what you felt</a:t>
            </a:r>
            <a:endParaRPr lang="en-US" sz="1400" dirty="0"/>
          </a:p>
        </p:txBody>
      </p:sp>
      <p:sp>
        <p:nvSpPr>
          <p:cNvPr id="13" name="Text 11"/>
          <p:cNvSpPr/>
          <p:nvPr/>
        </p:nvSpPr>
        <p:spPr>
          <a:xfrm>
            <a:off x="1508760" y="2761488"/>
            <a:ext cx="9601200" cy="310896"/>
          </a:xfrm>
          <a:prstGeom prst="rect">
            <a:avLst/>
          </a:prstGeom>
          <a:noFill/>
          <a:ln/>
        </p:spPr>
        <p:txBody>
          <a:bodyPr wrap="square" lIns="0" tIns="0" rIns="0" bIns="0" rtlCol="0" anchor="ctr"/>
          <a:lstStyle/>
          <a:p>
            <a:pPr indent="0" marL="0">
              <a:buNone/>
            </a:pPr>
            <a:r>
              <a:rPr lang="en-US" sz="1200" dirty="0">
                <a:solidFill>
                  <a:srgbClr val="7A6A64"/>
                </a:solidFill>
                <a:latin typeface="Calibri" pitchFamily="34" charset="0"/>
                <a:ea typeface="Calibri" pitchFamily="34" charset="-122"/>
                <a:cs typeface="Calibri" pitchFamily="34" charset="-120"/>
              </a:rPr>
              <a:t>Ask yourself “what am I feeling?” — then: “When you said or did X, I felt Y.”</a:t>
            </a:r>
            <a:endParaRPr lang="en-US" sz="1200" dirty="0"/>
          </a:p>
        </p:txBody>
      </p:sp>
      <p:sp>
        <p:nvSpPr>
          <p:cNvPr id="14" name="Shape 12"/>
          <p:cNvSpPr/>
          <p:nvPr/>
        </p:nvSpPr>
        <p:spPr>
          <a:xfrm>
            <a:off x="640080" y="3255264"/>
            <a:ext cx="10881360" cy="786384"/>
          </a:xfrm>
          <a:prstGeom prst="roundRect">
            <a:avLst>
              <a:gd name="adj" fmla="val 9302"/>
            </a:avLst>
          </a:prstGeom>
          <a:solidFill>
            <a:srgbClr val="FFFFFF"/>
          </a:solidFill>
          <a:ln/>
          <a:effectLst>
            <a:outerShdw sx="100000" sy="100000" kx="0" ky="0" algn="bl" rotWithShape="0" blurRad="101600" dist="25400" dir="5400000">
              <a:srgbClr val="6D2E46">
                <a:alpha val="10000"/>
              </a:srgbClr>
            </a:outerShdw>
          </a:effectLst>
        </p:spPr>
      </p:sp>
      <p:sp>
        <p:nvSpPr>
          <p:cNvPr id="15" name="Shape 13"/>
          <p:cNvSpPr/>
          <p:nvPr/>
        </p:nvSpPr>
        <p:spPr>
          <a:xfrm>
            <a:off x="914400" y="3447288"/>
            <a:ext cx="402336" cy="402336"/>
          </a:xfrm>
          <a:prstGeom prst="ellipse">
            <a:avLst/>
          </a:prstGeom>
          <a:solidFill>
            <a:srgbClr val="6D2E46"/>
          </a:solidFill>
          <a:ln/>
        </p:spPr>
      </p:sp>
      <p:sp>
        <p:nvSpPr>
          <p:cNvPr id="16" name="Text 14"/>
          <p:cNvSpPr/>
          <p:nvPr/>
        </p:nvSpPr>
        <p:spPr>
          <a:xfrm>
            <a:off x="914400" y="344728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508760" y="3374136"/>
            <a:ext cx="3017520" cy="292608"/>
          </a:xfrm>
          <a:prstGeom prst="rect">
            <a:avLst/>
          </a:prstGeom>
          <a:noFill/>
          <a:ln/>
        </p:spPr>
        <p:txBody>
          <a:bodyPr wrap="square" lIns="0" tIns="0" rIns="0" bIns="0" rtlCol="0" anchor="ctr"/>
          <a:lstStyle/>
          <a:p>
            <a:pPr indent="0" marL="0">
              <a:buNone/>
            </a:pPr>
            <a:r>
              <a:rPr lang="en-US" sz="1400" b="1" dirty="0">
                <a:solidFill>
                  <a:srgbClr val="6D2E46"/>
                </a:solidFill>
                <a:latin typeface="Calibri" pitchFamily="34" charset="0"/>
                <a:ea typeface="Calibri" pitchFamily="34" charset="-122"/>
                <a:cs typeface="Calibri" pitchFamily="34" charset="-120"/>
              </a:rPr>
              <a:t>Own the meaning — both sides</a:t>
            </a:r>
            <a:endParaRPr lang="en-US" sz="1400" dirty="0"/>
          </a:p>
        </p:txBody>
      </p:sp>
      <p:sp>
        <p:nvSpPr>
          <p:cNvPr id="18" name="Text 16"/>
          <p:cNvSpPr/>
          <p:nvPr/>
        </p:nvSpPr>
        <p:spPr>
          <a:xfrm>
            <a:off x="1508760" y="3657600"/>
            <a:ext cx="9601200" cy="310896"/>
          </a:xfrm>
          <a:prstGeom prst="rect">
            <a:avLst/>
          </a:prstGeom>
          <a:noFill/>
          <a:ln/>
        </p:spPr>
        <p:txBody>
          <a:bodyPr wrap="square" lIns="0" tIns="0" rIns="0" bIns="0" rtlCol="0" anchor="ctr"/>
          <a:lstStyle/>
          <a:p>
            <a:pPr indent="0" marL="0">
              <a:buNone/>
            </a:pPr>
            <a:r>
              <a:rPr lang="en-US" sz="1200" dirty="0">
                <a:solidFill>
                  <a:srgbClr val="7A6A64"/>
                </a:solidFill>
                <a:latin typeface="Calibri" pitchFamily="34" charset="0"/>
                <a:ea typeface="Calibri" pitchFamily="34" charset="-122"/>
                <a:cs typeface="Calibri" pitchFamily="34" charset="-120"/>
              </a:rPr>
              <a:t>Invite them to name the meaning that got triggered in them, and name the one that got triggered in you.</a:t>
            </a:r>
            <a:endParaRPr lang="en-US" sz="1200" dirty="0"/>
          </a:p>
        </p:txBody>
      </p:sp>
      <p:sp>
        <p:nvSpPr>
          <p:cNvPr id="19" name="Shape 17"/>
          <p:cNvSpPr/>
          <p:nvPr/>
        </p:nvSpPr>
        <p:spPr>
          <a:xfrm>
            <a:off x="640080" y="4151376"/>
            <a:ext cx="10881360" cy="786384"/>
          </a:xfrm>
          <a:prstGeom prst="roundRect">
            <a:avLst>
              <a:gd name="adj" fmla="val 9302"/>
            </a:avLst>
          </a:prstGeom>
          <a:solidFill>
            <a:srgbClr val="FFFFFF"/>
          </a:solidFill>
          <a:ln/>
          <a:effectLst>
            <a:outerShdw sx="100000" sy="100000" kx="0" ky="0" algn="bl" rotWithShape="0" blurRad="101600" dist="25400" dir="5400000">
              <a:srgbClr val="6D2E46">
                <a:alpha val="10000"/>
              </a:srgbClr>
            </a:outerShdw>
          </a:effectLst>
        </p:spPr>
      </p:sp>
      <p:sp>
        <p:nvSpPr>
          <p:cNvPr id="20" name="Shape 18"/>
          <p:cNvSpPr/>
          <p:nvPr/>
        </p:nvSpPr>
        <p:spPr>
          <a:xfrm>
            <a:off x="914400" y="4343400"/>
            <a:ext cx="402336" cy="402336"/>
          </a:xfrm>
          <a:prstGeom prst="ellipse">
            <a:avLst/>
          </a:prstGeom>
          <a:solidFill>
            <a:srgbClr val="6D2E46"/>
          </a:solidFill>
          <a:ln/>
        </p:spPr>
      </p:sp>
      <p:sp>
        <p:nvSpPr>
          <p:cNvPr id="21" name="Text 19"/>
          <p:cNvSpPr/>
          <p:nvPr/>
        </p:nvSpPr>
        <p:spPr>
          <a:xfrm>
            <a:off x="914400" y="434340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1508760" y="4270248"/>
            <a:ext cx="3017520" cy="292608"/>
          </a:xfrm>
          <a:prstGeom prst="rect">
            <a:avLst/>
          </a:prstGeom>
          <a:noFill/>
          <a:ln/>
        </p:spPr>
        <p:txBody>
          <a:bodyPr wrap="square" lIns="0" tIns="0" rIns="0" bIns="0" rtlCol="0" anchor="ctr"/>
          <a:lstStyle/>
          <a:p>
            <a:pPr indent="0" marL="0">
              <a:buNone/>
            </a:pPr>
            <a:r>
              <a:rPr lang="en-US" sz="1400" b="1" dirty="0">
                <a:solidFill>
                  <a:srgbClr val="6D2E46"/>
                </a:solidFill>
                <a:latin typeface="Calibri" pitchFamily="34" charset="0"/>
                <a:ea typeface="Calibri" pitchFamily="34" charset="-122"/>
                <a:cs typeface="Calibri" pitchFamily="34" charset="-120"/>
              </a:rPr>
              <a:t>Express what you need</a:t>
            </a:r>
            <a:endParaRPr lang="en-US" sz="1400" dirty="0"/>
          </a:p>
        </p:txBody>
      </p:sp>
      <p:sp>
        <p:nvSpPr>
          <p:cNvPr id="23" name="Text 21"/>
          <p:cNvSpPr/>
          <p:nvPr/>
        </p:nvSpPr>
        <p:spPr>
          <a:xfrm>
            <a:off x="1508760" y="4553712"/>
            <a:ext cx="9601200" cy="310896"/>
          </a:xfrm>
          <a:prstGeom prst="rect">
            <a:avLst/>
          </a:prstGeom>
          <a:noFill/>
          <a:ln/>
        </p:spPr>
        <p:txBody>
          <a:bodyPr wrap="square" lIns="0" tIns="0" rIns="0" bIns="0" rtlCol="0" anchor="ctr"/>
          <a:lstStyle/>
          <a:p>
            <a:pPr indent="0" marL="0">
              <a:buNone/>
            </a:pPr>
            <a:r>
              <a:rPr lang="en-US" sz="1200" dirty="0">
                <a:solidFill>
                  <a:srgbClr val="7A6A64"/>
                </a:solidFill>
                <a:latin typeface="Calibri" pitchFamily="34" charset="0"/>
                <a:ea typeface="Calibri" pitchFamily="34" charset="-122"/>
                <a:cs typeface="Calibri" pitchFamily="34" charset="-120"/>
              </a:rPr>
              <a:t>Ask yourself “what am I needing?” — then say specifically how you want to be treated in future.</a:t>
            </a:r>
            <a:endParaRPr lang="en-US" sz="1200" dirty="0"/>
          </a:p>
        </p:txBody>
      </p:sp>
      <p:sp>
        <p:nvSpPr>
          <p:cNvPr id="24" name="Shape 22"/>
          <p:cNvSpPr/>
          <p:nvPr/>
        </p:nvSpPr>
        <p:spPr>
          <a:xfrm>
            <a:off x="640080" y="5047488"/>
            <a:ext cx="10881360" cy="786384"/>
          </a:xfrm>
          <a:prstGeom prst="roundRect">
            <a:avLst>
              <a:gd name="adj" fmla="val 9302"/>
            </a:avLst>
          </a:prstGeom>
          <a:solidFill>
            <a:srgbClr val="FFFFFF"/>
          </a:solidFill>
          <a:ln/>
          <a:effectLst>
            <a:outerShdw sx="100000" sy="100000" kx="0" ky="0" algn="bl" rotWithShape="0" blurRad="101600" dist="25400" dir="5400000">
              <a:srgbClr val="6D2E46">
                <a:alpha val="10000"/>
              </a:srgbClr>
            </a:outerShdw>
          </a:effectLst>
        </p:spPr>
      </p:sp>
      <p:sp>
        <p:nvSpPr>
          <p:cNvPr id="25" name="Shape 23"/>
          <p:cNvSpPr/>
          <p:nvPr/>
        </p:nvSpPr>
        <p:spPr>
          <a:xfrm>
            <a:off x="914400" y="5239512"/>
            <a:ext cx="402336" cy="402336"/>
          </a:xfrm>
          <a:prstGeom prst="ellipse">
            <a:avLst/>
          </a:prstGeom>
          <a:solidFill>
            <a:srgbClr val="6D2E46"/>
          </a:solidFill>
          <a:ln/>
        </p:spPr>
      </p:sp>
      <p:sp>
        <p:nvSpPr>
          <p:cNvPr id="26" name="Text 24"/>
          <p:cNvSpPr/>
          <p:nvPr/>
        </p:nvSpPr>
        <p:spPr>
          <a:xfrm>
            <a:off x="914400" y="523951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1508760" y="5166360"/>
            <a:ext cx="3017520" cy="292608"/>
          </a:xfrm>
          <a:prstGeom prst="rect">
            <a:avLst/>
          </a:prstGeom>
          <a:noFill/>
          <a:ln/>
        </p:spPr>
        <p:txBody>
          <a:bodyPr wrap="square" lIns="0" tIns="0" rIns="0" bIns="0" rtlCol="0" anchor="ctr"/>
          <a:lstStyle/>
          <a:p>
            <a:pPr indent="0" marL="0">
              <a:buNone/>
            </a:pPr>
            <a:r>
              <a:rPr lang="en-US" sz="1400" b="1" dirty="0">
                <a:solidFill>
                  <a:srgbClr val="6D2E46"/>
                </a:solidFill>
                <a:latin typeface="Calibri" pitchFamily="34" charset="0"/>
                <a:ea typeface="Calibri" pitchFamily="34" charset="-122"/>
                <a:cs typeface="Calibri" pitchFamily="34" charset="-120"/>
              </a:rPr>
              <a:t>Ask for apology + commitment</a:t>
            </a:r>
            <a:endParaRPr lang="en-US" sz="1400" dirty="0"/>
          </a:p>
        </p:txBody>
      </p:sp>
      <p:sp>
        <p:nvSpPr>
          <p:cNvPr id="28" name="Text 26"/>
          <p:cNvSpPr/>
          <p:nvPr/>
        </p:nvSpPr>
        <p:spPr>
          <a:xfrm>
            <a:off x="1508760" y="5449824"/>
            <a:ext cx="9601200" cy="310896"/>
          </a:xfrm>
          <a:prstGeom prst="rect">
            <a:avLst/>
          </a:prstGeom>
          <a:noFill/>
          <a:ln/>
        </p:spPr>
        <p:txBody>
          <a:bodyPr wrap="square" lIns="0" tIns="0" rIns="0" bIns="0" rtlCol="0" anchor="ctr"/>
          <a:lstStyle/>
          <a:p>
            <a:pPr indent="0" marL="0">
              <a:buNone/>
            </a:pPr>
            <a:r>
              <a:rPr lang="en-US" sz="1200" dirty="0">
                <a:solidFill>
                  <a:srgbClr val="7A6A64"/>
                </a:solidFill>
                <a:latin typeface="Calibri" pitchFamily="34" charset="0"/>
                <a:ea typeface="Calibri" pitchFamily="34" charset="-122"/>
                <a:cs typeface="Calibri" pitchFamily="34" charset="-120"/>
              </a:rPr>
              <a:t>They apologise, state their real intent, and commit to the treatment you named.</a:t>
            </a:r>
            <a:endParaRPr lang="en-US" sz="1200" dirty="0"/>
          </a:p>
        </p:txBody>
      </p:sp>
      <p:sp>
        <p:nvSpPr>
          <p:cNvPr id="29" name="Text 27"/>
          <p:cNvSpPr/>
          <p:nvPr/>
        </p:nvSpPr>
        <p:spPr>
          <a:xfrm>
            <a:off x="640080" y="6291072"/>
            <a:ext cx="10881360" cy="292608"/>
          </a:xfrm>
          <a:prstGeom prst="rect">
            <a:avLst/>
          </a:prstGeom>
          <a:noFill/>
          <a:ln/>
        </p:spPr>
        <p:txBody>
          <a:bodyPr wrap="square" lIns="0" tIns="0" rIns="0" bIns="0" rtlCol="0" anchor="ctr"/>
          <a:lstStyle/>
          <a:p>
            <a:pPr indent="0" marL="0">
              <a:buNone/>
            </a:pPr>
            <a:r>
              <a:rPr lang="en-US" sz="1000" i="1" dirty="0">
                <a:solidFill>
                  <a:srgbClr val="7A6A64"/>
                </a:solidFill>
                <a:latin typeface="Calibri" pitchFamily="34" charset="0"/>
                <a:ea typeface="Calibri" pitchFamily="34" charset="-122"/>
                <a:cs typeface="Calibri" pitchFamily="34" charset="-120"/>
              </a:rPr>
              <a:t>Source: “Session 3 (John Gottman detailed version)”, slides titled “Compassionate Communication through recognising meaning”.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1E8"/>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100" b="1" spc="200" kern="0" dirty="0">
                <a:solidFill>
                  <a:srgbClr val="A26769"/>
                </a:solidFill>
                <a:latin typeface="Calibri" pitchFamily="34" charset="0"/>
                <a:ea typeface="Calibri" pitchFamily="34" charset="-122"/>
                <a:cs typeface="Calibri" pitchFamily="34" charset="-120"/>
              </a:rPr>
              <a:t>MODEL 01 · THE ACTUAL WORDS</a:t>
            </a:r>
            <a:endParaRPr lang="en-US" sz="1100" dirty="0"/>
          </a:p>
        </p:txBody>
      </p:sp>
      <p:sp>
        <p:nvSpPr>
          <p:cNvPr id="3" name="Text 1"/>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The scripted language</a:t>
            </a:r>
            <a:endParaRPr lang="en-US" sz="3400" dirty="0"/>
          </a:p>
        </p:txBody>
      </p:sp>
      <p:sp>
        <p:nvSpPr>
          <p:cNvPr id="4" name="Shape 2"/>
          <p:cNvSpPr/>
          <p:nvPr/>
        </p:nvSpPr>
        <p:spPr>
          <a:xfrm>
            <a:off x="640080" y="1417320"/>
            <a:ext cx="10881360" cy="1481328"/>
          </a:xfrm>
          <a:prstGeom prst="roundRect">
            <a:avLst>
              <a:gd name="adj" fmla="val 4938"/>
            </a:avLst>
          </a:prstGeom>
          <a:solidFill>
            <a:srgbClr val="FFFFFF"/>
          </a:solidFill>
          <a:ln/>
          <a:effectLst>
            <a:outerShdw sx="100000" sy="100000" kx="0" ky="0" algn="bl" rotWithShape="0" blurRad="101600" dist="25400" dir="5400000">
              <a:srgbClr val="6D2E46">
                <a:alpha val="10000"/>
              </a:srgbClr>
            </a:outerShdw>
          </a:effectLst>
        </p:spPr>
      </p:sp>
      <p:sp>
        <p:nvSpPr>
          <p:cNvPr id="5" name="Text 3"/>
          <p:cNvSpPr/>
          <p:nvPr/>
        </p:nvSpPr>
        <p:spPr>
          <a:xfrm>
            <a:off x="1005840" y="1572768"/>
            <a:ext cx="4114800" cy="274320"/>
          </a:xfrm>
          <a:prstGeom prst="rect">
            <a:avLst/>
          </a:prstGeom>
          <a:noFill/>
          <a:ln/>
        </p:spPr>
        <p:txBody>
          <a:bodyPr wrap="square" lIns="0" tIns="0" rIns="0" bIns="0" rtlCol="0" anchor="ctr"/>
          <a:lstStyle/>
          <a:p>
            <a:pPr indent="0" marL="0">
              <a:buNone/>
            </a:pPr>
            <a:r>
              <a:rPr lang="en-US" sz="1200" b="1" spc="100" kern="0" dirty="0">
                <a:solidFill>
                  <a:srgbClr val="A26769"/>
                </a:solidFill>
                <a:latin typeface="Calibri" pitchFamily="34" charset="0"/>
                <a:ea typeface="Calibri" pitchFamily="34" charset="-122"/>
                <a:cs typeface="Calibri" pitchFamily="34" charset="-120"/>
              </a:rPr>
              <a:t>Step 1 — Preframe</a:t>
            </a:r>
            <a:endParaRPr lang="en-US" sz="1200" dirty="0"/>
          </a:p>
        </p:txBody>
      </p:sp>
      <p:sp>
        <p:nvSpPr>
          <p:cNvPr id="6" name="Text 4"/>
          <p:cNvSpPr/>
          <p:nvPr/>
        </p:nvSpPr>
        <p:spPr>
          <a:xfrm>
            <a:off x="1005840" y="1874520"/>
            <a:ext cx="10149840" cy="914400"/>
          </a:xfrm>
          <a:prstGeom prst="rect">
            <a:avLst/>
          </a:prstGeom>
          <a:noFill/>
          <a:ln/>
        </p:spPr>
        <p:txBody>
          <a:bodyPr wrap="square" lIns="0" tIns="0" rIns="0" bIns="0" rtlCol="0" anchor="ctr"/>
          <a:lstStyle/>
          <a:p>
            <a:pPr indent="0" marL="0">
              <a:lnSpc>
                <a:spcPts val="1800"/>
              </a:lnSpc>
              <a:buNone/>
            </a:pPr>
            <a:r>
              <a:rPr lang="en-US" sz="1250" i="1" dirty="0">
                <a:solidFill>
                  <a:srgbClr val="2B2320"/>
                </a:solidFill>
                <a:latin typeface="Calibri" pitchFamily="34" charset="0"/>
                <a:ea typeface="Calibri" pitchFamily="34" charset="-122"/>
                <a:cs typeface="Calibri" pitchFamily="34" charset="-120"/>
              </a:rPr>
              <a:t>“There’s something I have been carrying and I really want to let it go with you. Do you mind we make a rule for this convo that we will stay in our hearts, that we aren’t going to be defensive with each other, that we will be totally self honest, and we are genuinely going to try to understand one another and approach as team — because I want to be a team with you and let this go.”</a:t>
            </a:r>
            <a:endParaRPr lang="en-US" sz="1250" dirty="0"/>
          </a:p>
        </p:txBody>
      </p:sp>
      <p:sp>
        <p:nvSpPr>
          <p:cNvPr id="7" name="Shape 5"/>
          <p:cNvSpPr/>
          <p:nvPr/>
        </p:nvSpPr>
        <p:spPr>
          <a:xfrm>
            <a:off x="640080" y="3044952"/>
            <a:ext cx="10881360" cy="1481328"/>
          </a:xfrm>
          <a:prstGeom prst="roundRect">
            <a:avLst>
              <a:gd name="adj" fmla="val 4938"/>
            </a:avLst>
          </a:prstGeom>
          <a:solidFill>
            <a:srgbClr val="FFFFFF"/>
          </a:solidFill>
          <a:ln/>
          <a:effectLst>
            <a:outerShdw sx="100000" sy="100000" kx="0" ky="0" algn="bl" rotWithShape="0" blurRad="101600" dist="25400" dir="5400000">
              <a:srgbClr val="6D2E46">
                <a:alpha val="10000"/>
              </a:srgbClr>
            </a:outerShdw>
          </a:effectLst>
        </p:spPr>
      </p:sp>
      <p:sp>
        <p:nvSpPr>
          <p:cNvPr id="8" name="Text 6"/>
          <p:cNvSpPr/>
          <p:nvPr/>
        </p:nvSpPr>
        <p:spPr>
          <a:xfrm>
            <a:off x="1005840" y="3200400"/>
            <a:ext cx="4114800" cy="274320"/>
          </a:xfrm>
          <a:prstGeom prst="rect">
            <a:avLst/>
          </a:prstGeom>
          <a:noFill/>
          <a:ln/>
        </p:spPr>
        <p:txBody>
          <a:bodyPr wrap="square" lIns="0" tIns="0" rIns="0" bIns="0" rtlCol="0" anchor="ctr"/>
          <a:lstStyle/>
          <a:p>
            <a:pPr indent="0" marL="0">
              <a:buNone/>
            </a:pPr>
            <a:r>
              <a:rPr lang="en-US" sz="1200" b="1" spc="100" kern="0" dirty="0">
                <a:solidFill>
                  <a:srgbClr val="A26769"/>
                </a:solidFill>
                <a:latin typeface="Calibri" pitchFamily="34" charset="0"/>
                <a:ea typeface="Calibri" pitchFamily="34" charset="-122"/>
                <a:cs typeface="Calibri" pitchFamily="34" charset="-120"/>
              </a:rPr>
              <a:t>Step 3 — Owning meaning</a:t>
            </a:r>
            <a:endParaRPr lang="en-US" sz="1200" dirty="0"/>
          </a:p>
        </p:txBody>
      </p:sp>
      <p:sp>
        <p:nvSpPr>
          <p:cNvPr id="9" name="Text 7"/>
          <p:cNvSpPr/>
          <p:nvPr/>
        </p:nvSpPr>
        <p:spPr>
          <a:xfrm>
            <a:off x="1005840" y="3502152"/>
            <a:ext cx="10149840" cy="914400"/>
          </a:xfrm>
          <a:prstGeom prst="rect">
            <a:avLst/>
          </a:prstGeom>
          <a:noFill/>
          <a:ln/>
        </p:spPr>
        <p:txBody>
          <a:bodyPr wrap="square" lIns="0" tIns="0" rIns="0" bIns="0" rtlCol="0" anchor="ctr"/>
          <a:lstStyle/>
          <a:p>
            <a:pPr indent="0" marL="0">
              <a:lnSpc>
                <a:spcPts val="1800"/>
              </a:lnSpc>
              <a:buNone/>
            </a:pPr>
            <a:r>
              <a:rPr lang="en-US" sz="1250" i="1" dirty="0">
                <a:solidFill>
                  <a:srgbClr val="2B2320"/>
                </a:solidFill>
                <a:latin typeface="Calibri" pitchFamily="34" charset="0"/>
                <a:ea typeface="Calibri" pitchFamily="34" charset="-122"/>
                <a:cs typeface="Calibri" pitchFamily="34" charset="-120"/>
              </a:rPr>
              <a:t>“Do you mind if we explore what the meaning was that got triggered that caused you to say / do that… because I’m sure it wasn’t your intention for me to feel this way.”  →  “The meaning that got triggered in me that caused me to say / do that was…”</a:t>
            </a:r>
            <a:endParaRPr lang="en-US" sz="1250" dirty="0"/>
          </a:p>
        </p:txBody>
      </p:sp>
      <p:sp>
        <p:nvSpPr>
          <p:cNvPr id="10" name="Shape 8"/>
          <p:cNvSpPr/>
          <p:nvPr/>
        </p:nvSpPr>
        <p:spPr>
          <a:xfrm>
            <a:off x="640080" y="4672584"/>
            <a:ext cx="10881360" cy="1481328"/>
          </a:xfrm>
          <a:prstGeom prst="roundRect">
            <a:avLst>
              <a:gd name="adj" fmla="val 4938"/>
            </a:avLst>
          </a:prstGeom>
          <a:solidFill>
            <a:srgbClr val="FFFFFF"/>
          </a:solidFill>
          <a:ln/>
          <a:effectLst>
            <a:outerShdw sx="100000" sy="100000" kx="0" ky="0" algn="bl" rotWithShape="0" blurRad="101600" dist="25400" dir="5400000">
              <a:srgbClr val="6D2E46">
                <a:alpha val="10000"/>
              </a:srgbClr>
            </a:outerShdw>
          </a:effectLst>
        </p:spPr>
      </p:sp>
      <p:sp>
        <p:nvSpPr>
          <p:cNvPr id="11" name="Text 9"/>
          <p:cNvSpPr/>
          <p:nvPr/>
        </p:nvSpPr>
        <p:spPr>
          <a:xfrm>
            <a:off x="1005840" y="4828032"/>
            <a:ext cx="4114800" cy="274320"/>
          </a:xfrm>
          <a:prstGeom prst="rect">
            <a:avLst/>
          </a:prstGeom>
          <a:noFill/>
          <a:ln/>
        </p:spPr>
        <p:txBody>
          <a:bodyPr wrap="square" lIns="0" tIns="0" rIns="0" bIns="0" rtlCol="0" anchor="ctr"/>
          <a:lstStyle/>
          <a:p>
            <a:pPr indent="0" marL="0">
              <a:buNone/>
            </a:pPr>
            <a:r>
              <a:rPr lang="en-US" sz="1200" b="1" spc="100" kern="0" dirty="0">
                <a:solidFill>
                  <a:srgbClr val="A26769"/>
                </a:solidFill>
                <a:latin typeface="Calibri" pitchFamily="34" charset="0"/>
                <a:ea typeface="Calibri" pitchFamily="34" charset="-122"/>
                <a:cs typeface="Calibri" pitchFamily="34" charset="-120"/>
              </a:rPr>
              <a:t>Step 5 — The repair</a:t>
            </a:r>
            <a:endParaRPr lang="en-US" sz="1200" dirty="0"/>
          </a:p>
        </p:txBody>
      </p:sp>
      <p:sp>
        <p:nvSpPr>
          <p:cNvPr id="12" name="Text 10"/>
          <p:cNvSpPr/>
          <p:nvPr/>
        </p:nvSpPr>
        <p:spPr>
          <a:xfrm>
            <a:off x="1005840" y="5129784"/>
            <a:ext cx="10149840" cy="914400"/>
          </a:xfrm>
          <a:prstGeom prst="rect">
            <a:avLst/>
          </a:prstGeom>
          <a:noFill/>
          <a:ln/>
        </p:spPr>
        <p:txBody>
          <a:bodyPr wrap="square" lIns="0" tIns="0" rIns="0" bIns="0" rtlCol="0" anchor="ctr"/>
          <a:lstStyle/>
          <a:p>
            <a:pPr indent="0" marL="0">
              <a:lnSpc>
                <a:spcPts val="1800"/>
              </a:lnSpc>
              <a:buNone/>
            </a:pPr>
            <a:r>
              <a:rPr lang="en-US" sz="1250" i="1" dirty="0">
                <a:solidFill>
                  <a:srgbClr val="2B2320"/>
                </a:solidFill>
                <a:latin typeface="Calibri" pitchFamily="34" charset="0"/>
                <a:ea typeface="Calibri" pitchFamily="34" charset="-122"/>
                <a:cs typeface="Calibri" pitchFamily="34" charset="-120"/>
              </a:rPr>
              <a:t>“The meaning that got triggered in me that caused me to act this way was ___. My intention was ___. Obviously that didn’t work and that’s not okay. I am so sorry for creating this feeling in you. The true meaning I want you to know from me is ___. Going forward I will be ___.”</a:t>
            </a:r>
            <a:endParaRPr lang="en-US" sz="1250" dirty="0"/>
          </a:p>
        </p:txBody>
      </p:sp>
      <p:sp>
        <p:nvSpPr>
          <p:cNvPr id="13" name="Text 11"/>
          <p:cNvSpPr/>
          <p:nvPr/>
        </p:nvSpPr>
        <p:spPr>
          <a:xfrm>
            <a:off x="640080" y="6291072"/>
            <a:ext cx="10881360" cy="292608"/>
          </a:xfrm>
          <a:prstGeom prst="rect">
            <a:avLst/>
          </a:prstGeom>
          <a:noFill/>
          <a:ln/>
        </p:spPr>
        <p:txBody>
          <a:bodyPr wrap="square" lIns="0" tIns="0" rIns="0" bIns="0" rtlCol="0" anchor="ctr"/>
          <a:lstStyle/>
          <a:p>
            <a:pPr indent="0" marL="0">
              <a:buNone/>
            </a:pPr>
            <a:r>
              <a:rPr lang="en-US" sz="1000" i="1" dirty="0">
                <a:solidFill>
                  <a:srgbClr val="7A6A64"/>
                </a:solidFill>
                <a:latin typeface="Calibri" pitchFamily="34" charset="0"/>
                <a:ea typeface="Calibri" pitchFamily="34" charset="-122"/>
                <a:cs typeface="Calibri" pitchFamily="34" charset="-120"/>
              </a:rPr>
              <a:t>Quoted verbatim from the slide deck.</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1E8"/>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100" b="1" spc="200" kern="0" dirty="0">
                <a:solidFill>
                  <a:srgbClr val="A26769"/>
                </a:solidFill>
                <a:latin typeface="Calibri" pitchFamily="34" charset="0"/>
                <a:ea typeface="Calibri" pitchFamily="34" charset="-122"/>
                <a:cs typeface="Calibri" pitchFamily="34" charset="-120"/>
              </a:rPr>
              <a:t>MODEL 02</a:t>
            </a:r>
            <a:endParaRPr lang="en-US" sz="1100" dirty="0"/>
          </a:p>
        </p:txBody>
      </p:sp>
      <p:sp>
        <p:nvSpPr>
          <p:cNvPr id="3" name="Text 1"/>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Conflict Resolution Rules — and The Mantra</a:t>
            </a:r>
            <a:endParaRPr lang="en-US" sz="3400" dirty="0"/>
          </a:p>
        </p:txBody>
      </p:sp>
      <p:sp>
        <p:nvSpPr>
          <p:cNvPr id="4" name="Shape 2"/>
          <p:cNvSpPr/>
          <p:nvPr/>
        </p:nvSpPr>
        <p:spPr>
          <a:xfrm>
            <a:off x="640080" y="1463040"/>
            <a:ext cx="6035040" cy="3977640"/>
          </a:xfrm>
          <a:prstGeom prst="roundRect">
            <a:avLst>
              <a:gd name="adj" fmla="val 2299"/>
            </a:avLst>
          </a:prstGeom>
          <a:solidFill>
            <a:srgbClr val="FFFFFF"/>
          </a:solidFill>
          <a:ln/>
          <a:effectLst>
            <a:outerShdw sx="100000" sy="100000" kx="0" ky="0" algn="bl" rotWithShape="0" blurRad="101600" dist="25400" dir="5400000">
              <a:srgbClr val="6D2E46">
                <a:alpha val="10000"/>
              </a:srgbClr>
            </a:outerShdw>
          </a:effectLst>
        </p:spPr>
      </p:sp>
      <p:sp>
        <p:nvSpPr>
          <p:cNvPr id="5" name="Text 3"/>
          <p:cNvSpPr/>
          <p:nvPr/>
        </p:nvSpPr>
        <p:spPr>
          <a:xfrm>
            <a:off x="1005840" y="1691640"/>
            <a:ext cx="5303520" cy="320040"/>
          </a:xfrm>
          <a:prstGeom prst="rect">
            <a:avLst/>
          </a:prstGeom>
          <a:noFill/>
          <a:ln/>
        </p:spPr>
        <p:txBody>
          <a:bodyPr wrap="square" lIns="0" tIns="0" rIns="0" bIns="0" rtlCol="0" anchor="ctr"/>
          <a:lstStyle/>
          <a:p>
            <a:pPr indent="0" marL="0">
              <a:buNone/>
            </a:pPr>
            <a:r>
              <a:rPr lang="en-US" sz="1500" b="1" dirty="0">
                <a:solidFill>
                  <a:srgbClr val="6D2E46"/>
                </a:solidFill>
                <a:latin typeface="Calibri" pitchFamily="34" charset="0"/>
                <a:ea typeface="Calibri" pitchFamily="34" charset="-122"/>
                <a:cs typeface="Calibri" pitchFamily="34" charset="-120"/>
              </a:rPr>
              <a:t>The rules, before anyone speaks</a:t>
            </a:r>
            <a:endParaRPr lang="en-US" sz="1500" dirty="0"/>
          </a:p>
        </p:txBody>
      </p:sp>
      <p:sp>
        <p:nvSpPr>
          <p:cNvPr id="6" name="Text 4"/>
          <p:cNvSpPr/>
          <p:nvPr/>
        </p:nvSpPr>
        <p:spPr>
          <a:xfrm>
            <a:off x="1005840" y="2148840"/>
            <a:ext cx="5303520" cy="3017520"/>
          </a:xfrm>
          <a:prstGeom prst="rect">
            <a:avLst/>
          </a:prstGeom>
          <a:noFill/>
          <a:ln/>
        </p:spPr>
        <p:txBody>
          <a:bodyPr wrap="square" lIns="0" tIns="0" rIns="0" bIns="0" rtlCol="0" anchor="ctr"/>
          <a:lstStyle/>
          <a:p>
            <a:pPr marL="342900" indent="-342900">
              <a:lnSpc>
                <a:spcPts val="1900"/>
              </a:lnSpc>
              <a:spcAft>
                <a:spcPts val="1200"/>
              </a:spcAft>
              <a:buSzPct val="100000"/>
              <a:buChar char="•"/>
            </a:pPr>
            <a:r>
              <a:rPr lang="en-US" sz="1350" dirty="0">
                <a:solidFill>
                  <a:srgbClr val="2B2320"/>
                </a:solidFill>
                <a:latin typeface="Calibri" pitchFamily="34" charset="0"/>
                <a:ea typeface="Calibri" pitchFamily="34" charset="-122"/>
                <a:cs typeface="Calibri" pitchFamily="34" charset="-120"/>
              </a:rPr>
              <a:t>Approach the problem as a team.</a:t>
            </a:r>
            <a:endParaRPr lang="en-US" sz="1350" dirty="0"/>
          </a:p>
          <a:p>
            <a:pPr marL="342900" indent="-342900">
              <a:lnSpc>
                <a:spcPts val="1900"/>
              </a:lnSpc>
              <a:spcAft>
                <a:spcPts val="1200"/>
              </a:spcAft>
              <a:buSzPct val="100000"/>
              <a:buChar char="•"/>
            </a:pPr>
            <a:r>
              <a:rPr lang="en-US" sz="1350" dirty="0">
                <a:solidFill>
                  <a:srgbClr val="2B2320"/>
                </a:solidFill>
                <a:latin typeface="Calibri" pitchFamily="34" charset="0"/>
                <a:ea typeface="Calibri" pitchFamily="34" charset="-122"/>
                <a:cs typeface="Calibri" pitchFamily="34" charset="-120"/>
              </a:rPr>
              <a:t>All resolution stays in the heart — not allowed to go to the head.</a:t>
            </a:r>
            <a:endParaRPr lang="en-US" sz="1350" dirty="0"/>
          </a:p>
          <a:p>
            <a:pPr marL="342900" indent="-342900">
              <a:lnSpc>
                <a:spcPts val="1900"/>
              </a:lnSpc>
              <a:spcAft>
                <a:spcPts val="1200"/>
              </a:spcAft>
              <a:buSzPct val="100000"/>
              <a:buChar char="•"/>
            </a:pPr>
            <a:r>
              <a:rPr lang="en-US" sz="1350" dirty="0">
                <a:solidFill>
                  <a:srgbClr val="2B2320"/>
                </a:solidFill>
                <a:latin typeface="Calibri" pitchFamily="34" charset="0"/>
                <a:ea typeface="Calibri" pitchFamily="34" charset="-122"/>
                <a:cs typeface="Calibri" pitchFamily="34" charset="-120"/>
              </a:rPr>
              <a:t>No blame. No defensiveness. No emotional shutdown. No justification.</a:t>
            </a:r>
            <a:endParaRPr lang="en-US" sz="1350" dirty="0"/>
          </a:p>
          <a:p>
            <a:pPr marL="342900" indent="-342900">
              <a:lnSpc>
                <a:spcPts val="1900"/>
              </a:lnSpc>
              <a:spcAft>
                <a:spcPts val="1200"/>
              </a:spcAft>
              <a:buSzPct val="100000"/>
              <a:buChar char="•"/>
            </a:pPr>
            <a:r>
              <a:rPr lang="en-US" sz="1350" dirty="0">
                <a:solidFill>
                  <a:srgbClr val="2B2320"/>
                </a:solidFill>
                <a:latin typeface="Calibri" pitchFamily="34" charset="0"/>
                <a:ea typeface="Calibri" pitchFamily="34" charset="-122"/>
                <a:cs typeface="Calibri" pitchFamily="34" charset="-120"/>
              </a:rPr>
              <a:t>“Yeah but” is banned. “But” is banned.</a:t>
            </a:r>
            <a:endParaRPr lang="en-US" sz="1350" dirty="0"/>
          </a:p>
          <a:p>
            <a:pPr marL="342900" indent="-342900">
              <a:lnSpc>
                <a:spcPts val="1900"/>
              </a:lnSpc>
              <a:spcAft>
                <a:spcPts val="1200"/>
              </a:spcAft>
              <a:buSzPct val="100000"/>
              <a:buChar char="•"/>
            </a:pPr>
            <a:r>
              <a:rPr lang="en-US" sz="1350" dirty="0">
                <a:solidFill>
                  <a:srgbClr val="2B2320"/>
                </a:solidFill>
                <a:latin typeface="Calibri" pitchFamily="34" charset="0"/>
                <a:ea typeface="Calibri" pitchFamily="34" charset="-122"/>
                <a:cs typeface="Calibri" pitchFamily="34" charset="-120"/>
              </a:rPr>
              <a:t>Never threaten the relationship.</a:t>
            </a:r>
            <a:endParaRPr lang="en-US" sz="1350" dirty="0"/>
          </a:p>
        </p:txBody>
      </p:sp>
      <p:sp>
        <p:nvSpPr>
          <p:cNvPr id="7" name="Shape 5"/>
          <p:cNvSpPr/>
          <p:nvPr/>
        </p:nvSpPr>
        <p:spPr>
          <a:xfrm>
            <a:off x="7040880" y="1463040"/>
            <a:ext cx="4480560" cy="3977640"/>
          </a:xfrm>
          <a:prstGeom prst="roundRect">
            <a:avLst>
              <a:gd name="adj" fmla="val 2299"/>
            </a:avLst>
          </a:prstGeom>
          <a:solidFill>
            <a:srgbClr val="6D2E46"/>
          </a:solidFill>
          <a:ln/>
        </p:spPr>
      </p:sp>
      <p:sp>
        <p:nvSpPr>
          <p:cNvPr id="8" name="Text 6"/>
          <p:cNvSpPr/>
          <p:nvPr/>
        </p:nvSpPr>
        <p:spPr>
          <a:xfrm>
            <a:off x="7406640" y="1737360"/>
            <a:ext cx="3931920" cy="292608"/>
          </a:xfrm>
          <a:prstGeom prst="rect">
            <a:avLst/>
          </a:prstGeom>
          <a:noFill/>
          <a:ln/>
        </p:spPr>
        <p:txBody>
          <a:bodyPr wrap="square" lIns="0" tIns="0" rIns="0" bIns="0" rtlCol="0" anchor="ctr"/>
          <a:lstStyle/>
          <a:p>
            <a:pPr indent="0" marL="0">
              <a:buNone/>
            </a:pPr>
            <a:r>
              <a:rPr lang="en-US" sz="1200" b="1" spc="200" kern="0" dirty="0">
                <a:solidFill>
                  <a:srgbClr val="C08A3E"/>
                </a:solidFill>
                <a:latin typeface="Calibri" pitchFamily="34" charset="0"/>
                <a:ea typeface="Calibri" pitchFamily="34" charset="-122"/>
                <a:cs typeface="Calibri" pitchFamily="34" charset="-120"/>
              </a:rPr>
              <a:t>THE MANTRA</a:t>
            </a:r>
            <a:endParaRPr lang="en-US" sz="1200" dirty="0"/>
          </a:p>
        </p:txBody>
      </p:sp>
      <p:sp>
        <p:nvSpPr>
          <p:cNvPr id="9" name="Text 7"/>
          <p:cNvSpPr/>
          <p:nvPr/>
        </p:nvSpPr>
        <p:spPr>
          <a:xfrm>
            <a:off x="7406640" y="2121408"/>
            <a:ext cx="3931920" cy="502920"/>
          </a:xfrm>
          <a:prstGeom prst="rect">
            <a:avLst/>
          </a:prstGeom>
          <a:noFill/>
          <a:ln/>
        </p:spPr>
        <p:txBody>
          <a:bodyPr wrap="square" lIns="0" tIns="0" rIns="0" bIns="0" rtlCol="0" anchor="ctr"/>
          <a:lstStyle/>
          <a:p>
            <a:pPr indent="0" marL="0">
              <a:lnSpc>
                <a:spcPts val="1900"/>
              </a:lnSpc>
              <a:buNone/>
            </a:pPr>
            <a:r>
              <a:rPr lang="en-US" sz="1300" dirty="0">
                <a:solidFill>
                  <a:srgbClr val="EBDADE"/>
                </a:solidFill>
                <a:latin typeface="Calibri" pitchFamily="34" charset="0"/>
                <a:ea typeface="Calibri" pitchFamily="34" charset="-122"/>
                <a:cs typeface="Calibri" pitchFamily="34" charset="-120"/>
              </a:rPr>
              <a:t>When you are upset with your partner, ask yourself:</a:t>
            </a:r>
            <a:endParaRPr lang="en-US" sz="1300" dirty="0"/>
          </a:p>
        </p:txBody>
      </p:sp>
      <p:sp>
        <p:nvSpPr>
          <p:cNvPr id="10" name="Text 8"/>
          <p:cNvSpPr/>
          <p:nvPr/>
        </p:nvSpPr>
        <p:spPr>
          <a:xfrm>
            <a:off x="7406640" y="2697480"/>
            <a:ext cx="3931920" cy="731520"/>
          </a:xfrm>
          <a:prstGeom prst="rect">
            <a:avLst/>
          </a:prstGeom>
          <a:noFill/>
          <a:ln/>
        </p:spPr>
        <p:txBody>
          <a:bodyPr wrap="square" lIns="0" tIns="0" rIns="0" bIns="0" rtlCol="0" anchor="ctr"/>
          <a:lstStyle/>
          <a:p>
            <a:pPr indent="0" marL="0">
              <a:lnSpc>
                <a:spcPts val="2400"/>
              </a:lnSpc>
              <a:buNone/>
            </a:pPr>
            <a:r>
              <a:rPr lang="en-US" sz="1800" b="1" dirty="0">
                <a:solidFill>
                  <a:srgbClr val="FFFFFF"/>
                </a:solidFill>
                <a:latin typeface="Cambria" pitchFamily="34" charset="0"/>
                <a:ea typeface="Cambria" pitchFamily="34" charset="-122"/>
                <a:cs typeface="Cambria" pitchFamily="34" charset="-120"/>
              </a:rPr>
              <a:t>What is the meaning</a:t>
            </a:r>
            <a:endParaRPr lang="en-US" sz="1800" dirty="0"/>
          </a:p>
          <a:p>
            <a:pPr indent="0" marL="0">
              <a:lnSpc>
                <a:spcPts val="2400"/>
              </a:lnSpc>
              <a:buNone/>
            </a:pPr>
            <a:r>
              <a:rPr lang="en-US" sz="1800" b="1" dirty="0">
                <a:solidFill>
                  <a:srgbClr val="FFFFFF"/>
                </a:solidFill>
                <a:latin typeface="Cambria" pitchFamily="34" charset="0"/>
                <a:ea typeface="Cambria" pitchFamily="34" charset="-122"/>
                <a:cs typeface="Cambria" pitchFamily="34" charset="-120"/>
              </a:rPr>
              <a:t>that got triggered?</a:t>
            </a:r>
            <a:endParaRPr lang="en-US" sz="1800" dirty="0"/>
          </a:p>
        </p:txBody>
      </p:sp>
      <p:sp>
        <p:nvSpPr>
          <p:cNvPr id="11" name="Text 9"/>
          <p:cNvSpPr/>
          <p:nvPr/>
        </p:nvSpPr>
        <p:spPr>
          <a:xfrm>
            <a:off x="7406640" y="3520440"/>
            <a:ext cx="3931920" cy="731520"/>
          </a:xfrm>
          <a:prstGeom prst="rect">
            <a:avLst/>
          </a:prstGeom>
          <a:noFill/>
          <a:ln/>
        </p:spPr>
        <p:txBody>
          <a:bodyPr wrap="square" lIns="0" tIns="0" rIns="0" bIns="0" rtlCol="0" anchor="ctr"/>
          <a:lstStyle/>
          <a:p>
            <a:pPr indent="0" marL="0">
              <a:lnSpc>
                <a:spcPts val="2400"/>
              </a:lnSpc>
              <a:buNone/>
            </a:pPr>
            <a:r>
              <a:rPr lang="en-US" sz="1800" b="1" dirty="0">
                <a:solidFill>
                  <a:srgbClr val="FFFFFF"/>
                </a:solidFill>
                <a:latin typeface="Cambria" pitchFamily="34" charset="0"/>
                <a:ea typeface="Cambria" pitchFamily="34" charset="-122"/>
                <a:cs typeface="Cambria" pitchFamily="34" charset="-120"/>
              </a:rPr>
              <a:t>What is the emotion</a:t>
            </a:r>
            <a:endParaRPr lang="en-US" sz="1800" dirty="0"/>
          </a:p>
          <a:p>
            <a:pPr indent="0" marL="0">
              <a:lnSpc>
                <a:spcPts val="2400"/>
              </a:lnSpc>
              <a:buNone/>
            </a:pPr>
            <a:r>
              <a:rPr lang="en-US" sz="1800" b="1" dirty="0">
                <a:solidFill>
                  <a:srgbClr val="FFFFFF"/>
                </a:solidFill>
                <a:latin typeface="Cambria" pitchFamily="34" charset="0"/>
                <a:ea typeface="Cambria" pitchFamily="34" charset="-122"/>
                <a:cs typeface="Cambria" pitchFamily="34" charset="-120"/>
              </a:rPr>
              <a:t>that meaning created?</a:t>
            </a:r>
            <a:endParaRPr lang="en-US" sz="1800" dirty="0"/>
          </a:p>
        </p:txBody>
      </p:sp>
      <p:sp>
        <p:nvSpPr>
          <p:cNvPr id="12" name="Text 10"/>
          <p:cNvSpPr/>
          <p:nvPr/>
        </p:nvSpPr>
        <p:spPr>
          <a:xfrm>
            <a:off x="7406640" y="4480560"/>
            <a:ext cx="3931920" cy="731520"/>
          </a:xfrm>
          <a:prstGeom prst="rect">
            <a:avLst/>
          </a:prstGeom>
          <a:noFill/>
          <a:ln/>
        </p:spPr>
        <p:txBody>
          <a:bodyPr wrap="square" lIns="0" tIns="0" rIns="0" bIns="0" rtlCol="0" anchor="ctr"/>
          <a:lstStyle/>
          <a:p>
            <a:pPr indent="0" marL="0">
              <a:lnSpc>
                <a:spcPts val="1800"/>
              </a:lnSpc>
              <a:buNone/>
            </a:pPr>
            <a:r>
              <a:rPr lang="en-US" sz="1250" i="1" dirty="0">
                <a:solidFill>
                  <a:srgbClr val="C08A3E"/>
                </a:solidFill>
                <a:latin typeface="Calibri" pitchFamily="34" charset="0"/>
                <a:ea typeface="Calibri" pitchFamily="34" charset="-122"/>
                <a:cs typeface="Calibri" pitchFamily="34" charset="-120"/>
              </a:rPr>
              <a:t>Then — and only then — run the Compassionate Communication Model.</a:t>
            </a:r>
            <a:endParaRPr lang="en-US" sz="1250" dirty="0"/>
          </a:p>
        </p:txBody>
      </p:sp>
      <p:sp>
        <p:nvSpPr>
          <p:cNvPr id="13" name="Text 11"/>
          <p:cNvSpPr/>
          <p:nvPr/>
        </p:nvSpPr>
        <p:spPr>
          <a:xfrm>
            <a:off x="640080" y="6291072"/>
            <a:ext cx="10881360" cy="292608"/>
          </a:xfrm>
          <a:prstGeom prst="rect">
            <a:avLst/>
          </a:prstGeom>
          <a:noFill/>
          <a:ln/>
        </p:spPr>
        <p:txBody>
          <a:bodyPr wrap="square" lIns="0" tIns="0" rIns="0" bIns="0" rtlCol="0" anchor="ctr"/>
          <a:lstStyle/>
          <a:p>
            <a:pPr indent="0" marL="0">
              <a:buNone/>
            </a:pPr>
            <a:r>
              <a:rPr lang="en-US" sz="1000" i="1" dirty="0">
                <a:solidFill>
                  <a:srgbClr val="7A6A64"/>
                </a:solidFill>
                <a:latin typeface="Calibri" pitchFamily="34" charset="0"/>
                <a:ea typeface="Calibri" pitchFamily="34" charset="-122"/>
                <a:cs typeface="Calibri" pitchFamily="34" charset="-120"/>
              </a:rPr>
              <a:t>Source: “Session 3 (John Gottman detailed version)” — slide “Conflict resolution rules”.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1E8"/>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100" b="1" spc="200" kern="0" dirty="0">
                <a:solidFill>
                  <a:srgbClr val="A26769"/>
                </a:solidFill>
                <a:latin typeface="Calibri" pitchFamily="34" charset="0"/>
                <a:ea typeface="Calibri" pitchFamily="34" charset="-122"/>
                <a:cs typeface="Calibri" pitchFamily="34" charset="-120"/>
              </a:rPr>
              <a:t>MODELS 03 &amp; 04 · NTT MASTER PRAC MANUAL, P.159</a:t>
            </a:r>
            <a:endParaRPr lang="en-US" sz="1100" dirty="0"/>
          </a:p>
        </p:txBody>
      </p:sp>
      <p:sp>
        <p:nvSpPr>
          <p:cNvPr id="3" name="Text 1"/>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The Conscious Request &amp; The Conscious Response</a:t>
            </a:r>
            <a:endParaRPr lang="en-US" sz="3400" dirty="0"/>
          </a:p>
        </p:txBody>
      </p:sp>
      <p:sp>
        <p:nvSpPr>
          <p:cNvPr id="4" name="Shape 2"/>
          <p:cNvSpPr/>
          <p:nvPr/>
        </p:nvSpPr>
        <p:spPr>
          <a:xfrm>
            <a:off x="640080" y="1508760"/>
            <a:ext cx="5349240" cy="4114800"/>
          </a:xfrm>
          <a:prstGeom prst="roundRect">
            <a:avLst>
              <a:gd name="adj" fmla="val 2222"/>
            </a:avLst>
          </a:prstGeom>
          <a:solidFill>
            <a:srgbClr val="FFFFFF"/>
          </a:solidFill>
          <a:ln/>
          <a:effectLst>
            <a:outerShdw sx="100000" sy="100000" kx="0" ky="0" algn="bl" rotWithShape="0" blurRad="101600" dist="25400" dir="5400000">
              <a:srgbClr val="6D2E46">
                <a:alpha val="10000"/>
              </a:srgbClr>
            </a:outerShdw>
          </a:effectLst>
        </p:spPr>
      </p:sp>
      <p:sp>
        <p:nvSpPr>
          <p:cNvPr id="5" name="Text 3"/>
          <p:cNvSpPr/>
          <p:nvPr/>
        </p:nvSpPr>
        <p:spPr>
          <a:xfrm>
            <a:off x="1005840" y="1719072"/>
            <a:ext cx="4617720" cy="320040"/>
          </a:xfrm>
          <a:prstGeom prst="rect">
            <a:avLst/>
          </a:prstGeom>
          <a:noFill/>
          <a:ln/>
        </p:spPr>
        <p:txBody>
          <a:bodyPr wrap="square" lIns="0" tIns="0" rIns="0" bIns="0" rtlCol="0" anchor="ctr"/>
          <a:lstStyle/>
          <a:p>
            <a:pPr indent="0" marL="0">
              <a:buNone/>
            </a:pPr>
            <a:r>
              <a:rPr lang="en-US" sz="1700" b="1" dirty="0">
                <a:solidFill>
                  <a:srgbClr val="6D2E46"/>
                </a:solidFill>
                <a:latin typeface="Cambria" pitchFamily="34" charset="0"/>
                <a:ea typeface="Cambria" pitchFamily="34" charset="-122"/>
                <a:cs typeface="Cambria" pitchFamily="34" charset="-120"/>
              </a:rPr>
              <a:t>The Conscious Request</a:t>
            </a:r>
            <a:endParaRPr lang="en-US" sz="1700" dirty="0"/>
          </a:p>
        </p:txBody>
      </p:sp>
      <p:sp>
        <p:nvSpPr>
          <p:cNvPr id="6" name="Text 4"/>
          <p:cNvSpPr/>
          <p:nvPr/>
        </p:nvSpPr>
        <p:spPr>
          <a:xfrm>
            <a:off x="1005840" y="2048256"/>
            <a:ext cx="4617720" cy="237744"/>
          </a:xfrm>
          <a:prstGeom prst="rect">
            <a:avLst/>
          </a:prstGeom>
          <a:noFill/>
          <a:ln/>
        </p:spPr>
        <p:txBody>
          <a:bodyPr wrap="square" lIns="0" tIns="0" rIns="0" bIns="0" rtlCol="0" anchor="ctr"/>
          <a:lstStyle/>
          <a:p>
            <a:pPr indent="0" marL="0">
              <a:buNone/>
            </a:pPr>
            <a:r>
              <a:rPr lang="en-US" sz="1000" b="1" spc="150" kern="0" dirty="0">
                <a:solidFill>
                  <a:srgbClr val="7A6A64"/>
                </a:solidFill>
                <a:latin typeface="Calibri" pitchFamily="34" charset="0"/>
                <a:ea typeface="Calibri" pitchFamily="34" charset="-122"/>
                <a:cs typeface="Calibri" pitchFamily="34" charset="-120"/>
              </a:rPr>
              <a:t>THE ONE WHO IS HURT</a:t>
            </a:r>
            <a:endParaRPr lang="en-US" sz="1000" dirty="0"/>
          </a:p>
        </p:txBody>
      </p:sp>
      <p:sp>
        <p:nvSpPr>
          <p:cNvPr id="7" name="Shape 5"/>
          <p:cNvSpPr/>
          <p:nvPr/>
        </p:nvSpPr>
        <p:spPr>
          <a:xfrm>
            <a:off x="1005840" y="2432304"/>
            <a:ext cx="256032" cy="256032"/>
          </a:xfrm>
          <a:prstGeom prst="ellipse">
            <a:avLst/>
          </a:prstGeom>
          <a:solidFill>
            <a:srgbClr val="6D2E46"/>
          </a:solidFill>
          <a:ln/>
        </p:spPr>
      </p:sp>
      <p:sp>
        <p:nvSpPr>
          <p:cNvPr id="8" name="Text 6"/>
          <p:cNvSpPr/>
          <p:nvPr/>
        </p:nvSpPr>
        <p:spPr>
          <a:xfrm>
            <a:off x="1005840" y="243230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Text 7"/>
          <p:cNvSpPr/>
          <p:nvPr/>
        </p:nvSpPr>
        <p:spPr>
          <a:xfrm>
            <a:off x="1389888" y="2368296"/>
            <a:ext cx="4206240" cy="475488"/>
          </a:xfrm>
          <a:prstGeom prst="rect">
            <a:avLst/>
          </a:prstGeom>
          <a:noFill/>
          <a:ln/>
        </p:spPr>
        <p:txBody>
          <a:bodyPr wrap="square" lIns="0" tIns="0" rIns="0" bIns="0" rtlCol="0" anchor="ctr"/>
          <a:lstStyle/>
          <a:p>
            <a:pPr indent="0" marL="0">
              <a:lnSpc>
                <a:spcPts val="1500"/>
              </a:lnSpc>
              <a:buNone/>
            </a:pPr>
            <a:r>
              <a:rPr lang="en-US" sz="1150" dirty="0">
                <a:solidFill>
                  <a:srgbClr val="2B2320"/>
                </a:solidFill>
                <a:latin typeface="Calibri" pitchFamily="34" charset="0"/>
                <a:ea typeface="Calibri" pitchFamily="34" charset="-122"/>
                <a:cs typeface="Calibri" pitchFamily="34" charset="-120"/>
              </a:rPr>
              <a:t>“I need your help.”</a:t>
            </a:r>
            <a:endParaRPr lang="en-US" sz="1150" dirty="0"/>
          </a:p>
        </p:txBody>
      </p:sp>
      <p:sp>
        <p:nvSpPr>
          <p:cNvPr id="10" name="Shape 8"/>
          <p:cNvSpPr/>
          <p:nvPr/>
        </p:nvSpPr>
        <p:spPr>
          <a:xfrm>
            <a:off x="1005840" y="2962656"/>
            <a:ext cx="256032" cy="256032"/>
          </a:xfrm>
          <a:prstGeom prst="ellipse">
            <a:avLst/>
          </a:prstGeom>
          <a:solidFill>
            <a:srgbClr val="6D2E46"/>
          </a:solidFill>
          <a:ln/>
        </p:spPr>
      </p:sp>
      <p:sp>
        <p:nvSpPr>
          <p:cNvPr id="11" name="Text 9"/>
          <p:cNvSpPr/>
          <p:nvPr/>
        </p:nvSpPr>
        <p:spPr>
          <a:xfrm>
            <a:off x="1005840" y="296265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2" name="Text 10"/>
          <p:cNvSpPr/>
          <p:nvPr/>
        </p:nvSpPr>
        <p:spPr>
          <a:xfrm>
            <a:off x="1389888" y="2898648"/>
            <a:ext cx="4206240" cy="475488"/>
          </a:xfrm>
          <a:prstGeom prst="rect">
            <a:avLst/>
          </a:prstGeom>
          <a:noFill/>
          <a:ln/>
        </p:spPr>
        <p:txBody>
          <a:bodyPr wrap="square" lIns="0" tIns="0" rIns="0" bIns="0" rtlCol="0" anchor="ctr"/>
          <a:lstStyle/>
          <a:p>
            <a:pPr indent="0" marL="0">
              <a:lnSpc>
                <a:spcPts val="1500"/>
              </a:lnSpc>
              <a:buNone/>
            </a:pPr>
            <a:r>
              <a:rPr lang="en-US" sz="1150" dirty="0">
                <a:solidFill>
                  <a:srgbClr val="2B2320"/>
                </a:solidFill>
                <a:latin typeface="Calibri" pitchFamily="34" charset="0"/>
                <a:ea typeface="Calibri" pitchFamily="34" charset="-122"/>
                <a:cs typeface="Calibri" pitchFamily="34" charset="-120"/>
              </a:rPr>
              <a:t>“When this happened, I misinterpreted that to mean…”</a:t>
            </a:r>
            <a:endParaRPr lang="en-US" sz="1150" dirty="0"/>
          </a:p>
        </p:txBody>
      </p:sp>
      <p:sp>
        <p:nvSpPr>
          <p:cNvPr id="13" name="Shape 11"/>
          <p:cNvSpPr/>
          <p:nvPr/>
        </p:nvSpPr>
        <p:spPr>
          <a:xfrm>
            <a:off x="1005840" y="3493008"/>
            <a:ext cx="256032" cy="256032"/>
          </a:xfrm>
          <a:prstGeom prst="ellipse">
            <a:avLst/>
          </a:prstGeom>
          <a:solidFill>
            <a:srgbClr val="6D2E46"/>
          </a:solidFill>
          <a:ln/>
        </p:spPr>
      </p:sp>
      <p:sp>
        <p:nvSpPr>
          <p:cNvPr id="14" name="Text 12"/>
          <p:cNvSpPr/>
          <p:nvPr/>
        </p:nvSpPr>
        <p:spPr>
          <a:xfrm>
            <a:off x="1005840" y="349300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5" name="Text 13"/>
          <p:cNvSpPr/>
          <p:nvPr/>
        </p:nvSpPr>
        <p:spPr>
          <a:xfrm>
            <a:off x="1389888" y="3429000"/>
            <a:ext cx="4206240" cy="475488"/>
          </a:xfrm>
          <a:prstGeom prst="rect">
            <a:avLst/>
          </a:prstGeom>
          <a:noFill/>
          <a:ln/>
        </p:spPr>
        <p:txBody>
          <a:bodyPr wrap="square" lIns="0" tIns="0" rIns="0" bIns="0" rtlCol="0" anchor="ctr"/>
          <a:lstStyle/>
          <a:p>
            <a:pPr indent="0" marL="0">
              <a:lnSpc>
                <a:spcPts val="1500"/>
              </a:lnSpc>
              <a:buNone/>
            </a:pPr>
            <a:r>
              <a:rPr lang="en-US" sz="1150" dirty="0">
                <a:solidFill>
                  <a:srgbClr val="2B2320"/>
                </a:solidFill>
                <a:latin typeface="Calibri" pitchFamily="34" charset="0"/>
                <a:ea typeface="Calibri" pitchFamily="34" charset="-122"/>
                <a:cs typeface="Calibri" pitchFamily="34" charset="-120"/>
              </a:rPr>
              <a:t>“I know that’s not true, because I know who you are.”</a:t>
            </a:r>
            <a:endParaRPr lang="en-US" sz="1150" dirty="0"/>
          </a:p>
        </p:txBody>
      </p:sp>
      <p:sp>
        <p:nvSpPr>
          <p:cNvPr id="16" name="Shape 14"/>
          <p:cNvSpPr/>
          <p:nvPr/>
        </p:nvSpPr>
        <p:spPr>
          <a:xfrm>
            <a:off x="1005840" y="4023360"/>
            <a:ext cx="256032" cy="256032"/>
          </a:xfrm>
          <a:prstGeom prst="ellipse">
            <a:avLst/>
          </a:prstGeom>
          <a:solidFill>
            <a:srgbClr val="6D2E46"/>
          </a:solidFill>
          <a:ln/>
        </p:spPr>
      </p:sp>
      <p:sp>
        <p:nvSpPr>
          <p:cNvPr id="17" name="Text 15"/>
          <p:cNvSpPr/>
          <p:nvPr/>
        </p:nvSpPr>
        <p:spPr>
          <a:xfrm>
            <a:off x="1005840" y="402336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8" name="Text 16"/>
          <p:cNvSpPr/>
          <p:nvPr/>
        </p:nvSpPr>
        <p:spPr>
          <a:xfrm>
            <a:off x="1389888" y="3959352"/>
            <a:ext cx="4206240" cy="475488"/>
          </a:xfrm>
          <a:prstGeom prst="rect">
            <a:avLst/>
          </a:prstGeom>
          <a:noFill/>
          <a:ln/>
        </p:spPr>
        <p:txBody>
          <a:bodyPr wrap="square" lIns="0" tIns="0" rIns="0" bIns="0" rtlCol="0" anchor="ctr"/>
          <a:lstStyle/>
          <a:p>
            <a:pPr indent="0" marL="0">
              <a:lnSpc>
                <a:spcPts val="1500"/>
              </a:lnSpc>
              <a:buNone/>
            </a:pPr>
            <a:r>
              <a:rPr lang="en-US" sz="1150" dirty="0">
                <a:solidFill>
                  <a:srgbClr val="2B2320"/>
                </a:solidFill>
                <a:latin typeface="Calibri" pitchFamily="34" charset="0"/>
                <a:ea typeface="Calibri" pitchFamily="34" charset="-122"/>
                <a:cs typeface="Calibri" pitchFamily="34" charset="-120"/>
              </a:rPr>
              <a:t>“I just need some clarity about what specifically happened.”</a:t>
            </a:r>
            <a:endParaRPr lang="en-US" sz="1150" dirty="0"/>
          </a:p>
        </p:txBody>
      </p:sp>
      <p:sp>
        <p:nvSpPr>
          <p:cNvPr id="19" name="Shape 17"/>
          <p:cNvSpPr/>
          <p:nvPr/>
        </p:nvSpPr>
        <p:spPr>
          <a:xfrm>
            <a:off x="1005840" y="4553712"/>
            <a:ext cx="256032" cy="256032"/>
          </a:xfrm>
          <a:prstGeom prst="ellipse">
            <a:avLst/>
          </a:prstGeom>
          <a:solidFill>
            <a:srgbClr val="6D2E46"/>
          </a:solidFill>
          <a:ln/>
        </p:spPr>
      </p:sp>
      <p:sp>
        <p:nvSpPr>
          <p:cNvPr id="20" name="Text 18"/>
          <p:cNvSpPr/>
          <p:nvPr/>
        </p:nvSpPr>
        <p:spPr>
          <a:xfrm>
            <a:off x="1005840" y="455371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1" name="Text 19"/>
          <p:cNvSpPr/>
          <p:nvPr/>
        </p:nvSpPr>
        <p:spPr>
          <a:xfrm>
            <a:off x="1389888" y="4489704"/>
            <a:ext cx="4206240" cy="475488"/>
          </a:xfrm>
          <a:prstGeom prst="rect">
            <a:avLst/>
          </a:prstGeom>
          <a:noFill/>
          <a:ln/>
        </p:spPr>
        <p:txBody>
          <a:bodyPr wrap="square" lIns="0" tIns="0" rIns="0" bIns="0" rtlCol="0" anchor="ctr"/>
          <a:lstStyle/>
          <a:p>
            <a:pPr indent="0" marL="0">
              <a:lnSpc>
                <a:spcPts val="1500"/>
              </a:lnSpc>
              <a:buNone/>
            </a:pPr>
            <a:r>
              <a:rPr lang="en-US" sz="1150" dirty="0">
                <a:solidFill>
                  <a:srgbClr val="2B2320"/>
                </a:solidFill>
                <a:latin typeface="Calibri" pitchFamily="34" charset="0"/>
                <a:ea typeface="Calibri" pitchFamily="34" charset="-122"/>
                <a:cs typeface="Calibri" pitchFamily="34" charset="-120"/>
              </a:rPr>
              <a:t>“What I really need to know specifically is…”</a:t>
            </a:r>
            <a:endParaRPr lang="en-US" sz="1150" dirty="0"/>
          </a:p>
        </p:txBody>
      </p:sp>
      <p:sp>
        <p:nvSpPr>
          <p:cNvPr id="22" name="Shape 20"/>
          <p:cNvSpPr/>
          <p:nvPr/>
        </p:nvSpPr>
        <p:spPr>
          <a:xfrm>
            <a:off x="1005840" y="5084064"/>
            <a:ext cx="256032" cy="256032"/>
          </a:xfrm>
          <a:prstGeom prst="ellipse">
            <a:avLst/>
          </a:prstGeom>
          <a:solidFill>
            <a:srgbClr val="6D2E46"/>
          </a:solidFill>
          <a:ln/>
        </p:spPr>
      </p:sp>
      <p:sp>
        <p:nvSpPr>
          <p:cNvPr id="23" name="Text 21"/>
          <p:cNvSpPr/>
          <p:nvPr/>
        </p:nvSpPr>
        <p:spPr>
          <a:xfrm>
            <a:off x="1005840" y="508406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4" name="Text 22"/>
          <p:cNvSpPr/>
          <p:nvPr/>
        </p:nvSpPr>
        <p:spPr>
          <a:xfrm>
            <a:off x="1389888" y="5020056"/>
            <a:ext cx="4206240" cy="475488"/>
          </a:xfrm>
          <a:prstGeom prst="rect">
            <a:avLst/>
          </a:prstGeom>
          <a:noFill/>
          <a:ln/>
        </p:spPr>
        <p:txBody>
          <a:bodyPr wrap="square" lIns="0" tIns="0" rIns="0" bIns="0" rtlCol="0" anchor="ctr"/>
          <a:lstStyle/>
          <a:p>
            <a:pPr indent="0" marL="0">
              <a:lnSpc>
                <a:spcPts val="1500"/>
              </a:lnSpc>
              <a:buNone/>
            </a:pPr>
            <a:r>
              <a:rPr lang="en-US" sz="1150" dirty="0">
                <a:solidFill>
                  <a:srgbClr val="2B2320"/>
                </a:solidFill>
                <a:latin typeface="Calibri" pitchFamily="34" charset="0"/>
                <a:ea typeface="Calibri" pitchFamily="34" charset="-122"/>
                <a:cs typeface="Calibri" pitchFamily="34" charset="-120"/>
              </a:rPr>
              <a:t>“Can I make a request? In future I’d really appreciate it if you would… Would that work for you?”</a:t>
            </a:r>
            <a:endParaRPr lang="en-US" sz="1150" dirty="0"/>
          </a:p>
        </p:txBody>
      </p:sp>
      <p:sp>
        <p:nvSpPr>
          <p:cNvPr id="25" name="Shape 23"/>
          <p:cNvSpPr/>
          <p:nvPr/>
        </p:nvSpPr>
        <p:spPr>
          <a:xfrm>
            <a:off x="6263640" y="1508760"/>
            <a:ext cx="5349240" cy="4114800"/>
          </a:xfrm>
          <a:prstGeom prst="roundRect">
            <a:avLst>
              <a:gd name="adj" fmla="val 2222"/>
            </a:avLst>
          </a:prstGeom>
          <a:solidFill>
            <a:srgbClr val="FFFFFF"/>
          </a:solidFill>
          <a:ln/>
          <a:effectLst>
            <a:outerShdw sx="100000" sy="100000" kx="0" ky="0" algn="bl" rotWithShape="0" blurRad="101600" dist="25400" dir="5400000">
              <a:srgbClr val="6D2E46">
                <a:alpha val="10000"/>
              </a:srgbClr>
            </a:outerShdw>
          </a:effectLst>
        </p:spPr>
      </p:sp>
      <p:sp>
        <p:nvSpPr>
          <p:cNvPr id="26" name="Text 24"/>
          <p:cNvSpPr/>
          <p:nvPr/>
        </p:nvSpPr>
        <p:spPr>
          <a:xfrm>
            <a:off x="6629400" y="1719072"/>
            <a:ext cx="4617720" cy="320040"/>
          </a:xfrm>
          <a:prstGeom prst="rect">
            <a:avLst/>
          </a:prstGeom>
          <a:noFill/>
          <a:ln/>
        </p:spPr>
        <p:txBody>
          <a:bodyPr wrap="square" lIns="0" tIns="0" rIns="0" bIns="0" rtlCol="0" anchor="ctr"/>
          <a:lstStyle/>
          <a:p>
            <a:pPr indent="0" marL="0">
              <a:buNone/>
            </a:pPr>
            <a:r>
              <a:rPr lang="en-US" sz="1700" b="1" dirty="0">
                <a:solidFill>
                  <a:srgbClr val="A26769"/>
                </a:solidFill>
                <a:latin typeface="Cambria" pitchFamily="34" charset="0"/>
                <a:ea typeface="Cambria" pitchFamily="34" charset="-122"/>
                <a:cs typeface="Cambria" pitchFamily="34" charset="-120"/>
              </a:rPr>
              <a:t>The Conscious Response</a:t>
            </a:r>
            <a:endParaRPr lang="en-US" sz="1700" dirty="0"/>
          </a:p>
        </p:txBody>
      </p:sp>
      <p:sp>
        <p:nvSpPr>
          <p:cNvPr id="27" name="Text 25"/>
          <p:cNvSpPr/>
          <p:nvPr/>
        </p:nvSpPr>
        <p:spPr>
          <a:xfrm>
            <a:off x="6629400" y="2048256"/>
            <a:ext cx="4617720" cy="237744"/>
          </a:xfrm>
          <a:prstGeom prst="rect">
            <a:avLst/>
          </a:prstGeom>
          <a:noFill/>
          <a:ln/>
        </p:spPr>
        <p:txBody>
          <a:bodyPr wrap="square" lIns="0" tIns="0" rIns="0" bIns="0" rtlCol="0" anchor="ctr"/>
          <a:lstStyle/>
          <a:p>
            <a:pPr indent="0" marL="0">
              <a:buNone/>
            </a:pPr>
            <a:r>
              <a:rPr lang="en-US" sz="1000" b="1" spc="150" kern="0" dirty="0">
                <a:solidFill>
                  <a:srgbClr val="7A6A64"/>
                </a:solidFill>
                <a:latin typeface="Calibri" pitchFamily="34" charset="0"/>
                <a:ea typeface="Calibri" pitchFamily="34" charset="-122"/>
                <a:cs typeface="Calibri" pitchFamily="34" charset="-120"/>
              </a:rPr>
              <a:t>THE ONE BEING ASKED</a:t>
            </a:r>
            <a:endParaRPr lang="en-US" sz="1000" dirty="0"/>
          </a:p>
        </p:txBody>
      </p:sp>
      <p:sp>
        <p:nvSpPr>
          <p:cNvPr id="28" name="Shape 26"/>
          <p:cNvSpPr/>
          <p:nvPr/>
        </p:nvSpPr>
        <p:spPr>
          <a:xfrm>
            <a:off x="6629400" y="2432304"/>
            <a:ext cx="256032" cy="256032"/>
          </a:xfrm>
          <a:prstGeom prst="ellipse">
            <a:avLst/>
          </a:prstGeom>
          <a:solidFill>
            <a:srgbClr val="A26769"/>
          </a:solidFill>
          <a:ln/>
        </p:spPr>
      </p:sp>
      <p:sp>
        <p:nvSpPr>
          <p:cNvPr id="29" name="Text 27"/>
          <p:cNvSpPr/>
          <p:nvPr/>
        </p:nvSpPr>
        <p:spPr>
          <a:xfrm>
            <a:off x="6629400" y="243230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8"/>
          <p:cNvSpPr/>
          <p:nvPr/>
        </p:nvSpPr>
        <p:spPr>
          <a:xfrm>
            <a:off x="7013448" y="2368296"/>
            <a:ext cx="4206240" cy="475488"/>
          </a:xfrm>
          <a:prstGeom prst="rect">
            <a:avLst/>
          </a:prstGeom>
          <a:noFill/>
          <a:ln/>
        </p:spPr>
        <p:txBody>
          <a:bodyPr wrap="square" lIns="0" tIns="0" rIns="0" bIns="0" rtlCol="0" anchor="ctr"/>
          <a:lstStyle/>
          <a:p>
            <a:pPr indent="0" marL="0">
              <a:lnSpc>
                <a:spcPts val="1500"/>
              </a:lnSpc>
              <a:buNone/>
            </a:pPr>
            <a:r>
              <a:rPr lang="en-US" sz="1150" dirty="0">
                <a:solidFill>
                  <a:srgbClr val="2B2320"/>
                </a:solidFill>
                <a:latin typeface="Calibri" pitchFamily="34" charset="0"/>
                <a:ea typeface="Calibri" pitchFamily="34" charset="-122"/>
                <a:cs typeface="Calibri" pitchFamily="34" charset="-120"/>
              </a:rPr>
              <a:t>Listen to the request.</a:t>
            </a:r>
            <a:endParaRPr lang="en-US" sz="1150" dirty="0"/>
          </a:p>
        </p:txBody>
      </p:sp>
      <p:sp>
        <p:nvSpPr>
          <p:cNvPr id="31" name="Shape 29"/>
          <p:cNvSpPr/>
          <p:nvPr/>
        </p:nvSpPr>
        <p:spPr>
          <a:xfrm>
            <a:off x="6629400" y="2962656"/>
            <a:ext cx="256032" cy="256032"/>
          </a:xfrm>
          <a:prstGeom prst="ellipse">
            <a:avLst/>
          </a:prstGeom>
          <a:solidFill>
            <a:srgbClr val="A26769"/>
          </a:solidFill>
          <a:ln/>
        </p:spPr>
      </p:sp>
      <p:sp>
        <p:nvSpPr>
          <p:cNvPr id="32" name="Text 30"/>
          <p:cNvSpPr/>
          <p:nvPr/>
        </p:nvSpPr>
        <p:spPr>
          <a:xfrm>
            <a:off x="6629400" y="296265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31"/>
          <p:cNvSpPr/>
          <p:nvPr/>
        </p:nvSpPr>
        <p:spPr>
          <a:xfrm>
            <a:off x="7013448" y="2898648"/>
            <a:ext cx="4206240" cy="475488"/>
          </a:xfrm>
          <a:prstGeom prst="rect">
            <a:avLst/>
          </a:prstGeom>
          <a:noFill/>
          <a:ln/>
        </p:spPr>
        <p:txBody>
          <a:bodyPr wrap="square" lIns="0" tIns="0" rIns="0" bIns="0" rtlCol="0" anchor="ctr"/>
          <a:lstStyle/>
          <a:p>
            <a:pPr indent="0" marL="0">
              <a:lnSpc>
                <a:spcPts val="1500"/>
              </a:lnSpc>
              <a:buNone/>
            </a:pPr>
            <a:r>
              <a:rPr lang="en-US" sz="1150" dirty="0">
                <a:solidFill>
                  <a:srgbClr val="2B2320"/>
                </a:solidFill>
                <a:latin typeface="Calibri" pitchFamily="34" charset="0"/>
                <a:ea typeface="Calibri" pitchFamily="34" charset="-122"/>
                <a:cs typeface="Calibri" pitchFamily="34" charset="-120"/>
              </a:rPr>
              <a:t>“I really apologise for the impact that had on you.” (even if you’re not the source)</a:t>
            </a:r>
            <a:endParaRPr lang="en-US" sz="1150" dirty="0"/>
          </a:p>
        </p:txBody>
      </p:sp>
      <p:sp>
        <p:nvSpPr>
          <p:cNvPr id="34" name="Shape 32"/>
          <p:cNvSpPr/>
          <p:nvPr/>
        </p:nvSpPr>
        <p:spPr>
          <a:xfrm>
            <a:off x="6629400" y="3493008"/>
            <a:ext cx="256032" cy="256032"/>
          </a:xfrm>
          <a:prstGeom prst="ellipse">
            <a:avLst/>
          </a:prstGeom>
          <a:solidFill>
            <a:srgbClr val="A26769"/>
          </a:solidFill>
          <a:ln/>
        </p:spPr>
      </p:sp>
      <p:sp>
        <p:nvSpPr>
          <p:cNvPr id="35" name="Text 33"/>
          <p:cNvSpPr/>
          <p:nvPr/>
        </p:nvSpPr>
        <p:spPr>
          <a:xfrm>
            <a:off x="6629400" y="349300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4"/>
          <p:cNvSpPr/>
          <p:nvPr/>
        </p:nvSpPr>
        <p:spPr>
          <a:xfrm>
            <a:off x="7013448" y="3429000"/>
            <a:ext cx="4206240" cy="475488"/>
          </a:xfrm>
          <a:prstGeom prst="rect">
            <a:avLst/>
          </a:prstGeom>
          <a:noFill/>
          <a:ln/>
        </p:spPr>
        <p:txBody>
          <a:bodyPr wrap="square" lIns="0" tIns="0" rIns="0" bIns="0" rtlCol="0" anchor="ctr"/>
          <a:lstStyle/>
          <a:p>
            <a:pPr indent="0" marL="0">
              <a:lnSpc>
                <a:spcPts val="1500"/>
              </a:lnSpc>
              <a:buNone/>
            </a:pPr>
            <a:r>
              <a:rPr lang="en-US" sz="1150" dirty="0">
                <a:solidFill>
                  <a:srgbClr val="2B2320"/>
                </a:solidFill>
                <a:latin typeface="Calibri" pitchFamily="34" charset="0"/>
                <a:ea typeface="Calibri" pitchFamily="34" charset="-122"/>
                <a:cs typeface="Calibri" pitchFamily="34" charset="-120"/>
              </a:rPr>
              <a:t>“That was certainly not my intent — and there is no excuse.”</a:t>
            </a:r>
            <a:endParaRPr lang="en-US" sz="1150" dirty="0"/>
          </a:p>
        </p:txBody>
      </p:sp>
      <p:sp>
        <p:nvSpPr>
          <p:cNvPr id="37" name="Shape 35"/>
          <p:cNvSpPr/>
          <p:nvPr/>
        </p:nvSpPr>
        <p:spPr>
          <a:xfrm>
            <a:off x="6629400" y="4023360"/>
            <a:ext cx="256032" cy="256032"/>
          </a:xfrm>
          <a:prstGeom prst="ellipse">
            <a:avLst/>
          </a:prstGeom>
          <a:solidFill>
            <a:srgbClr val="A26769"/>
          </a:solidFill>
          <a:ln/>
        </p:spPr>
      </p:sp>
      <p:sp>
        <p:nvSpPr>
          <p:cNvPr id="38" name="Text 36"/>
          <p:cNvSpPr/>
          <p:nvPr/>
        </p:nvSpPr>
        <p:spPr>
          <a:xfrm>
            <a:off x="6629400" y="402336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7"/>
          <p:cNvSpPr/>
          <p:nvPr/>
        </p:nvSpPr>
        <p:spPr>
          <a:xfrm>
            <a:off x="7013448" y="3959352"/>
            <a:ext cx="4206240" cy="475488"/>
          </a:xfrm>
          <a:prstGeom prst="rect">
            <a:avLst/>
          </a:prstGeom>
          <a:noFill/>
          <a:ln/>
        </p:spPr>
        <p:txBody>
          <a:bodyPr wrap="square" lIns="0" tIns="0" rIns="0" bIns="0" rtlCol="0" anchor="ctr"/>
          <a:lstStyle/>
          <a:p>
            <a:pPr indent="0" marL="0">
              <a:lnSpc>
                <a:spcPts val="1500"/>
              </a:lnSpc>
              <a:buNone/>
            </a:pPr>
            <a:r>
              <a:rPr lang="en-US" sz="1150" dirty="0">
                <a:solidFill>
                  <a:srgbClr val="2B2320"/>
                </a:solidFill>
                <a:latin typeface="Calibri" pitchFamily="34" charset="0"/>
                <a:ea typeface="Calibri" pitchFamily="34" charset="-122"/>
                <a:cs typeface="Calibri" pitchFamily="34" charset="-120"/>
              </a:rPr>
              <a:t>“The intent of my action was…” (brief, emotional)</a:t>
            </a:r>
            <a:endParaRPr lang="en-US" sz="1150" dirty="0"/>
          </a:p>
        </p:txBody>
      </p:sp>
      <p:sp>
        <p:nvSpPr>
          <p:cNvPr id="40" name="Shape 38"/>
          <p:cNvSpPr/>
          <p:nvPr/>
        </p:nvSpPr>
        <p:spPr>
          <a:xfrm>
            <a:off x="6629400" y="4553712"/>
            <a:ext cx="256032" cy="256032"/>
          </a:xfrm>
          <a:prstGeom prst="ellipse">
            <a:avLst/>
          </a:prstGeom>
          <a:solidFill>
            <a:srgbClr val="A26769"/>
          </a:solidFill>
          <a:ln/>
        </p:spPr>
      </p:sp>
      <p:sp>
        <p:nvSpPr>
          <p:cNvPr id="41" name="Text 39"/>
          <p:cNvSpPr/>
          <p:nvPr/>
        </p:nvSpPr>
        <p:spPr>
          <a:xfrm>
            <a:off x="6629400" y="455371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2" name="Text 40"/>
          <p:cNvSpPr/>
          <p:nvPr/>
        </p:nvSpPr>
        <p:spPr>
          <a:xfrm>
            <a:off x="7013448" y="4489704"/>
            <a:ext cx="4206240" cy="475488"/>
          </a:xfrm>
          <a:prstGeom prst="rect">
            <a:avLst/>
          </a:prstGeom>
          <a:noFill/>
          <a:ln/>
        </p:spPr>
        <p:txBody>
          <a:bodyPr wrap="square" lIns="0" tIns="0" rIns="0" bIns="0" rtlCol="0" anchor="ctr"/>
          <a:lstStyle/>
          <a:p>
            <a:pPr indent="0" marL="0">
              <a:lnSpc>
                <a:spcPts val="1500"/>
              </a:lnSpc>
              <a:buNone/>
            </a:pPr>
            <a:r>
              <a:rPr lang="en-US" sz="1150" dirty="0">
                <a:solidFill>
                  <a:srgbClr val="2B2320"/>
                </a:solidFill>
                <a:latin typeface="Calibri" pitchFamily="34" charset="0"/>
                <a:ea typeface="Calibri" pitchFamily="34" charset="-122"/>
                <a:cs typeface="Calibri" pitchFamily="34" charset="-120"/>
              </a:rPr>
              <a:t>“Obviously that didn’t work. I apologise, there is no excuse.”</a:t>
            </a:r>
            <a:endParaRPr lang="en-US" sz="1150" dirty="0"/>
          </a:p>
        </p:txBody>
      </p:sp>
      <p:sp>
        <p:nvSpPr>
          <p:cNvPr id="43" name="Shape 41"/>
          <p:cNvSpPr/>
          <p:nvPr/>
        </p:nvSpPr>
        <p:spPr>
          <a:xfrm>
            <a:off x="6629400" y="5084064"/>
            <a:ext cx="256032" cy="256032"/>
          </a:xfrm>
          <a:prstGeom prst="ellipse">
            <a:avLst/>
          </a:prstGeom>
          <a:solidFill>
            <a:srgbClr val="A26769"/>
          </a:solidFill>
          <a:ln/>
        </p:spPr>
      </p:sp>
      <p:sp>
        <p:nvSpPr>
          <p:cNvPr id="44" name="Text 42"/>
          <p:cNvSpPr/>
          <p:nvPr/>
        </p:nvSpPr>
        <p:spPr>
          <a:xfrm>
            <a:off x="6629400" y="508406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45" name="Text 43"/>
          <p:cNvSpPr/>
          <p:nvPr/>
        </p:nvSpPr>
        <p:spPr>
          <a:xfrm>
            <a:off x="7013448" y="5020056"/>
            <a:ext cx="4206240" cy="475488"/>
          </a:xfrm>
          <a:prstGeom prst="rect">
            <a:avLst/>
          </a:prstGeom>
          <a:noFill/>
          <a:ln/>
        </p:spPr>
        <p:txBody>
          <a:bodyPr wrap="square" lIns="0" tIns="0" rIns="0" bIns="0" rtlCol="0" anchor="ctr"/>
          <a:lstStyle/>
          <a:p>
            <a:pPr indent="0" marL="0">
              <a:lnSpc>
                <a:spcPts val="1500"/>
              </a:lnSpc>
              <a:buNone/>
            </a:pPr>
            <a:r>
              <a:rPr lang="en-US" sz="1150" dirty="0">
                <a:solidFill>
                  <a:srgbClr val="2B2320"/>
                </a:solidFill>
                <a:latin typeface="Calibri" pitchFamily="34" charset="0"/>
                <a:ea typeface="Calibri" pitchFamily="34" charset="-122"/>
                <a:cs typeface="Calibri" pitchFamily="34" charset="-120"/>
              </a:rPr>
              <a:t>“I’m committed to making this work for you — tell me what would.”</a:t>
            </a:r>
            <a:endParaRPr lang="en-US" sz="1150" dirty="0"/>
          </a:p>
        </p:txBody>
      </p:sp>
      <p:sp>
        <p:nvSpPr>
          <p:cNvPr id="46" name="Text 44"/>
          <p:cNvSpPr/>
          <p:nvPr/>
        </p:nvSpPr>
        <p:spPr>
          <a:xfrm>
            <a:off x="640080" y="6291072"/>
            <a:ext cx="10881360" cy="292608"/>
          </a:xfrm>
          <a:prstGeom prst="rect">
            <a:avLst/>
          </a:prstGeom>
          <a:noFill/>
          <a:ln/>
        </p:spPr>
        <p:txBody>
          <a:bodyPr wrap="square" lIns="0" tIns="0" rIns="0" bIns="0" rtlCol="0" anchor="ctr"/>
          <a:lstStyle/>
          <a:p>
            <a:pPr indent="0" marL="0">
              <a:buNone/>
            </a:pPr>
            <a:r>
              <a:rPr lang="en-US" sz="1000" i="1" dirty="0">
                <a:solidFill>
                  <a:srgbClr val="7A6A64"/>
                </a:solidFill>
                <a:latin typeface="Calibri" pitchFamily="34" charset="0"/>
                <a:ea typeface="Calibri" pitchFamily="34" charset="-122"/>
                <a:cs typeface="Calibri" pitchFamily="34" charset="-120"/>
              </a:rPr>
              <a:t>The manual prints these as fill-in-the-blank exercises; answers are given in the text. Section: “How To Deal With Conflict”.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1E8"/>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100" b="1" spc="200" kern="0" dirty="0">
                <a:solidFill>
                  <a:srgbClr val="A26769"/>
                </a:solidFill>
                <a:latin typeface="Calibri" pitchFamily="34" charset="0"/>
                <a:ea typeface="Calibri" pitchFamily="34" charset="-122"/>
                <a:cs typeface="Calibri" pitchFamily="34" charset="-120"/>
              </a:rPr>
              <a:t>MODEL 05 · NTT MASTER PRAC MANUAL</a:t>
            </a:r>
            <a:endParaRPr lang="en-US" sz="1100" dirty="0"/>
          </a:p>
        </p:txBody>
      </p:sp>
      <p:sp>
        <p:nvSpPr>
          <p:cNvPr id="3" name="Text 1"/>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The Process to Relationship Problem Solving</a:t>
            </a:r>
            <a:endParaRPr lang="en-US" sz="3400" dirty="0"/>
          </a:p>
        </p:txBody>
      </p:sp>
      <p:sp>
        <p:nvSpPr>
          <p:cNvPr id="4" name="Text 2"/>
          <p:cNvSpPr/>
          <p:nvPr/>
        </p:nvSpPr>
        <p:spPr>
          <a:xfrm>
            <a:off x="640080" y="1207008"/>
            <a:ext cx="8686800" cy="320040"/>
          </a:xfrm>
          <a:prstGeom prst="rect">
            <a:avLst/>
          </a:prstGeom>
          <a:noFill/>
          <a:ln/>
        </p:spPr>
        <p:txBody>
          <a:bodyPr wrap="square" lIns="0" tIns="0" rIns="0" bIns="0" rtlCol="0" anchor="ctr"/>
          <a:lstStyle/>
          <a:p>
            <a:pPr indent="0" marL="0">
              <a:buNone/>
            </a:pPr>
            <a:r>
              <a:rPr lang="en-US" sz="1350" i="1" dirty="0">
                <a:solidFill>
                  <a:srgbClr val="7A6A64"/>
                </a:solidFill>
                <a:latin typeface="Calibri" pitchFamily="34" charset="0"/>
                <a:ea typeface="Calibri" pitchFamily="34" charset="-122"/>
                <a:cs typeface="Calibri" pitchFamily="34" charset="-120"/>
              </a:rPr>
              <a:t>Run on yourself before you open your mouth — it disarms the situation first.</a:t>
            </a:r>
            <a:endParaRPr lang="en-US" sz="1350" dirty="0"/>
          </a:p>
        </p:txBody>
      </p:sp>
      <p:sp>
        <p:nvSpPr>
          <p:cNvPr id="5" name="Shape 3"/>
          <p:cNvSpPr/>
          <p:nvPr/>
        </p:nvSpPr>
        <p:spPr>
          <a:xfrm>
            <a:off x="640080" y="1691640"/>
            <a:ext cx="7360920" cy="512064"/>
          </a:xfrm>
          <a:prstGeom prst="roundRect">
            <a:avLst>
              <a:gd name="adj" fmla="val 12500"/>
            </a:avLst>
          </a:prstGeom>
          <a:solidFill>
            <a:srgbClr val="FFFFFF"/>
          </a:solidFill>
          <a:ln/>
        </p:spPr>
      </p:sp>
      <p:sp>
        <p:nvSpPr>
          <p:cNvPr id="6" name="Shape 4"/>
          <p:cNvSpPr/>
          <p:nvPr/>
        </p:nvSpPr>
        <p:spPr>
          <a:xfrm>
            <a:off x="841248" y="1819656"/>
            <a:ext cx="256032" cy="256032"/>
          </a:xfrm>
          <a:prstGeom prst="ellipse">
            <a:avLst/>
          </a:prstGeom>
          <a:solidFill>
            <a:srgbClr val="A26769"/>
          </a:solidFill>
          <a:ln/>
        </p:spPr>
      </p:sp>
      <p:sp>
        <p:nvSpPr>
          <p:cNvPr id="7" name="Text 5"/>
          <p:cNvSpPr/>
          <p:nvPr/>
        </p:nvSpPr>
        <p:spPr>
          <a:xfrm>
            <a:off x="841248" y="181965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6"/>
          <p:cNvSpPr/>
          <p:nvPr/>
        </p:nvSpPr>
        <p:spPr>
          <a:xfrm>
            <a:off x="1234440" y="1691640"/>
            <a:ext cx="6583680" cy="512064"/>
          </a:xfrm>
          <a:prstGeom prst="rect">
            <a:avLst/>
          </a:prstGeom>
          <a:noFill/>
          <a:ln/>
        </p:spPr>
        <p:txBody>
          <a:bodyPr wrap="square" lIns="0" tIns="0" rIns="0" bIns="0" rtlCol="0" anchor="ctr"/>
          <a:lstStyle/>
          <a:p>
            <a:pPr indent="0" marL="0">
              <a:lnSpc>
                <a:spcPts val="1500"/>
              </a:lnSpc>
              <a:buNone/>
            </a:pPr>
            <a:r>
              <a:rPr lang="en-US" sz="1200" dirty="0">
                <a:solidFill>
                  <a:srgbClr val="2B2320"/>
                </a:solidFill>
                <a:latin typeface="Calibri" pitchFamily="34" charset="0"/>
                <a:ea typeface="Calibri" pitchFamily="34" charset="-122"/>
                <a:cs typeface="Calibri" pitchFamily="34" charset="-120"/>
              </a:rPr>
              <a:t>Am I willing to do something now to change this or make it better?</a:t>
            </a:r>
            <a:endParaRPr lang="en-US" sz="1200" dirty="0"/>
          </a:p>
        </p:txBody>
      </p:sp>
      <p:sp>
        <p:nvSpPr>
          <p:cNvPr id="9" name="Shape 7"/>
          <p:cNvSpPr/>
          <p:nvPr/>
        </p:nvSpPr>
        <p:spPr>
          <a:xfrm>
            <a:off x="640080" y="2295144"/>
            <a:ext cx="7360920" cy="512064"/>
          </a:xfrm>
          <a:prstGeom prst="roundRect">
            <a:avLst>
              <a:gd name="adj" fmla="val 12500"/>
            </a:avLst>
          </a:prstGeom>
          <a:solidFill>
            <a:srgbClr val="FFFFFF"/>
          </a:solidFill>
          <a:ln/>
        </p:spPr>
      </p:sp>
      <p:sp>
        <p:nvSpPr>
          <p:cNvPr id="10" name="Shape 8"/>
          <p:cNvSpPr/>
          <p:nvPr/>
        </p:nvSpPr>
        <p:spPr>
          <a:xfrm>
            <a:off x="841248" y="2423160"/>
            <a:ext cx="256032" cy="256032"/>
          </a:xfrm>
          <a:prstGeom prst="ellipse">
            <a:avLst/>
          </a:prstGeom>
          <a:solidFill>
            <a:srgbClr val="A26769"/>
          </a:solidFill>
          <a:ln/>
        </p:spPr>
      </p:sp>
      <p:sp>
        <p:nvSpPr>
          <p:cNvPr id="11" name="Text 9"/>
          <p:cNvSpPr/>
          <p:nvPr/>
        </p:nvSpPr>
        <p:spPr>
          <a:xfrm>
            <a:off x="841248" y="242316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2" name="Text 10"/>
          <p:cNvSpPr/>
          <p:nvPr/>
        </p:nvSpPr>
        <p:spPr>
          <a:xfrm>
            <a:off x="1234440" y="2295144"/>
            <a:ext cx="6583680" cy="512064"/>
          </a:xfrm>
          <a:prstGeom prst="rect">
            <a:avLst/>
          </a:prstGeom>
          <a:noFill/>
          <a:ln/>
        </p:spPr>
        <p:txBody>
          <a:bodyPr wrap="square" lIns="0" tIns="0" rIns="0" bIns="0" rtlCol="0" anchor="ctr"/>
          <a:lstStyle/>
          <a:p>
            <a:pPr indent="0" marL="0">
              <a:lnSpc>
                <a:spcPts val="1500"/>
              </a:lnSpc>
              <a:buNone/>
            </a:pPr>
            <a:r>
              <a:rPr lang="en-US" sz="1200" dirty="0">
                <a:solidFill>
                  <a:srgbClr val="2B2320"/>
                </a:solidFill>
                <a:latin typeface="Calibri" pitchFamily="34" charset="0"/>
                <a:ea typeface="Calibri" pitchFamily="34" charset="-122"/>
                <a:cs typeface="Calibri" pitchFamily="34" charset="-120"/>
              </a:rPr>
              <a:t>What meaning have I linked to this in order to feel this way?</a:t>
            </a:r>
            <a:endParaRPr lang="en-US" sz="1200" dirty="0"/>
          </a:p>
        </p:txBody>
      </p:sp>
      <p:sp>
        <p:nvSpPr>
          <p:cNvPr id="13" name="Shape 11"/>
          <p:cNvSpPr/>
          <p:nvPr/>
        </p:nvSpPr>
        <p:spPr>
          <a:xfrm>
            <a:off x="640080" y="2898648"/>
            <a:ext cx="7360920" cy="512064"/>
          </a:xfrm>
          <a:prstGeom prst="roundRect">
            <a:avLst>
              <a:gd name="adj" fmla="val 12500"/>
            </a:avLst>
          </a:prstGeom>
          <a:solidFill>
            <a:srgbClr val="FFFFFF"/>
          </a:solidFill>
          <a:ln/>
        </p:spPr>
      </p:sp>
      <p:sp>
        <p:nvSpPr>
          <p:cNvPr id="14" name="Shape 12"/>
          <p:cNvSpPr/>
          <p:nvPr/>
        </p:nvSpPr>
        <p:spPr>
          <a:xfrm>
            <a:off x="841248" y="3026664"/>
            <a:ext cx="256032" cy="256032"/>
          </a:xfrm>
          <a:prstGeom prst="ellipse">
            <a:avLst/>
          </a:prstGeom>
          <a:solidFill>
            <a:srgbClr val="A26769"/>
          </a:solidFill>
          <a:ln/>
        </p:spPr>
      </p:sp>
      <p:sp>
        <p:nvSpPr>
          <p:cNvPr id="15" name="Text 13"/>
          <p:cNvSpPr/>
          <p:nvPr/>
        </p:nvSpPr>
        <p:spPr>
          <a:xfrm>
            <a:off x="841248" y="302666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6" name="Text 14"/>
          <p:cNvSpPr/>
          <p:nvPr/>
        </p:nvSpPr>
        <p:spPr>
          <a:xfrm>
            <a:off x="1234440" y="2898648"/>
            <a:ext cx="6583680" cy="512064"/>
          </a:xfrm>
          <a:prstGeom prst="rect">
            <a:avLst/>
          </a:prstGeom>
          <a:noFill/>
          <a:ln/>
        </p:spPr>
        <p:txBody>
          <a:bodyPr wrap="square" lIns="0" tIns="0" rIns="0" bIns="0" rtlCol="0" anchor="ctr"/>
          <a:lstStyle/>
          <a:p>
            <a:pPr indent="0" marL="0">
              <a:lnSpc>
                <a:spcPts val="1500"/>
              </a:lnSpc>
              <a:buNone/>
            </a:pPr>
            <a:r>
              <a:rPr lang="en-US" sz="1200" dirty="0">
                <a:solidFill>
                  <a:srgbClr val="2B2320"/>
                </a:solidFill>
                <a:latin typeface="Calibri" pitchFamily="34" charset="0"/>
                <a:ea typeface="Calibri" pitchFamily="34" charset="-122"/>
                <a:cs typeface="Calibri" pitchFamily="34" charset="-120"/>
              </a:rPr>
              <a:t>Could this be a misinterpretation? Do I have all the information?</a:t>
            </a:r>
            <a:endParaRPr lang="en-US" sz="1200" dirty="0"/>
          </a:p>
        </p:txBody>
      </p:sp>
      <p:sp>
        <p:nvSpPr>
          <p:cNvPr id="17" name="Shape 15"/>
          <p:cNvSpPr/>
          <p:nvPr/>
        </p:nvSpPr>
        <p:spPr>
          <a:xfrm>
            <a:off x="640080" y="3502152"/>
            <a:ext cx="7360920" cy="512064"/>
          </a:xfrm>
          <a:prstGeom prst="roundRect">
            <a:avLst>
              <a:gd name="adj" fmla="val 12500"/>
            </a:avLst>
          </a:prstGeom>
          <a:solidFill>
            <a:srgbClr val="FFFFFF"/>
          </a:solidFill>
          <a:ln/>
        </p:spPr>
      </p:sp>
      <p:sp>
        <p:nvSpPr>
          <p:cNvPr id="18" name="Shape 16"/>
          <p:cNvSpPr/>
          <p:nvPr/>
        </p:nvSpPr>
        <p:spPr>
          <a:xfrm>
            <a:off x="841248" y="3630168"/>
            <a:ext cx="256032" cy="256032"/>
          </a:xfrm>
          <a:prstGeom prst="ellipse">
            <a:avLst/>
          </a:prstGeom>
          <a:solidFill>
            <a:srgbClr val="A26769"/>
          </a:solidFill>
          <a:ln/>
        </p:spPr>
      </p:sp>
      <p:sp>
        <p:nvSpPr>
          <p:cNvPr id="19" name="Text 17"/>
          <p:cNvSpPr/>
          <p:nvPr/>
        </p:nvSpPr>
        <p:spPr>
          <a:xfrm>
            <a:off x="841248" y="363016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0" name="Text 18"/>
          <p:cNvSpPr/>
          <p:nvPr/>
        </p:nvSpPr>
        <p:spPr>
          <a:xfrm>
            <a:off x="1234440" y="3502152"/>
            <a:ext cx="6583680" cy="512064"/>
          </a:xfrm>
          <a:prstGeom prst="rect">
            <a:avLst/>
          </a:prstGeom>
          <a:noFill/>
          <a:ln/>
        </p:spPr>
        <p:txBody>
          <a:bodyPr wrap="square" lIns="0" tIns="0" rIns="0" bIns="0" rtlCol="0" anchor="ctr"/>
          <a:lstStyle/>
          <a:p>
            <a:pPr indent="0" marL="0">
              <a:lnSpc>
                <a:spcPts val="1500"/>
              </a:lnSpc>
              <a:buNone/>
            </a:pPr>
            <a:r>
              <a:rPr lang="en-US" sz="1200" dirty="0">
                <a:solidFill>
                  <a:srgbClr val="2B2320"/>
                </a:solidFill>
                <a:latin typeface="Calibri" pitchFamily="34" charset="0"/>
                <a:ea typeface="Calibri" pitchFamily="34" charset="-122"/>
                <a:cs typeface="Calibri" pitchFamily="34" charset="-120"/>
              </a:rPr>
              <a:t>What else could this mean?</a:t>
            </a:r>
            <a:endParaRPr lang="en-US" sz="1200" dirty="0"/>
          </a:p>
        </p:txBody>
      </p:sp>
      <p:sp>
        <p:nvSpPr>
          <p:cNvPr id="21" name="Shape 19"/>
          <p:cNvSpPr/>
          <p:nvPr/>
        </p:nvSpPr>
        <p:spPr>
          <a:xfrm>
            <a:off x="640080" y="4105656"/>
            <a:ext cx="7360920" cy="512064"/>
          </a:xfrm>
          <a:prstGeom prst="roundRect">
            <a:avLst>
              <a:gd name="adj" fmla="val 12500"/>
            </a:avLst>
          </a:prstGeom>
          <a:solidFill>
            <a:srgbClr val="FFFFFF"/>
          </a:solidFill>
          <a:ln/>
        </p:spPr>
      </p:sp>
      <p:sp>
        <p:nvSpPr>
          <p:cNvPr id="22" name="Shape 20"/>
          <p:cNvSpPr/>
          <p:nvPr/>
        </p:nvSpPr>
        <p:spPr>
          <a:xfrm>
            <a:off x="841248" y="4233672"/>
            <a:ext cx="256032" cy="256032"/>
          </a:xfrm>
          <a:prstGeom prst="ellipse">
            <a:avLst/>
          </a:prstGeom>
          <a:solidFill>
            <a:srgbClr val="A26769"/>
          </a:solidFill>
          <a:ln/>
        </p:spPr>
      </p:sp>
      <p:sp>
        <p:nvSpPr>
          <p:cNvPr id="23" name="Text 21"/>
          <p:cNvSpPr/>
          <p:nvPr/>
        </p:nvSpPr>
        <p:spPr>
          <a:xfrm>
            <a:off x="841248" y="423367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1234440" y="4105656"/>
            <a:ext cx="6583680" cy="512064"/>
          </a:xfrm>
          <a:prstGeom prst="rect">
            <a:avLst/>
          </a:prstGeom>
          <a:noFill/>
          <a:ln/>
        </p:spPr>
        <p:txBody>
          <a:bodyPr wrap="square" lIns="0" tIns="0" rIns="0" bIns="0" rtlCol="0" anchor="ctr"/>
          <a:lstStyle/>
          <a:p>
            <a:pPr indent="0" marL="0">
              <a:lnSpc>
                <a:spcPts val="1500"/>
              </a:lnSpc>
              <a:buNone/>
            </a:pPr>
            <a:r>
              <a:rPr lang="en-US" sz="1200" dirty="0">
                <a:solidFill>
                  <a:srgbClr val="2B2320"/>
                </a:solidFill>
                <a:latin typeface="Calibri" pitchFamily="34" charset="0"/>
                <a:ea typeface="Calibri" pitchFamily="34" charset="-122"/>
                <a:cs typeface="Calibri" pitchFamily="34" charset="-120"/>
              </a:rPr>
              <a:t>To feel good now, do I need to change my perception, collect more information, understand their model of the world, or apologise?</a:t>
            </a:r>
            <a:endParaRPr lang="en-US" sz="1200" dirty="0"/>
          </a:p>
        </p:txBody>
      </p:sp>
      <p:sp>
        <p:nvSpPr>
          <p:cNvPr id="25" name="Shape 23"/>
          <p:cNvSpPr/>
          <p:nvPr/>
        </p:nvSpPr>
        <p:spPr>
          <a:xfrm>
            <a:off x="8321040" y="1691640"/>
            <a:ext cx="2834640" cy="3337560"/>
          </a:xfrm>
          <a:prstGeom prst="roundRect">
            <a:avLst>
              <a:gd name="adj" fmla="val 3226"/>
            </a:avLst>
          </a:prstGeom>
          <a:solidFill>
            <a:srgbClr val="48192E"/>
          </a:solidFill>
          <a:ln/>
        </p:spPr>
      </p:sp>
      <p:sp>
        <p:nvSpPr>
          <p:cNvPr id="26" name="Text 24"/>
          <p:cNvSpPr/>
          <p:nvPr/>
        </p:nvSpPr>
        <p:spPr>
          <a:xfrm>
            <a:off x="8595360" y="1920240"/>
            <a:ext cx="2286000" cy="502920"/>
          </a:xfrm>
          <a:prstGeom prst="rect">
            <a:avLst/>
          </a:prstGeom>
          <a:noFill/>
          <a:ln/>
        </p:spPr>
        <p:txBody>
          <a:bodyPr wrap="square" lIns="0" tIns="0" rIns="0" bIns="0" rtlCol="0" anchor="ctr"/>
          <a:lstStyle/>
          <a:p>
            <a:pPr indent="0" marL="0">
              <a:lnSpc>
                <a:spcPts val="1500"/>
              </a:lnSpc>
              <a:buNone/>
            </a:pPr>
            <a:r>
              <a:rPr lang="en-US" sz="1100" b="1" spc="150" kern="0" dirty="0">
                <a:solidFill>
                  <a:srgbClr val="C08A3E"/>
                </a:solidFill>
                <a:latin typeface="Calibri" pitchFamily="34" charset="0"/>
                <a:ea typeface="Calibri" pitchFamily="34" charset="-122"/>
                <a:cs typeface="Calibri" pitchFamily="34" charset="-120"/>
              </a:rPr>
              <a:t>THE RELATIONSHIP BRIDGE</a:t>
            </a:r>
            <a:endParaRPr lang="en-US" sz="1100" dirty="0"/>
          </a:p>
        </p:txBody>
      </p:sp>
      <p:sp>
        <p:nvSpPr>
          <p:cNvPr id="27" name="Text 25"/>
          <p:cNvSpPr/>
          <p:nvPr/>
        </p:nvSpPr>
        <p:spPr>
          <a:xfrm>
            <a:off x="8595360" y="2487168"/>
            <a:ext cx="2286000" cy="2377440"/>
          </a:xfrm>
          <a:prstGeom prst="rect">
            <a:avLst/>
          </a:prstGeom>
          <a:noFill/>
          <a:ln/>
        </p:spPr>
        <p:txBody>
          <a:bodyPr wrap="square" lIns="0" tIns="0" rIns="0" bIns="0" rtlCol="0" anchor="ctr"/>
          <a:lstStyle/>
          <a:p>
            <a:pPr indent="0" marL="0">
              <a:lnSpc>
                <a:spcPts val="1600"/>
              </a:lnSpc>
              <a:buNone/>
            </a:pPr>
            <a:r>
              <a:rPr lang="en-US" sz="1100" dirty="0">
                <a:solidFill>
                  <a:srgbClr val="E8D9DC"/>
                </a:solidFill>
                <a:latin typeface="Calibri" pitchFamily="34" charset="0"/>
                <a:ea typeface="Calibri" pitchFamily="34" charset="-122"/>
                <a:cs typeface="Calibri" pitchFamily="34" charset="-120"/>
              </a:rPr>
              <a:t>Decide once whether this person loves you. Then stop reassessing at every upset.</a:t>
            </a:r>
            <a:endParaRPr lang="en-US" sz="1100" dirty="0"/>
          </a:p>
          <a:p>
            <a:pPr indent="0" marL="0">
              <a:lnSpc>
                <a:spcPts val="1600"/>
              </a:lnSpc>
              <a:buNone/>
            </a:pPr>
            <a:endParaRPr lang="en-US" sz="1100" dirty="0"/>
          </a:p>
          <a:p>
            <a:pPr indent="0" marL="0">
              <a:lnSpc>
                <a:spcPts val="1600"/>
              </a:lnSpc>
              <a:buNone/>
            </a:pPr>
            <a:r>
              <a:rPr lang="en-US" sz="1100" dirty="0">
                <a:solidFill>
                  <a:srgbClr val="E8D9DC"/>
                </a:solidFill>
                <a:latin typeface="Calibri" pitchFamily="34" charset="0"/>
                <a:ea typeface="Calibri" pitchFamily="34" charset="-122"/>
                <a:cs typeface="Calibri" pitchFamily="34" charset="-120"/>
              </a:rPr>
              <a:t>Questioning their intent — or threatening to leave — erodes the bridge. If the bridge goes, communication stops.</a:t>
            </a:r>
            <a:endParaRPr lang="en-US" sz="1100" dirty="0"/>
          </a:p>
          <a:p>
            <a:pPr indent="0" marL="0">
              <a:lnSpc>
                <a:spcPts val="1600"/>
              </a:lnSpc>
              <a:buNone/>
            </a:pPr>
            <a:endParaRPr lang="en-US" sz="1100" dirty="0"/>
          </a:p>
          <a:p>
            <a:pPr indent="0" marL="0">
              <a:lnSpc>
                <a:spcPts val="1600"/>
              </a:lnSpc>
              <a:buNone/>
            </a:pPr>
            <a:r>
              <a:rPr lang="en-US" sz="1100" dirty="0">
                <a:solidFill>
                  <a:srgbClr val="E8D9DC"/>
                </a:solidFill>
                <a:latin typeface="Calibri" pitchFamily="34" charset="0"/>
                <a:ea typeface="Calibri" pitchFamily="34" charset="-122"/>
                <a:cs typeface="Calibri" pitchFamily="34" charset="-120"/>
              </a:rPr>
              <a:t>When hurt, take the initiative to walk across it. Don’t keep score. Real love doesn’t measure.</a:t>
            </a:r>
            <a:endParaRPr lang="en-US" sz="1100" dirty="0"/>
          </a:p>
        </p:txBody>
      </p:sp>
      <p:sp>
        <p:nvSpPr>
          <p:cNvPr id="28" name="Text 26"/>
          <p:cNvSpPr/>
          <p:nvPr/>
        </p:nvSpPr>
        <p:spPr>
          <a:xfrm>
            <a:off x="640080" y="6291072"/>
            <a:ext cx="10881360" cy="292608"/>
          </a:xfrm>
          <a:prstGeom prst="rect">
            <a:avLst/>
          </a:prstGeom>
          <a:noFill/>
          <a:ln/>
        </p:spPr>
        <p:txBody>
          <a:bodyPr wrap="square" lIns="0" tIns="0" rIns="0" bIns="0" rtlCol="0" anchor="ctr"/>
          <a:lstStyle/>
          <a:p>
            <a:pPr indent="0" marL="0">
              <a:buNone/>
            </a:pPr>
            <a:r>
              <a:rPr lang="en-US" sz="1000" i="1" dirty="0">
                <a:solidFill>
                  <a:srgbClr val="7A6A64"/>
                </a:solidFill>
                <a:latin typeface="Calibri" pitchFamily="34" charset="0"/>
                <a:ea typeface="Calibri" pitchFamily="34" charset="-122"/>
                <a:cs typeface="Calibri" pitchFamily="34" charset="-120"/>
              </a:rPr>
              <a:t>Also in this section: the four responses to an upset (deny, defend &amp; justify, blame, change) and “The Destruction Path”.</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1E8"/>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100" b="1" spc="200" kern="0" dirty="0">
                <a:solidFill>
                  <a:srgbClr val="A26769"/>
                </a:solidFill>
                <a:latin typeface="Calibri" pitchFamily="34" charset="0"/>
                <a:ea typeface="Calibri" pitchFamily="34" charset="-122"/>
                <a:cs typeface="Calibri" pitchFamily="34" charset="-120"/>
              </a:rPr>
              <a:t>MODEL 06 · NTT RELATIONSHIP COACHING FOR COUPLES</a:t>
            </a:r>
            <a:endParaRPr lang="en-US" sz="1100" dirty="0"/>
          </a:p>
        </p:txBody>
      </p:sp>
      <p:sp>
        <p:nvSpPr>
          <p:cNvPr id="3" name="Text 1"/>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The in-session couples repair script</a:t>
            </a:r>
            <a:endParaRPr lang="en-US" sz="3400" dirty="0"/>
          </a:p>
        </p:txBody>
      </p:sp>
      <p:sp>
        <p:nvSpPr>
          <p:cNvPr id="4" name="Shape 2"/>
          <p:cNvSpPr/>
          <p:nvPr/>
        </p:nvSpPr>
        <p:spPr>
          <a:xfrm>
            <a:off x="640080" y="1463040"/>
            <a:ext cx="6858000" cy="2377440"/>
          </a:xfrm>
          <a:prstGeom prst="roundRect">
            <a:avLst>
              <a:gd name="adj" fmla="val 3846"/>
            </a:avLst>
          </a:prstGeom>
          <a:solidFill>
            <a:srgbClr val="6D2E46"/>
          </a:solidFill>
          <a:ln/>
        </p:spPr>
      </p:sp>
      <p:sp>
        <p:nvSpPr>
          <p:cNvPr id="5" name="Text 3"/>
          <p:cNvSpPr/>
          <p:nvPr/>
        </p:nvSpPr>
        <p:spPr>
          <a:xfrm>
            <a:off x="1005840" y="1664208"/>
            <a:ext cx="6126480" cy="274320"/>
          </a:xfrm>
          <a:prstGeom prst="rect">
            <a:avLst/>
          </a:prstGeom>
          <a:noFill/>
          <a:ln/>
        </p:spPr>
        <p:txBody>
          <a:bodyPr wrap="square" lIns="0" tIns="0" rIns="0" bIns="0" rtlCol="0" anchor="ctr"/>
          <a:lstStyle/>
          <a:p>
            <a:pPr indent="0" marL="0">
              <a:buNone/>
            </a:pPr>
            <a:r>
              <a:rPr lang="en-US" sz="1050" b="1" spc="150" kern="0" dirty="0">
                <a:solidFill>
                  <a:srgbClr val="C08A3E"/>
                </a:solidFill>
                <a:latin typeface="Calibri" pitchFamily="34" charset="0"/>
                <a:ea typeface="Calibri" pitchFamily="34" charset="-122"/>
                <a:cs typeface="Calibri" pitchFamily="34" charset="-120"/>
              </a:rPr>
              <a:t>TAUGHT AT THE END OF SESSION 1</a:t>
            </a:r>
            <a:endParaRPr lang="en-US" sz="1050" dirty="0"/>
          </a:p>
        </p:txBody>
      </p:sp>
      <p:sp>
        <p:nvSpPr>
          <p:cNvPr id="6" name="Text 4"/>
          <p:cNvSpPr/>
          <p:nvPr/>
        </p:nvSpPr>
        <p:spPr>
          <a:xfrm>
            <a:off x="1005840" y="2011680"/>
            <a:ext cx="6126480" cy="1554480"/>
          </a:xfrm>
          <a:prstGeom prst="rect">
            <a:avLst/>
          </a:prstGeom>
          <a:noFill/>
          <a:ln/>
        </p:spPr>
        <p:txBody>
          <a:bodyPr wrap="square" lIns="0" tIns="0" rIns="0" bIns="0" rtlCol="0" anchor="ctr"/>
          <a:lstStyle/>
          <a:p>
            <a:pPr indent="0" marL="0">
              <a:lnSpc>
                <a:spcPts val="1900"/>
              </a:lnSpc>
              <a:buNone/>
            </a:pPr>
            <a:r>
              <a:rPr lang="en-US" sz="1250" i="1" dirty="0">
                <a:solidFill>
                  <a:srgbClr val="FFFFFF"/>
                </a:solidFill>
                <a:latin typeface="Calibri" pitchFamily="34" charset="0"/>
                <a:ea typeface="Calibri" pitchFamily="34" charset="-122"/>
                <a:cs typeface="Calibri" pitchFamily="34" charset="-120"/>
              </a:rPr>
              <a:t>“When you said or did X, I felt Y — or I assumed that to mean Y. I know this wasn’t your intention and I want to let this go so I don’t hold onto it. Just so I have some clarity, what was your intention, and was there a reason you said or did that? I’m happy to take responsibility if I contributed. Is it okay in future that you don’t say or do that, because that would help me feel that you care?”</a:t>
            </a:r>
            <a:endParaRPr lang="en-US" sz="1250" dirty="0"/>
          </a:p>
        </p:txBody>
      </p:sp>
      <p:sp>
        <p:nvSpPr>
          <p:cNvPr id="7" name="Shape 5"/>
          <p:cNvSpPr/>
          <p:nvPr/>
        </p:nvSpPr>
        <p:spPr>
          <a:xfrm>
            <a:off x="7863840" y="1463040"/>
            <a:ext cx="3291840" cy="2377440"/>
          </a:xfrm>
          <a:prstGeom prst="roundRect">
            <a:avLst>
              <a:gd name="adj" fmla="val 3846"/>
            </a:avLst>
          </a:prstGeom>
          <a:solidFill>
            <a:srgbClr val="FFFFFF"/>
          </a:solidFill>
          <a:ln/>
          <a:effectLst>
            <a:outerShdw sx="100000" sy="100000" kx="0" ky="0" algn="bl" rotWithShape="0" blurRad="101600" dist="25400" dir="5400000">
              <a:srgbClr val="6D2E46">
                <a:alpha val="10000"/>
              </a:srgbClr>
            </a:outerShdw>
          </a:effectLst>
        </p:spPr>
      </p:sp>
      <p:sp>
        <p:nvSpPr>
          <p:cNvPr id="8" name="Text 6"/>
          <p:cNvSpPr/>
          <p:nvPr/>
        </p:nvSpPr>
        <p:spPr>
          <a:xfrm>
            <a:off x="8183880" y="1691640"/>
            <a:ext cx="2651760" cy="274320"/>
          </a:xfrm>
          <a:prstGeom prst="rect">
            <a:avLst/>
          </a:prstGeom>
          <a:noFill/>
          <a:ln/>
        </p:spPr>
        <p:txBody>
          <a:bodyPr wrap="square" lIns="0" tIns="0" rIns="0" bIns="0" rtlCol="0" anchor="ctr"/>
          <a:lstStyle/>
          <a:p>
            <a:pPr indent="0" marL="0">
              <a:buNone/>
            </a:pPr>
            <a:r>
              <a:rPr lang="en-US" sz="1400" b="1" dirty="0">
                <a:solidFill>
                  <a:srgbClr val="6D2E46"/>
                </a:solidFill>
                <a:latin typeface="Calibri" pitchFamily="34" charset="0"/>
                <a:ea typeface="Calibri" pitchFamily="34" charset="-122"/>
                <a:cs typeface="Calibri" pitchFamily="34" charset="-120"/>
              </a:rPr>
              <a:t>Ho’oponopono repair</a:t>
            </a:r>
            <a:endParaRPr lang="en-US" sz="1400" dirty="0"/>
          </a:p>
        </p:txBody>
      </p:sp>
      <p:sp>
        <p:nvSpPr>
          <p:cNvPr id="9" name="Text 7"/>
          <p:cNvSpPr/>
          <p:nvPr/>
        </p:nvSpPr>
        <p:spPr>
          <a:xfrm>
            <a:off x="8183880" y="1984248"/>
            <a:ext cx="2651760" cy="402336"/>
          </a:xfrm>
          <a:prstGeom prst="rect">
            <a:avLst/>
          </a:prstGeom>
          <a:noFill/>
          <a:ln/>
        </p:spPr>
        <p:txBody>
          <a:bodyPr wrap="square" lIns="0" tIns="0" rIns="0" bIns="0" rtlCol="0" anchor="ctr"/>
          <a:lstStyle/>
          <a:p>
            <a:pPr indent="0" marL="0">
              <a:lnSpc>
                <a:spcPts val="1300"/>
              </a:lnSpc>
              <a:buNone/>
            </a:pPr>
            <a:r>
              <a:rPr lang="en-US" sz="1000" dirty="0">
                <a:solidFill>
                  <a:srgbClr val="7A6A64"/>
                </a:solidFill>
                <a:latin typeface="Calibri" pitchFamily="34" charset="0"/>
                <a:ea typeface="Calibri" pitchFamily="34" charset="-122"/>
                <a:cs typeface="Calibri" pitchFamily="34" charset="-120"/>
              </a:rPr>
              <a:t>For the heavier wrongs — said face to face, both ways.</a:t>
            </a:r>
            <a:endParaRPr lang="en-US" sz="1000" dirty="0"/>
          </a:p>
        </p:txBody>
      </p:sp>
      <p:sp>
        <p:nvSpPr>
          <p:cNvPr id="10" name="Shape 8"/>
          <p:cNvSpPr/>
          <p:nvPr/>
        </p:nvSpPr>
        <p:spPr>
          <a:xfrm>
            <a:off x="8202168" y="2542032"/>
            <a:ext cx="100584" cy="100584"/>
          </a:xfrm>
          <a:prstGeom prst="ellipse">
            <a:avLst/>
          </a:prstGeom>
          <a:solidFill>
            <a:srgbClr val="A26769"/>
          </a:solidFill>
          <a:ln/>
        </p:spPr>
      </p:sp>
      <p:sp>
        <p:nvSpPr>
          <p:cNvPr id="11" name="Text 9"/>
          <p:cNvSpPr/>
          <p:nvPr/>
        </p:nvSpPr>
        <p:spPr>
          <a:xfrm>
            <a:off x="8458200" y="2450592"/>
            <a:ext cx="2377440" cy="274320"/>
          </a:xfrm>
          <a:prstGeom prst="rect">
            <a:avLst/>
          </a:prstGeom>
          <a:noFill/>
          <a:ln/>
        </p:spPr>
        <p:txBody>
          <a:bodyPr wrap="square" lIns="0" tIns="0" rIns="0" bIns="0" rtlCol="0" anchor="ctr"/>
          <a:lstStyle/>
          <a:p>
            <a:pPr indent="0" marL="0">
              <a:buNone/>
            </a:pPr>
            <a:r>
              <a:rPr lang="en-US" sz="1250" b="1" dirty="0">
                <a:solidFill>
                  <a:srgbClr val="2B2320"/>
                </a:solidFill>
                <a:latin typeface="Calibri" pitchFamily="34" charset="0"/>
                <a:ea typeface="Calibri" pitchFamily="34" charset="-122"/>
                <a:cs typeface="Calibri" pitchFamily="34" charset="-120"/>
              </a:rPr>
              <a:t>I’m sorry</a:t>
            </a:r>
            <a:endParaRPr lang="en-US" sz="1250" dirty="0"/>
          </a:p>
        </p:txBody>
      </p:sp>
      <p:sp>
        <p:nvSpPr>
          <p:cNvPr id="12" name="Shape 10"/>
          <p:cNvSpPr/>
          <p:nvPr/>
        </p:nvSpPr>
        <p:spPr>
          <a:xfrm>
            <a:off x="8202168" y="2880360"/>
            <a:ext cx="100584" cy="100584"/>
          </a:xfrm>
          <a:prstGeom prst="ellipse">
            <a:avLst/>
          </a:prstGeom>
          <a:solidFill>
            <a:srgbClr val="A26769"/>
          </a:solidFill>
          <a:ln/>
        </p:spPr>
      </p:sp>
      <p:sp>
        <p:nvSpPr>
          <p:cNvPr id="13" name="Text 11"/>
          <p:cNvSpPr/>
          <p:nvPr/>
        </p:nvSpPr>
        <p:spPr>
          <a:xfrm>
            <a:off x="8458200" y="2788920"/>
            <a:ext cx="2377440" cy="274320"/>
          </a:xfrm>
          <a:prstGeom prst="rect">
            <a:avLst/>
          </a:prstGeom>
          <a:noFill/>
          <a:ln/>
        </p:spPr>
        <p:txBody>
          <a:bodyPr wrap="square" lIns="0" tIns="0" rIns="0" bIns="0" rtlCol="0" anchor="ctr"/>
          <a:lstStyle/>
          <a:p>
            <a:pPr indent="0" marL="0">
              <a:buNone/>
            </a:pPr>
            <a:r>
              <a:rPr lang="en-US" sz="1250" b="1" dirty="0">
                <a:solidFill>
                  <a:srgbClr val="2B2320"/>
                </a:solidFill>
                <a:latin typeface="Calibri" pitchFamily="34" charset="0"/>
                <a:ea typeface="Calibri" pitchFamily="34" charset="-122"/>
                <a:cs typeface="Calibri" pitchFamily="34" charset="-120"/>
              </a:rPr>
              <a:t>I love you</a:t>
            </a:r>
            <a:endParaRPr lang="en-US" sz="1250" dirty="0"/>
          </a:p>
        </p:txBody>
      </p:sp>
      <p:sp>
        <p:nvSpPr>
          <p:cNvPr id="14" name="Shape 12"/>
          <p:cNvSpPr/>
          <p:nvPr/>
        </p:nvSpPr>
        <p:spPr>
          <a:xfrm>
            <a:off x="8202168" y="3218688"/>
            <a:ext cx="100584" cy="100584"/>
          </a:xfrm>
          <a:prstGeom prst="ellipse">
            <a:avLst/>
          </a:prstGeom>
          <a:solidFill>
            <a:srgbClr val="A26769"/>
          </a:solidFill>
          <a:ln/>
        </p:spPr>
      </p:sp>
      <p:sp>
        <p:nvSpPr>
          <p:cNvPr id="15" name="Text 13"/>
          <p:cNvSpPr/>
          <p:nvPr/>
        </p:nvSpPr>
        <p:spPr>
          <a:xfrm>
            <a:off x="8458200" y="3127248"/>
            <a:ext cx="2377440" cy="274320"/>
          </a:xfrm>
          <a:prstGeom prst="rect">
            <a:avLst/>
          </a:prstGeom>
          <a:noFill/>
          <a:ln/>
        </p:spPr>
        <p:txBody>
          <a:bodyPr wrap="square" lIns="0" tIns="0" rIns="0" bIns="0" rtlCol="0" anchor="ctr"/>
          <a:lstStyle/>
          <a:p>
            <a:pPr indent="0" marL="0">
              <a:buNone/>
            </a:pPr>
            <a:r>
              <a:rPr lang="en-US" sz="1250" b="1" dirty="0">
                <a:solidFill>
                  <a:srgbClr val="2B2320"/>
                </a:solidFill>
                <a:latin typeface="Calibri" pitchFamily="34" charset="0"/>
                <a:ea typeface="Calibri" pitchFamily="34" charset="-122"/>
                <a:cs typeface="Calibri" pitchFamily="34" charset="-120"/>
              </a:rPr>
              <a:t>Please forgive me</a:t>
            </a:r>
            <a:endParaRPr lang="en-US" sz="1250" dirty="0"/>
          </a:p>
        </p:txBody>
      </p:sp>
      <p:sp>
        <p:nvSpPr>
          <p:cNvPr id="16" name="Shape 14"/>
          <p:cNvSpPr/>
          <p:nvPr/>
        </p:nvSpPr>
        <p:spPr>
          <a:xfrm>
            <a:off x="8202168" y="3557016"/>
            <a:ext cx="100584" cy="100584"/>
          </a:xfrm>
          <a:prstGeom prst="ellipse">
            <a:avLst/>
          </a:prstGeom>
          <a:solidFill>
            <a:srgbClr val="A26769"/>
          </a:solidFill>
          <a:ln/>
        </p:spPr>
      </p:sp>
      <p:sp>
        <p:nvSpPr>
          <p:cNvPr id="17" name="Text 15"/>
          <p:cNvSpPr/>
          <p:nvPr/>
        </p:nvSpPr>
        <p:spPr>
          <a:xfrm>
            <a:off x="8458200" y="3465576"/>
            <a:ext cx="2377440" cy="274320"/>
          </a:xfrm>
          <a:prstGeom prst="rect">
            <a:avLst/>
          </a:prstGeom>
          <a:noFill/>
          <a:ln/>
        </p:spPr>
        <p:txBody>
          <a:bodyPr wrap="square" lIns="0" tIns="0" rIns="0" bIns="0" rtlCol="0" anchor="ctr"/>
          <a:lstStyle/>
          <a:p>
            <a:pPr indent="0" marL="0">
              <a:buNone/>
            </a:pPr>
            <a:r>
              <a:rPr lang="en-US" sz="1250" b="1" dirty="0">
                <a:solidFill>
                  <a:srgbClr val="2B2320"/>
                </a:solidFill>
                <a:latin typeface="Calibri" pitchFamily="34" charset="0"/>
                <a:ea typeface="Calibri" pitchFamily="34" charset="-122"/>
                <a:cs typeface="Calibri" pitchFamily="34" charset="-120"/>
              </a:rPr>
              <a:t>Thank you</a:t>
            </a:r>
            <a:endParaRPr lang="en-US" sz="1250" dirty="0"/>
          </a:p>
        </p:txBody>
      </p:sp>
      <p:sp>
        <p:nvSpPr>
          <p:cNvPr id="18" name="Shape 16"/>
          <p:cNvSpPr/>
          <p:nvPr/>
        </p:nvSpPr>
        <p:spPr>
          <a:xfrm>
            <a:off x="640080" y="4069080"/>
            <a:ext cx="10881360" cy="1371600"/>
          </a:xfrm>
          <a:prstGeom prst="roundRect">
            <a:avLst>
              <a:gd name="adj" fmla="val 6667"/>
            </a:avLst>
          </a:prstGeom>
          <a:solidFill>
            <a:srgbClr val="FFFFFF"/>
          </a:solidFill>
          <a:ln/>
          <a:effectLst>
            <a:outerShdw sx="100000" sy="100000" kx="0" ky="0" algn="bl" rotWithShape="0" blurRad="101600" dist="25400" dir="5400000">
              <a:srgbClr val="6D2E46">
                <a:alpha val="10000"/>
              </a:srgbClr>
            </a:outerShdw>
          </a:effectLst>
        </p:spPr>
      </p:sp>
      <p:sp>
        <p:nvSpPr>
          <p:cNvPr id="19" name="Text 17"/>
          <p:cNvSpPr/>
          <p:nvPr/>
        </p:nvSpPr>
        <p:spPr>
          <a:xfrm>
            <a:off x="1005840" y="4251960"/>
            <a:ext cx="5486400" cy="274320"/>
          </a:xfrm>
          <a:prstGeom prst="rect">
            <a:avLst/>
          </a:prstGeom>
          <a:noFill/>
          <a:ln/>
        </p:spPr>
        <p:txBody>
          <a:bodyPr wrap="square" lIns="0" tIns="0" rIns="0" bIns="0" rtlCol="0" anchor="ctr"/>
          <a:lstStyle/>
          <a:p>
            <a:pPr indent="0" marL="0">
              <a:buNone/>
            </a:pPr>
            <a:r>
              <a:rPr lang="en-US" sz="1300" b="1" dirty="0">
                <a:solidFill>
                  <a:srgbClr val="6D2E46"/>
                </a:solidFill>
                <a:latin typeface="Calibri" pitchFamily="34" charset="0"/>
                <a:ea typeface="Calibri" pitchFamily="34" charset="-122"/>
                <a:cs typeface="Calibri" pitchFamily="34" charset="-120"/>
              </a:rPr>
              <a:t>Taught alongside: The 3 Levels of Relationship</a:t>
            </a:r>
            <a:endParaRPr lang="en-US" sz="1300" dirty="0"/>
          </a:p>
        </p:txBody>
      </p:sp>
      <p:sp>
        <p:nvSpPr>
          <p:cNvPr id="20" name="Shape 18"/>
          <p:cNvSpPr/>
          <p:nvPr/>
        </p:nvSpPr>
        <p:spPr>
          <a:xfrm>
            <a:off x="1005840" y="4626864"/>
            <a:ext cx="274320" cy="274320"/>
          </a:xfrm>
          <a:prstGeom prst="ellipse">
            <a:avLst/>
          </a:prstGeom>
          <a:solidFill>
            <a:srgbClr val="A26769"/>
          </a:solidFill>
          <a:ln/>
        </p:spPr>
      </p:sp>
      <p:sp>
        <p:nvSpPr>
          <p:cNvPr id="21" name="Text 19"/>
          <p:cNvSpPr/>
          <p:nvPr/>
        </p:nvSpPr>
        <p:spPr>
          <a:xfrm>
            <a:off x="1005840" y="46268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2" name="Text 20"/>
          <p:cNvSpPr/>
          <p:nvPr/>
        </p:nvSpPr>
        <p:spPr>
          <a:xfrm>
            <a:off x="1389888" y="4590288"/>
            <a:ext cx="3108960" cy="256032"/>
          </a:xfrm>
          <a:prstGeom prst="rect">
            <a:avLst/>
          </a:prstGeom>
          <a:noFill/>
          <a:ln/>
        </p:spPr>
        <p:txBody>
          <a:bodyPr wrap="square" lIns="0" tIns="0" rIns="0" bIns="0" rtlCol="0" anchor="ctr"/>
          <a:lstStyle/>
          <a:p>
            <a:pPr indent="0" marL="0">
              <a:buNone/>
            </a:pPr>
            <a:r>
              <a:rPr lang="en-US" sz="1150" b="1" dirty="0">
                <a:solidFill>
                  <a:srgbClr val="2B2320"/>
                </a:solidFill>
                <a:latin typeface="Calibri" pitchFamily="34" charset="0"/>
                <a:ea typeface="Calibri" pitchFamily="34" charset="-122"/>
                <a:cs typeface="Calibri" pitchFamily="34" charset="-120"/>
              </a:rPr>
              <a:t>It’s all about me</a:t>
            </a:r>
            <a:endParaRPr lang="en-US" sz="1150" dirty="0"/>
          </a:p>
        </p:txBody>
      </p:sp>
      <p:sp>
        <p:nvSpPr>
          <p:cNvPr id="23" name="Text 21"/>
          <p:cNvSpPr/>
          <p:nvPr/>
        </p:nvSpPr>
        <p:spPr>
          <a:xfrm>
            <a:off x="1389888" y="4846320"/>
            <a:ext cx="3108960" cy="457200"/>
          </a:xfrm>
          <a:prstGeom prst="rect">
            <a:avLst/>
          </a:prstGeom>
          <a:noFill/>
          <a:ln/>
        </p:spPr>
        <p:txBody>
          <a:bodyPr wrap="square" lIns="0" tIns="0" rIns="0" bIns="0" rtlCol="0" anchor="ctr"/>
          <a:lstStyle/>
          <a:p>
            <a:pPr indent="0" marL="0">
              <a:lnSpc>
                <a:spcPts val="1300"/>
              </a:lnSpc>
              <a:buNone/>
            </a:pPr>
            <a:r>
              <a:rPr lang="en-US" sz="1000" dirty="0">
                <a:solidFill>
                  <a:srgbClr val="7A6A64"/>
                </a:solidFill>
                <a:latin typeface="Calibri" pitchFamily="34" charset="0"/>
                <a:ea typeface="Calibri" pitchFamily="34" charset="-122"/>
                <a:cs typeface="Calibri" pitchFamily="34" charset="-120"/>
              </a:rPr>
              <a:t>You focus only on what you’re not getting.</a:t>
            </a:r>
            <a:endParaRPr lang="en-US" sz="1000" dirty="0"/>
          </a:p>
        </p:txBody>
      </p:sp>
      <p:sp>
        <p:nvSpPr>
          <p:cNvPr id="24" name="Shape 22"/>
          <p:cNvSpPr/>
          <p:nvPr/>
        </p:nvSpPr>
        <p:spPr>
          <a:xfrm>
            <a:off x="4617720" y="4626864"/>
            <a:ext cx="274320" cy="274320"/>
          </a:xfrm>
          <a:prstGeom prst="ellipse">
            <a:avLst/>
          </a:prstGeom>
          <a:solidFill>
            <a:srgbClr val="A26769"/>
          </a:solidFill>
          <a:ln/>
        </p:spPr>
      </p:sp>
      <p:sp>
        <p:nvSpPr>
          <p:cNvPr id="25" name="Text 23"/>
          <p:cNvSpPr/>
          <p:nvPr/>
        </p:nvSpPr>
        <p:spPr>
          <a:xfrm>
            <a:off x="4617720" y="46268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Text 24"/>
          <p:cNvSpPr/>
          <p:nvPr/>
        </p:nvSpPr>
        <p:spPr>
          <a:xfrm>
            <a:off x="5001768" y="4590288"/>
            <a:ext cx="3108960" cy="256032"/>
          </a:xfrm>
          <a:prstGeom prst="rect">
            <a:avLst/>
          </a:prstGeom>
          <a:noFill/>
          <a:ln/>
        </p:spPr>
        <p:txBody>
          <a:bodyPr wrap="square" lIns="0" tIns="0" rIns="0" bIns="0" rtlCol="0" anchor="ctr"/>
          <a:lstStyle/>
          <a:p>
            <a:pPr indent="0" marL="0">
              <a:buNone/>
            </a:pPr>
            <a:r>
              <a:rPr lang="en-US" sz="1150" b="1" dirty="0">
                <a:solidFill>
                  <a:srgbClr val="2B2320"/>
                </a:solidFill>
                <a:latin typeface="Calibri" pitchFamily="34" charset="0"/>
                <a:ea typeface="Calibri" pitchFamily="34" charset="-122"/>
                <a:cs typeface="Calibri" pitchFamily="34" charset="-120"/>
              </a:rPr>
              <a:t>It’s about equality</a:t>
            </a:r>
            <a:endParaRPr lang="en-US" sz="1150" dirty="0"/>
          </a:p>
        </p:txBody>
      </p:sp>
      <p:sp>
        <p:nvSpPr>
          <p:cNvPr id="27" name="Text 25"/>
          <p:cNvSpPr/>
          <p:nvPr/>
        </p:nvSpPr>
        <p:spPr>
          <a:xfrm>
            <a:off x="5001768" y="4846320"/>
            <a:ext cx="3108960" cy="457200"/>
          </a:xfrm>
          <a:prstGeom prst="rect">
            <a:avLst/>
          </a:prstGeom>
          <a:noFill/>
          <a:ln/>
        </p:spPr>
        <p:txBody>
          <a:bodyPr wrap="square" lIns="0" tIns="0" rIns="0" bIns="0" rtlCol="0" anchor="ctr"/>
          <a:lstStyle/>
          <a:p>
            <a:pPr indent="0" marL="0">
              <a:lnSpc>
                <a:spcPts val="1300"/>
              </a:lnSpc>
              <a:buNone/>
            </a:pPr>
            <a:r>
              <a:rPr lang="en-US" sz="1000" dirty="0">
                <a:solidFill>
                  <a:srgbClr val="7A6A64"/>
                </a:solidFill>
                <a:latin typeface="Calibri" pitchFamily="34" charset="0"/>
                <a:ea typeface="Calibri" pitchFamily="34" charset="-122"/>
                <a:cs typeface="Calibri" pitchFamily="34" charset="-120"/>
              </a:rPr>
              <a:t>You give back only what you get. You’re measuring.</a:t>
            </a:r>
            <a:endParaRPr lang="en-US" sz="1000" dirty="0"/>
          </a:p>
        </p:txBody>
      </p:sp>
      <p:sp>
        <p:nvSpPr>
          <p:cNvPr id="28" name="Shape 26"/>
          <p:cNvSpPr/>
          <p:nvPr/>
        </p:nvSpPr>
        <p:spPr>
          <a:xfrm>
            <a:off x="8229600" y="4626864"/>
            <a:ext cx="274320" cy="274320"/>
          </a:xfrm>
          <a:prstGeom prst="ellipse">
            <a:avLst/>
          </a:prstGeom>
          <a:solidFill>
            <a:srgbClr val="6D2E46"/>
          </a:solidFill>
          <a:ln/>
        </p:spPr>
      </p:sp>
      <p:sp>
        <p:nvSpPr>
          <p:cNvPr id="29" name="Text 27"/>
          <p:cNvSpPr/>
          <p:nvPr/>
        </p:nvSpPr>
        <p:spPr>
          <a:xfrm>
            <a:off x="8229600" y="46268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0" name="Text 28"/>
          <p:cNvSpPr/>
          <p:nvPr/>
        </p:nvSpPr>
        <p:spPr>
          <a:xfrm>
            <a:off x="8613648" y="4590288"/>
            <a:ext cx="3108960" cy="256032"/>
          </a:xfrm>
          <a:prstGeom prst="rect">
            <a:avLst/>
          </a:prstGeom>
          <a:noFill/>
          <a:ln/>
        </p:spPr>
        <p:txBody>
          <a:bodyPr wrap="square" lIns="0" tIns="0" rIns="0" bIns="0" rtlCol="0" anchor="ctr"/>
          <a:lstStyle/>
          <a:p>
            <a:pPr indent="0" marL="0">
              <a:buNone/>
            </a:pPr>
            <a:r>
              <a:rPr lang="en-US" sz="1150" b="1" dirty="0">
                <a:solidFill>
                  <a:srgbClr val="2B2320"/>
                </a:solidFill>
                <a:latin typeface="Calibri" pitchFamily="34" charset="0"/>
                <a:ea typeface="Calibri" pitchFamily="34" charset="-122"/>
                <a:cs typeface="Calibri" pitchFamily="34" charset="-120"/>
              </a:rPr>
              <a:t>It’s all about the other</a:t>
            </a:r>
            <a:endParaRPr lang="en-US" sz="1150" dirty="0"/>
          </a:p>
        </p:txBody>
      </p:sp>
      <p:sp>
        <p:nvSpPr>
          <p:cNvPr id="31" name="Text 29"/>
          <p:cNvSpPr/>
          <p:nvPr/>
        </p:nvSpPr>
        <p:spPr>
          <a:xfrm>
            <a:off x="8613648" y="4846320"/>
            <a:ext cx="3108960" cy="457200"/>
          </a:xfrm>
          <a:prstGeom prst="rect">
            <a:avLst/>
          </a:prstGeom>
          <a:noFill/>
          <a:ln/>
        </p:spPr>
        <p:txBody>
          <a:bodyPr wrap="square" lIns="0" tIns="0" rIns="0" bIns="0" rtlCol="0" anchor="ctr"/>
          <a:lstStyle/>
          <a:p>
            <a:pPr indent="0" marL="0">
              <a:lnSpc>
                <a:spcPts val="1300"/>
              </a:lnSpc>
              <a:buNone/>
            </a:pPr>
            <a:r>
              <a:rPr lang="en-US" sz="1000" dirty="0">
                <a:solidFill>
                  <a:srgbClr val="7A6A64"/>
                </a:solidFill>
                <a:latin typeface="Calibri" pitchFamily="34" charset="0"/>
                <a:ea typeface="Calibri" pitchFamily="34" charset="-122"/>
                <a:cs typeface="Calibri" pitchFamily="34" charset="-120"/>
              </a:rPr>
              <a:t>You put their needs first and fill them at a 10, unconditionally.</a:t>
            </a:r>
            <a:endParaRPr lang="en-US" sz="1000" dirty="0"/>
          </a:p>
        </p:txBody>
      </p:sp>
      <p:sp>
        <p:nvSpPr>
          <p:cNvPr id="32" name="Text 30"/>
          <p:cNvSpPr/>
          <p:nvPr/>
        </p:nvSpPr>
        <p:spPr>
          <a:xfrm>
            <a:off x="640080" y="6291072"/>
            <a:ext cx="10881360" cy="292608"/>
          </a:xfrm>
          <a:prstGeom prst="rect">
            <a:avLst/>
          </a:prstGeom>
          <a:noFill/>
          <a:ln/>
        </p:spPr>
        <p:txBody>
          <a:bodyPr wrap="square" lIns="0" tIns="0" rIns="0" bIns="0" rtlCol="0" anchor="ctr"/>
          <a:lstStyle/>
          <a:p>
            <a:pPr indent="0" marL="0">
              <a:buNone/>
            </a:pPr>
            <a:r>
              <a:rPr lang="en-US" sz="1000" i="1" dirty="0">
                <a:solidFill>
                  <a:srgbClr val="7A6A64"/>
                </a:solidFill>
                <a:latin typeface="Calibri" pitchFamily="34" charset="0"/>
                <a:ea typeface="Calibri" pitchFamily="34" charset="-122"/>
                <a:cs typeface="Calibri" pitchFamily="34" charset="-120"/>
              </a:rPr>
              <a:t>The couples intervention runs 5 sessions, 9–13 hours total. Copyright Luke Hawkins Coaching 2019.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8192E"/>
        </a:solidFill>
      </p:bgPr>
    </p:bg>
    <p:spTree>
      <p:nvGrpSpPr>
        <p:cNvPr id="1" name=""/>
        <p:cNvGrpSpPr/>
        <p:nvPr/>
      </p:nvGrpSpPr>
      <p:grpSpPr>
        <a:xfrm>
          <a:off x="0" y="0"/>
          <a:ext cx="0" cy="0"/>
          <a:chOff x="0" y="0"/>
          <a:chExt cx="0" cy="0"/>
        </a:xfrm>
      </p:grpSpPr>
      <p:sp>
        <p:nvSpPr>
          <p:cNvPr id="2" name="Text 0"/>
          <p:cNvSpPr/>
          <p:nvPr/>
        </p:nvSpPr>
        <p:spPr>
          <a:xfrm>
            <a:off x="640080" y="411480"/>
            <a:ext cx="7315200" cy="274320"/>
          </a:xfrm>
          <a:prstGeom prst="rect">
            <a:avLst/>
          </a:prstGeom>
          <a:noFill/>
          <a:ln/>
        </p:spPr>
        <p:txBody>
          <a:bodyPr wrap="square" lIns="0" tIns="0" rIns="0" bIns="0" rtlCol="0" anchor="ctr"/>
          <a:lstStyle/>
          <a:p>
            <a:pPr indent="0" marL="0">
              <a:buNone/>
            </a:pPr>
            <a:r>
              <a:rPr lang="en-US" sz="1100" b="1" spc="200" kern="0" dirty="0">
                <a:solidFill>
                  <a:srgbClr val="C08A3E"/>
                </a:solidFill>
                <a:latin typeface="Calibri" pitchFamily="34" charset="0"/>
                <a:ea typeface="Calibri" pitchFamily="34" charset="-122"/>
                <a:cs typeface="Calibri" pitchFamily="34" charset="-120"/>
              </a:rPr>
              <a:t>MODEL 07</a:t>
            </a:r>
            <a:endParaRPr lang="en-US" sz="1100" dirty="0"/>
          </a:p>
        </p:txBody>
      </p:sp>
      <p:sp>
        <p:nvSpPr>
          <p:cNvPr id="3" name="Text 1"/>
          <p:cNvSpPr/>
          <p:nvPr/>
        </p:nvSpPr>
        <p:spPr>
          <a:xfrm>
            <a:off x="640080" y="749808"/>
            <a:ext cx="108813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Relationship Coaching Framework</a:t>
            </a:r>
            <a:endParaRPr lang="en-US" sz="3400" dirty="0"/>
          </a:p>
        </p:txBody>
      </p:sp>
      <p:sp>
        <p:nvSpPr>
          <p:cNvPr id="4" name="Text 2"/>
          <p:cNvSpPr/>
          <p:nvPr/>
        </p:nvSpPr>
        <p:spPr>
          <a:xfrm>
            <a:off x="640080" y="1444752"/>
            <a:ext cx="8686800" cy="320040"/>
          </a:xfrm>
          <a:prstGeom prst="rect">
            <a:avLst/>
          </a:prstGeom>
          <a:noFill/>
          <a:ln/>
        </p:spPr>
        <p:txBody>
          <a:bodyPr wrap="square" lIns="0" tIns="0" rIns="0" bIns="0" rtlCol="0" anchor="ctr"/>
          <a:lstStyle/>
          <a:p>
            <a:pPr indent="0" marL="0">
              <a:buNone/>
            </a:pPr>
            <a:r>
              <a:rPr lang="en-US" sz="1350" dirty="0">
                <a:solidFill>
                  <a:srgbClr val="D9C4C9"/>
                </a:solidFill>
                <a:latin typeface="Calibri" pitchFamily="34" charset="0"/>
                <a:ea typeface="Calibri" pitchFamily="34" charset="-122"/>
                <a:cs typeface="Calibri" pitchFamily="34" charset="-120"/>
              </a:rPr>
              <a:t>The five-step container the communication models sit inside when you’re coaching a couple.</a:t>
            </a:r>
            <a:endParaRPr lang="en-US" sz="1350" dirty="0"/>
          </a:p>
        </p:txBody>
      </p:sp>
      <p:sp>
        <p:nvSpPr>
          <p:cNvPr id="5" name="Shape 3"/>
          <p:cNvSpPr/>
          <p:nvPr/>
        </p:nvSpPr>
        <p:spPr>
          <a:xfrm>
            <a:off x="640080" y="1965960"/>
            <a:ext cx="10881360" cy="749808"/>
          </a:xfrm>
          <a:prstGeom prst="roundRect">
            <a:avLst>
              <a:gd name="adj" fmla="val 9756"/>
            </a:avLst>
          </a:prstGeom>
          <a:solidFill>
            <a:srgbClr val="FFFFFF">
              <a:alpha val="8000"/>
            </a:srgbClr>
          </a:solidFill>
          <a:ln/>
        </p:spPr>
      </p:sp>
      <p:sp>
        <p:nvSpPr>
          <p:cNvPr id="6" name="Shape 4"/>
          <p:cNvSpPr/>
          <p:nvPr/>
        </p:nvSpPr>
        <p:spPr>
          <a:xfrm>
            <a:off x="896112" y="2139696"/>
            <a:ext cx="402336" cy="402336"/>
          </a:xfrm>
          <a:prstGeom prst="ellipse">
            <a:avLst/>
          </a:prstGeom>
          <a:solidFill>
            <a:srgbClr val="C08A3E"/>
          </a:solidFill>
          <a:ln/>
        </p:spPr>
      </p:sp>
      <p:sp>
        <p:nvSpPr>
          <p:cNvPr id="7" name="Text 5"/>
          <p:cNvSpPr/>
          <p:nvPr/>
        </p:nvSpPr>
        <p:spPr>
          <a:xfrm>
            <a:off x="896112" y="2139696"/>
            <a:ext cx="402336" cy="402336"/>
          </a:xfrm>
          <a:prstGeom prst="rect">
            <a:avLst/>
          </a:prstGeom>
          <a:noFill/>
          <a:ln/>
        </p:spPr>
        <p:txBody>
          <a:bodyPr wrap="square" lIns="0" tIns="0" rIns="0" bIns="0" rtlCol="0" anchor="ctr"/>
          <a:lstStyle/>
          <a:p>
            <a:pPr algn="ctr" indent="0" marL="0">
              <a:buNone/>
            </a:pPr>
            <a:r>
              <a:rPr lang="en-US" sz="1600" b="1" dirty="0">
                <a:solidFill>
                  <a:srgbClr val="48192E"/>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481328" y="2066544"/>
            <a:ext cx="292608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Resolve the past</a:t>
            </a:r>
            <a:endParaRPr lang="en-US" sz="1350" dirty="0"/>
          </a:p>
        </p:txBody>
      </p:sp>
      <p:sp>
        <p:nvSpPr>
          <p:cNvPr id="9" name="Text 7"/>
          <p:cNvSpPr/>
          <p:nvPr/>
        </p:nvSpPr>
        <p:spPr>
          <a:xfrm>
            <a:off x="4480560" y="2039112"/>
            <a:ext cx="6675120" cy="603504"/>
          </a:xfrm>
          <a:prstGeom prst="rect">
            <a:avLst/>
          </a:prstGeom>
          <a:noFill/>
          <a:ln/>
        </p:spPr>
        <p:txBody>
          <a:bodyPr wrap="square" lIns="0" tIns="0" rIns="0" bIns="0" rtlCol="0" anchor="ctr"/>
          <a:lstStyle/>
          <a:p>
            <a:pPr indent="0" marL="0">
              <a:lnSpc>
                <a:spcPts val="1500"/>
              </a:lnSpc>
              <a:buNone/>
            </a:pPr>
            <a:r>
              <a:rPr lang="en-US" sz="1100" dirty="0">
                <a:solidFill>
                  <a:srgbClr val="E0CED3"/>
                </a:solidFill>
                <a:latin typeface="Calibri" pitchFamily="34" charset="0"/>
                <a:ea typeface="Calibri" pitchFamily="34" charset="-122"/>
                <a:cs typeface="Calibri" pitchFamily="34" charset="-120"/>
              </a:rPr>
              <a:t>Top 1–3 core issues, top 3–5 significant emotional events, and which two of the Four Horsemen each partner goes to under stress.</a:t>
            </a:r>
            <a:endParaRPr lang="en-US" sz="1100" dirty="0"/>
          </a:p>
        </p:txBody>
      </p:sp>
      <p:sp>
        <p:nvSpPr>
          <p:cNvPr id="10" name="Shape 8"/>
          <p:cNvSpPr/>
          <p:nvPr/>
        </p:nvSpPr>
        <p:spPr>
          <a:xfrm>
            <a:off x="640080" y="2816352"/>
            <a:ext cx="10881360" cy="749808"/>
          </a:xfrm>
          <a:prstGeom prst="roundRect">
            <a:avLst>
              <a:gd name="adj" fmla="val 9756"/>
            </a:avLst>
          </a:prstGeom>
          <a:solidFill>
            <a:srgbClr val="FFFFFF">
              <a:alpha val="8000"/>
            </a:srgbClr>
          </a:solidFill>
          <a:ln/>
        </p:spPr>
      </p:sp>
      <p:sp>
        <p:nvSpPr>
          <p:cNvPr id="11" name="Shape 9"/>
          <p:cNvSpPr/>
          <p:nvPr/>
        </p:nvSpPr>
        <p:spPr>
          <a:xfrm>
            <a:off x="896112" y="2990088"/>
            <a:ext cx="402336" cy="402336"/>
          </a:xfrm>
          <a:prstGeom prst="ellipse">
            <a:avLst/>
          </a:prstGeom>
          <a:solidFill>
            <a:srgbClr val="C08A3E"/>
          </a:solidFill>
          <a:ln/>
        </p:spPr>
      </p:sp>
      <p:sp>
        <p:nvSpPr>
          <p:cNvPr id="12" name="Text 10"/>
          <p:cNvSpPr/>
          <p:nvPr/>
        </p:nvSpPr>
        <p:spPr>
          <a:xfrm>
            <a:off x="896112" y="2990088"/>
            <a:ext cx="402336" cy="402336"/>
          </a:xfrm>
          <a:prstGeom prst="rect">
            <a:avLst/>
          </a:prstGeom>
          <a:noFill/>
          <a:ln/>
        </p:spPr>
        <p:txBody>
          <a:bodyPr wrap="square" lIns="0" tIns="0" rIns="0" bIns="0" rtlCol="0" anchor="ctr"/>
          <a:lstStyle/>
          <a:p>
            <a:pPr algn="ctr" indent="0" marL="0">
              <a:buNone/>
            </a:pPr>
            <a:r>
              <a:rPr lang="en-US" sz="1600" b="1" dirty="0">
                <a:solidFill>
                  <a:srgbClr val="48192E"/>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481328" y="2916936"/>
            <a:ext cx="292608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Meet each other’s needs</a:t>
            </a:r>
            <a:endParaRPr lang="en-US" sz="1350" dirty="0"/>
          </a:p>
        </p:txBody>
      </p:sp>
      <p:sp>
        <p:nvSpPr>
          <p:cNvPr id="14" name="Text 12"/>
          <p:cNvSpPr/>
          <p:nvPr/>
        </p:nvSpPr>
        <p:spPr>
          <a:xfrm>
            <a:off x="4480560" y="2889504"/>
            <a:ext cx="6675120" cy="603504"/>
          </a:xfrm>
          <a:prstGeom prst="rect">
            <a:avLst/>
          </a:prstGeom>
          <a:noFill/>
          <a:ln/>
        </p:spPr>
        <p:txBody>
          <a:bodyPr wrap="square" lIns="0" tIns="0" rIns="0" bIns="0" rtlCol="0" anchor="ctr"/>
          <a:lstStyle/>
          <a:p>
            <a:pPr indent="0" marL="0">
              <a:lnSpc>
                <a:spcPts val="1500"/>
              </a:lnSpc>
              <a:buNone/>
            </a:pPr>
            <a:r>
              <a:rPr lang="en-US" sz="1100" dirty="0">
                <a:solidFill>
                  <a:srgbClr val="E0CED3"/>
                </a:solidFill>
                <a:latin typeface="Calibri" pitchFamily="34" charset="0"/>
                <a:ea typeface="Calibri" pitchFamily="34" charset="-122"/>
                <a:cs typeface="Calibri" pitchFamily="34" charset="-120"/>
              </a:rPr>
              <a:t>Score how well each is meeting the other’s 5 human needs, 0–10, and define what would make each a 10.</a:t>
            </a:r>
            <a:endParaRPr lang="en-US" sz="1100" dirty="0"/>
          </a:p>
        </p:txBody>
      </p:sp>
      <p:sp>
        <p:nvSpPr>
          <p:cNvPr id="15" name="Shape 13"/>
          <p:cNvSpPr/>
          <p:nvPr/>
        </p:nvSpPr>
        <p:spPr>
          <a:xfrm>
            <a:off x="640080" y="3666744"/>
            <a:ext cx="10881360" cy="749808"/>
          </a:xfrm>
          <a:prstGeom prst="roundRect">
            <a:avLst>
              <a:gd name="adj" fmla="val 9756"/>
            </a:avLst>
          </a:prstGeom>
          <a:solidFill>
            <a:srgbClr val="FFFFFF">
              <a:alpha val="8000"/>
            </a:srgbClr>
          </a:solidFill>
          <a:ln/>
        </p:spPr>
      </p:sp>
      <p:sp>
        <p:nvSpPr>
          <p:cNvPr id="16" name="Shape 14"/>
          <p:cNvSpPr/>
          <p:nvPr/>
        </p:nvSpPr>
        <p:spPr>
          <a:xfrm>
            <a:off x="896112" y="3840480"/>
            <a:ext cx="402336" cy="402336"/>
          </a:xfrm>
          <a:prstGeom prst="ellipse">
            <a:avLst/>
          </a:prstGeom>
          <a:solidFill>
            <a:srgbClr val="C08A3E"/>
          </a:solidFill>
          <a:ln/>
        </p:spPr>
      </p:sp>
      <p:sp>
        <p:nvSpPr>
          <p:cNvPr id="17" name="Text 15"/>
          <p:cNvSpPr/>
          <p:nvPr/>
        </p:nvSpPr>
        <p:spPr>
          <a:xfrm>
            <a:off x="896112" y="3840480"/>
            <a:ext cx="402336" cy="402336"/>
          </a:xfrm>
          <a:prstGeom prst="rect">
            <a:avLst/>
          </a:prstGeom>
          <a:noFill/>
          <a:ln/>
        </p:spPr>
        <p:txBody>
          <a:bodyPr wrap="square" lIns="0" tIns="0" rIns="0" bIns="0" rtlCol="0" anchor="ctr"/>
          <a:lstStyle/>
          <a:p>
            <a:pPr algn="ctr" indent="0" marL="0">
              <a:buNone/>
            </a:pPr>
            <a:r>
              <a:rPr lang="en-US" sz="1600" b="1" dirty="0">
                <a:solidFill>
                  <a:srgbClr val="48192E"/>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481328" y="3767328"/>
            <a:ext cx="292608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Take 100% ownership</a:t>
            </a:r>
            <a:endParaRPr lang="en-US" sz="1350" dirty="0"/>
          </a:p>
        </p:txBody>
      </p:sp>
      <p:sp>
        <p:nvSpPr>
          <p:cNvPr id="19" name="Text 17"/>
          <p:cNvSpPr/>
          <p:nvPr/>
        </p:nvSpPr>
        <p:spPr>
          <a:xfrm>
            <a:off x="4480560" y="3739896"/>
            <a:ext cx="6675120" cy="603504"/>
          </a:xfrm>
          <a:prstGeom prst="rect">
            <a:avLst/>
          </a:prstGeom>
          <a:noFill/>
          <a:ln/>
        </p:spPr>
        <p:txBody>
          <a:bodyPr wrap="square" lIns="0" tIns="0" rIns="0" bIns="0" rtlCol="0" anchor="ctr"/>
          <a:lstStyle/>
          <a:p>
            <a:pPr indent="0" marL="0">
              <a:lnSpc>
                <a:spcPts val="1500"/>
              </a:lnSpc>
              <a:buNone/>
            </a:pPr>
            <a:r>
              <a:rPr lang="en-US" sz="1100" dirty="0">
                <a:solidFill>
                  <a:srgbClr val="E0CED3"/>
                </a:solidFill>
                <a:latin typeface="Calibri" pitchFamily="34" charset="0"/>
                <a:ea typeface="Calibri" pitchFamily="34" charset="-122"/>
                <a:cs typeface="Calibri" pitchFamily="34" charset="-120"/>
              </a:rPr>
              <a:t>“I fully own I have ___. My intent was ___. This does not excuse my behaviour. I am so sorry I hurt you… Please share how I hurt you and the pain I created.”</a:t>
            </a:r>
            <a:endParaRPr lang="en-US" sz="1100" dirty="0"/>
          </a:p>
        </p:txBody>
      </p:sp>
      <p:sp>
        <p:nvSpPr>
          <p:cNvPr id="20" name="Shape 18"/>
          <p:cNvSpPr/>
          <p:nvPr/>
        </p:nvSpPr>
        <p:spPr>
          <a:xfrm>
            <a:off x="640080" y="4517136"/>
            <a:ext cx="10881360" cy="749808"/>
          </a:xfrm>
          <a:prstGeom prst="roundRect">
            <a:avLst>
              <a:gd name="adj" fmla="val 9756"/>
            </a:avLst>
          </a:prstGeom>
          <a:solidFill>
            <a:srgbClr val="FFFFFF">
              <a:alpha val="8000"/>
            </a:srgbClr>
          </a:solidFill>
          <a:ln/>
        </p:spPr>
      </p:sp>
      <p:sp>
        <p:nvSpPr>
          <p:cNvPr id="21" name="Shape 19"/>
          <p:cNvSpPr/>
          <p:nvPr/>
        </p:nvSpPr>
        <p:spPr>
          <a:xfrm>
            <a:off x="896112" y="4690872"/>
            <a:ext cx="402336" cy="402336"/>
          </a:xfrm>
          <a:prstGeom prst="ellipse">
            <a:avLst/>
          </a:prstGeom>
          <a:solidFill>
            <a:srgbClr val="C08A3E"/>
          </a:solidFill>
          <a:ln/>
        </p:spPr>
      </p:sp>
      <p:sp>
        <p:nvSpPr>
          <p:cNvPr id="22" name="Text 20"/>
          <p:cNvSpPr/>
          <p:nvPr/>
        </p:nvSpPr>
        <p:spPr>
          <a:xfrm>
            <a:off x="896112" y="4690872"/>
            <a:ext cx="402336" cy="402336"/>
          </a:xfrm>
          <a:prstGeom prst="rect">
            <a:avLst/>
          </a:prstGeom>
          <a:noFill/>
          <a:ln/>
        </p:spPr>
        <p:txBody>
          <a:bodyPr wrap="square" lIns="0" tIns="0" rIns="0" bIns="0" rtlCol="0" anchor="ctr"/>
          <a:lstStyle/>
          <a:p>
            <a:pPr algn="ctr" indent="0" marL="0">
              <a:buNone/>
            </a:pPr>
            <a:r>
              <a:rPr lang="en-US" sz="1600" b="1" dirty="0">
                <a:solidFill>
                  <a:srgbClr val="48192E"/>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1481328" y="4617720"/>
            <a:ext cx="292608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Make a commitment</a:t>
            </a:r>
            <a:endParaRPr lang="en-US" sz="1350" dirty="0"/>
          </a:p>
        </p:txBody>
      </p:sp>
      <p:sp>
        <p:nvSpPr>
          <p:cNvPr id="24" name="Text 22"/>
          <p:cNvSpPr/>
          <p:nvPr/>
        </p:nvSpPr>
        <p:spPr>
          <a:xfrm>
            <a:off x="4480560" y="4590288"/>
            <a:ext cx="6675120" cy="603504"/>
          </a:xfrm>
          <a:prstGeom prst="rect">
            <a:avLst/>
          </a:prstGeom>
          <a:noFill/>
          <a:ln/>
        </p:spPr>
        <p:txBody>
          <a:bodyPr wrap="square" lIns="0" tIns="0" rIns="0" bIns="0" rtlCol="0" anchor="ctr"/>
          <a:lstStyle/>
          <a:p>
            <a:pPr indent="0" marL="0">
              <a:lnSpc>
                <a:spcPts val="1500"/>
              </a:lnSpc>
              <a:buNone/>
            </a:pPr>
            <a:r>
              <a:rPr lang="en-US" sz="1100" dirty="0">
                <a:solidFill>
                  <a:srgbClr val="E0CED3"/>
                </a:solidFill>
                <a:latin typeface="Calibri" pitchFamily="34" charset="0"/>
                <a:ea typeface="Calibri" pitchFamily="34" charset="-122"/>
                <a:cs typeface="Calibri" pitchFamily="34" charset="-120"/>
              </a:rPr>
              <a:t>“I commit to ___. You can know this is who I am — I will honour my word from this day forward. I love you so much, you mean ___ to me.”</a:t>
            </a:r>
            <a:endParaRPr lang="en-US" sz="1100" dirty="0"/>
          </a:p>
        </p:txBody>
      </p:sp>
      <p:sp>
        <p:nvSpPr>
          <p:cNvPr id="25" name="Shape 23"/>
          <p:cNvSpPr/>
          <p:nvPr/>
        </p:nvSpPr>
        <p:spPr>
          <a:xfrm>
            <a:off x="640080" y="5367528"/>
            <a:ext cx="10881360" cy="749808"/>
          </a:xfrm>
          <a:prstGeom prst="roundRect">
            <a:avLst>
              <a:gd name="adj" fmla="val 9756"/>
            </a:avLst>
          </a:prstGeom>
          <a:solidFill>
            <a:srgbClr val="FFFFFF">
              <a:alpha val="8000"/>
            </a:srgbClr>
          </a:solidFill>
          <a:ln/>
        </p:spPr>
      </p:sp>
      <p:sp>
        <p:nvSpPr>
          <p:cNvPr id="26" name="Shape 24"/>
          <p:cNvSpPr/>
          <p:nvPr/>
        </p:nvSpPr>
        <p:spPr>
          <a:xfrm>
            <a:off x="896112" y="5541264"/>
            <a:ext cx="402336" cy="402336"/>
          </a:xfrm>
          <a:prstGeom prst="ellipse">
            <a:avLst/>
          </a:prstGeom>
          <a:solidFill>
            <a:srgbClr val="C08A3E"/>
          </a:solidFill>
          <a:ln/>
        </p:spPr>
      </p:sp>
      <p:sp>
        <p:nvSpPr>
          <p:cNvPr id="27" name="Text 25"/>
          <p:cNvSpPr/>
          <p:nvPr/>
        </p:nvSpPr>
        <p:spPr>
          <a:xfrm>
            <a:off x="896112" y="5541264"/>
            <a:ext cx="402336" cy="402336"/>
          </a:xfrm>
          <a:prstGeom prst="rect">
            <a:avLst/>
          </a:prstGeom>
          <a:noFill/>
          <a:ln/>
        </p:spPr>
        <p:txBody>
          <a:bodyPr wrap="square" lIns="0" tIns="0" rIns="0" bIns="0" rtlCol="0" anchor="ctr"/>
          <a:lstStyle/>
          <a:p>
            <a:pPr algn="ctr" indent="0" marL="0">
              <a:buNone/>
            </a:pPr>
            <a:r>
              <a:rPr lang="en-US" sz="1600" b="1" dirty="0">
                <a:solidFill>
                  <a:srgbClr val="48192E"/>
                </a:solidFill>
                <a:latin typeface="Calibri" pitchFamily="34" charset="0"/>
                <a:ea typeface="Calibri" pitchFamily="34" charset="-122"/>
                <a:cs typeface="Calibri" pitchFamily="34" charset="-120"/>
              </a:rPr>
              <a:t>5</a:t>
            </a:r>
            <a:endParaRPr lang="en-US" sz="1600" dirty="0"/>
          </a:p>
        </p:txBody>
      </p:sp>
      <p:sp>
        <p:nvSpPr>
          <p:cNvPr id="28" name="Text 26"/>
          <p:cNvSpPr/>
          <p:nvPr/>
        </p:nvSpPr>
        <p:spPr>
          <a:xfrm>
            <a:off x="1481328" y="5468112"/>
            <a:ext cx="292608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An act of love, and polarity</a:t>
            </a:r>
            <a:endParaRPr lang="en-US" sz="1350" dirty="0"/>
          </a:p>
        </p:txBody>
      </p:sp>
      <p:sp>
        <p:nvSpPr>
          <p:cNvPr id="29" name="Text 27"/>
          <p:cNvSpPr/>
          <p:nvPr/>
        </p:nvSpPr>
        <p:spPr>
          <a:xfrm>
            <a:off x="4480560" y="5440680"/>
            <a:ext cx="6675120" cy="603504"/>
          </a:xfrm>
          <a:prstGeom prst="rect">
            <a:avLst/>
          </a:prstGeom>
          <a:noFill/>
          <a:ln/>
        </p:spPr>
        <p:txBody>
          <a:bodyPr wrap="square" lIns="0" tIns="0" rIns="0" bIns="0" rtlCol="0" anchor="ctr"/>
          <a:lstStyle/>
          <a:p>
            <a:pPr indent="0" marL="0">
              <a:lnSpc>
                <a:spcPts val="1500"/>
              </a:lnSpc>
              <a:buNone/>
            </a:pPr>
            <a:r>
              <a:rPr lang="en-US" sz="1100" dirty="0">
                <a:solidFill>
                  <a:srgbClr val="E0CED3"/>
                </a:solidFill>
                <a:latin typeface="Calibri" pitchFamily="34" charset="0"/>
                <a:ea typeface="Calibri" pitchFamily="34" charset="-122"/>
                <a:cs typeface="Calibri" pitchFamily="34" charset="-120"/>
              </a:rPr>
              <a:t>Eye contact held; he holds loving presence, she openly receives; when she feels the depth of it, they embrace.</a:t>
            </a:r>
            <a:endParaRPr lang="en-US" sz="1100" dirty="0"/>
          </a:p>
        </p:txBody>
      </p:sp>
      <p:sp>
        <p:nvSpPr>
          <p:cNvPr id="30" name="Text 28"/>
          <p:cNvSpPr/>
          <p:nvPr/>
        </p:nvSpPr>
        <p:spPr>
          <a:xfrm>
            <a:off x="640080" y="6263640"/>
            <a:ext cx="10881360" cy="274320"/>
          </a:xfrm>
          <a:prstGeom prst="rect">
            <a:avLst/>
          </a:prstGeom>
          <a:noFill/>
          <a:ln/>
        </p:spPr>
        <p:txBody>
          <a:bodyPr wrap="square" lIns="0" tIns="0" rIns="0" bIns="0" rtlCol="0" anchor="ctr"/>
          <a:lstStyle/>
          <a:p>
            <a:pPr indent="0" marL="0">
              <a:buNone/>
            </a:pPr>
            <a:r>
              <a:rPr lang="en-US" sz="1000" i="1" dirty="0">
                <a:solidFill>
                  <a:srgbClr val="A26769"/>
                </a:solidFill>
                <a:latin typeface="Calibri" pitchFamily="34" charset="0"/>
                <a:ea typeface="Calibri" pitchFamily="34" charset="-122"/>
                <a:cs typeface="Calibri" pitchFamily="34" charset="-120"/>
              </a:rPr>
              <a:t>An 8-step Gottman-based extension follows: love maps, positive perspective, life dreams, shared meaning.</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1E8"/>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100" b="1" spc="200" kern="0" dirty="0">
                <a:solidFill>
                  <a:srgbClr val="A26769"/>
                </a:solidFill>
                <a:latin typeface="Calibri" pitchFamily="34" charset="0"/>
                <a:ea typeface="Calibri" pitchFamily="34" charset="-122"/>
                <a:cs typeface="Calibri" pitchFamily="34" charset="-120"/>
              </a:rPr>
              <a:t>MODEL 08 · “THE 4 REASONS WHY RELATIONSHIPS END”</a:t>
            </a:r>
            <a:endParaRPr lang="en-US" sz="1100" dirty="0"/>
          </a:p>
        </p:txBody>
      </p:sp>
      <p:sp>
        <p:nvSpPr>
          <p:cNvPr id="3" name="Text 1"/>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The Four Horsemen — and their antidotes</a:t>
            </a:r>
            <a:endParaRPr lang="en-US" sz="3400" dirty="0"/>
          </a:p>
        </p:txBody>
      </p:sp>
      <p:sp>
        <p:nvSpPr>
          <p:cNvPr id="4" name="Text 2"/>
          <p:cNvSpPr/>
          <p:nvPr/>
        </p:nvSpPr>
        <p:spPr>
          <a:xfrm>
            <a:off x="1005840" y="1417320"/>
            <a:ext cx="2743200" cy="237744"/>
          </a:xfrm>
          <a:prstGeom prst="rect">
            <a:avLst/>
          </a:prstGeom>
          <a:noFill/>
          <a:ln/>
        </p:spPr>
        <p:txBody>
          <a:bodyPr wrap="square" lIns="0" tIns="0" rIns="0" bIns="0" rtlCol="0" anchor="ctr"/>
          <a:lstStyle/>
          <a:p>
            <a:pPr indent="0" marL="0">
              <a:buNone/>
            </a:pPr>
            <a:r>
              <a:rPr lang="en-US" sz="1000" b="1" spc="150" kern="0" dirty="0">
                <a:solidFill>
                  <a:srgbClr val="A26769"/>
                </a:solidFill>
                <a:latin typeface="Calibri" pitchFamily="34" charset="0"/>
                <a:ea typeface="Calibri" pitchFamily="34" charset="-122"/>
                <a:cs typeface="Calibri" pitchFamily="34" charset="-120"/>
              </a:rPr>
              <a:t>THE PATTERN</a:t>
            </a:r>
            <a:endParaRPr lang="en-US" sz="1000" dirty="0"/>
          </a:p>
        </p:txBody>
      </p:sp>
      <p:sp>
        <p:nvSpPr>
          <p:cNvPr id="5" name="Text 3"/>
          <p:cNvSpPr/>
          <p:nvPr/>
        </p:nvSpPr>
        <p:spPr>
          <a:xfrm>
            <a:off x="3886200" y="1417320"/>
            <a:ext cx="3200400" cy="237744"/>
          </a:xfrm>
          <a:prstGeom prst="rect">
            <a:avLst/>
          </a:prstGeom>
          <a:noFill/>
          <a:ln/>
        </p:spPr>
        <p:txBody>
          <a:bodyPr wrap="square" lIns="0" tIns="0" rIns="0" bIns="0" rtlCol="0" anchor="ctr"/>
          <a:lstStyle/>
          <a:p>
            <a:pPr indent="0" marL="0">
              <a:buNone/>
            </a:pPr>
            <a:r>
              <a:rPr lang="en-US" sz="1000" b="1" spc="150" kern="0" dirty="0">
                <a:solidFill>
                  <a:srgbClr val="A26769"/>
                </a:solidFill>
                <a:latin typeface="Calibri" pitchFamily="34" charset="0"/>
                <a:ea typeface="Calibri" pitchFamily="34" charset="-122"/>
                <a:cs typeface="Calibri" pitchFamily="34" charset="-120"/>
              </a:rPr>
              <a:t>WHAT IT SOUNDS LIKE</a:t>
            </a:r>
            <a:endParaRPr lang="en-US" sz="1000" dirty="0"/>
          </a:p>
        </p:txBody>
      </p:sp>
      <p:sp>
        <p:nvSpPr>
          <p:cNvPr id="6" name="Text 4"/>
          <p:cNvSpPr/>
          <p:nvPr/>
        </p:nvSpPr>
        <p:spPr>
          <a:xfrm>
            <a:off x="7589520" y="1417320"/>
            <a:ext cx="3200400" cy="237744"/>
          </a:xfrm>
          <a:prstGeom prst="rect">
            <a:avLst/>
          </a:prstGeom>
          <a:noFill/>
          <a:ln/>
        </p:spPr>
        <p:txBody>
          <a:bodyPr wrap="square" lIns="0" tIns="0" rIns="0" bIns="0" rtlCol="0" anchor="ctr"/>
          <a:lstStyle/>
          <a:p>
            <a:pPr indent="0" marL="0">
              <a:buNone/>
            </a:pPr>
            <a:r>
              <a:rPr lang="en-US" sz="1000" b="1" spc="150" kern="0" dirty="0">
                <a:solidFill>
                  <a:srgbClr val="C08A3E"/>
                </a:solidFill>
                <a:latin typeface="Calibri" pitchFamily="34" charset="0"/>
                <a:ea typeface="Calibri" pitchFamily="34" charset="-122"/>
                <a:cs typeface="Calibri" pitchFamily="34" charset="-120"/>
              </a:rPr>
              <a:t>THE ANTIDOTE</a:t>
            </a:r>
            <a:endParaRPr lang="en-US" sz="1000" dirty="0"/>
          </a:p>
        </p:txBody>
      </p:sp>
      <p:sp>
        <p:nvSpPr>
          <p:cNvPr id="7" name="Shape 5"/>
          <p:cNvSpPr/>
          <p:nvPr/>
        </p:nvSpPr>
        <p:spPr>
          <a:xfrm>
            <a:off x="640080" y="1737360"/>
            <a:ext cx="10881360" cy="877824"/>
          </a:xfrm>
          <a:prstGeom prst="roundRect">
            <a:avLst>
              <a:gd name="adj" fmla="val 8333"/>
            </a:avLst>
          </a:prstGeom>
          <a:solidFill>
            <a:srgbClr val="FFFFFF"/>
          </a:solidFill>
          <a:ln/>
          <a:effectLst>
            <a:outerShdw sx="100000" sy="100000" kx="0" ky="0" algn="bl" rotWithShape="0" blurRad="101600" dist="25400" dir="5400000">
              <a:srgbClr val="6D2E46">
                <a:alpha val="10000"/>
              </a:srgbClr>
            </a:outerShdw>
          </a:effectLst>
        </p:spPr>
      </p:sp>
      <p:sp>
        <p:nvSpPr>
          <p:cNvPr id="8" name="Shape 6"/>
          <p:cNvSpPr/>
          <p:nvPr/>
        </p:nvSpPr>
        <p:spPr>
          <a:xfrm>
            <a:off x="896112" y="2011680"/>
            <a:ext cx="329184" cy="329184"/>
          </a:xfrm>
          <a:prstGeom prst="ellipse">
            <a:avLst/>
          </a:prstGeom>
          <a:solidFill>
            <a:srgbClr val="6D2E46"/>
          </a:solidFill>
          <a:ln/>
        </p:spPr>
      </p:sp>
      <p:sp>
        <p:nvSpPr>
          <p:cNvPr id="9" name="Text 7"/>
          <p:cNvSpPr/>
          <p:nvPr/>
        </p:nvSpPr>
        <p:spPr>
          <a:xfrm>
            <a:off x="896112"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353312" y="1737360"/>
            <a:ext cx="2377440" cy="877824"/>
          </a:xfrm>
          <a:prstGeom prst="rect">
            <a:avLst/>
          </a:prstGeom>
          <a:noFill/>
          <a:ln/>
        </p:spPr>
        <p:txBody>
          <a:bodyPr wrap="square" lIns="0" tIns="0" rIns="0" bIns="0" rtlCol="0" anchor="ctr"/>
          <a:lstStyle/>
          <a:p>
            <a:pPr indent="0" marL="0">
              <a:buNone/>
            </a:pPr>
            <a:r>
              <a:rPr lang="en-US" sz="1400" b="1" dirty="0">
                <a:solidFill>
                  <a:srgbClr val="2B2320"/>
                </a:solidFill>
                <a:latin typeface="Calibri" pitchFamily="34" charset="0"/>
                <a:ea typeface="Calibri" pitchFamily="34" charset="-122"/>
                <a:cs typeface="Calibri" pitchFamily="34" charset="-120"/>
              </a:rPr>
              <a:t>Criticism</a:t>
            </a:r>
            <a:endParaRPr lang="en-US" sz="1400" dirty="0"/>
          </a:p>
        </p:txBody>
      </p:sp>
      <p:sp>
        <p:nvSpPr>
          <p:cNvPr id="11" name="Text 9"/>
          <p:cNvSpPr/>
          <p:nvPr/>
        </p:nvSpPr>
        <p:spPr>
          <a:xfrm>
            <a:off x="3886200" y="1737360"/>
            <a:ext cx="3520440" cy="877824"/>
          </a:xfrm>
          <a:prstGeom prst="rect">
            <a:avLst/>
          </a:prstGeom>
          <a:noFill/>
          <a:ln/>
        </p:spPr>
        <p:txBody>
          <a:bodyPr wrap="square" lIns="0" tIns="0" rIns="0" bIns="0" rtlCol="0" anchor="ctr"/>
          <a:lstStyle/>
          <a:p>
            <a:pPr indent="0" marL="0">
              <a:lnSpc>
                <a:spcPts val="1500"/>
              </a:lnSpc>
              <a:buNone/>
            </a:pPr>
            <a:r>
              <a:rPr lang="en-US" sz="1100" i="1" dirty="0">
                <a:solidFill>
                  <a:srgbClr val="7A6A64"/>
                </a:solidFill>
                <a:latin typeface="Calibri" pitchFamily="34" charset="0"/>
                <a:ea typeface="Calibri" pitchFamily="34" charset="-122"/>
                <a:cs typeface="Calibri" pitchFamily="34" charset="-120"/>
              </a:rPr>
              <a:t>“You always talk about yourself. You are so selfish.”</a:t>
            </a:r>
            <a:endParaRPr lang="en-US" sz="1100" dirty="0"/>
          </a:p>
        </p:txBody>
      </p:sp>
      <p:sp>
        <p:nvSpPr>
          <p:cNvPr id="12" name="Shape 10"/>
          <p:cNvSpPr/>
          <p:nvPr/>
        </p:nvSpPr>
        <p:spPr>
          <a:xfrm>
            <a:off x="7498080" y="1828800"/>
            <a:ext cx="3840480" cy="694944"/>
          </a:xfrm>
          <a:prstGeom prst="roundRect">
            <a:avLst>
              <a:gd name="adj" fmla="val 7895"/>
            </a:avLst>
          </a:prstGeom>
          <a:solidFill>
            <a:srgbClr val="F7F1E8"/>
          </a:solidFill>
          <a:ln/>
        </p:spPr>
      </p:sp>
      <p:sp>
        <p:nvSpPr>
          <p:cNvPr id="13" name="Text 11"/>
          <p:cNvSpPr/>
          <p:nvPr/>
        </p:nvSpPr>
        <p:spPr>
          <a:xfrm>
            <a:off x="7680960" y="1828800"/>
            <a:ext cx="3474720" cy="694944"/>
          </a:xfrm>
          <a:prstGeom prst="rect">
            <a:avLst/>
          </a:prstGeom>
          <a:noFill/>
          <a:ln/>
        </p:spPr>
        <p:txBody>
          <a:bodyPr wrap="square" lIns="0" tIns="0" rIns="0" bIns="0" rtlCol="0" anchor="ctr"/>
          <a:lstStyle/>
          <a:p>
            <a:pPr indent="0" marL="0">
              <a:lnSpc>
                <a:spcPts val="1500"/>
              </a:lnSpc>
              <a:buNone/>
            </a:pPr>
            <a:r>
              <a:rPr lang="en-US" sz="1100" dirty="0">
                <a:solidFill>
                  <a:srgbClr val="6D2E46"/>
                </a:solidFill>
                <a:latin typeface="Calibri" pitchFamily="34" charset="0"/>
                <a:ea typeface="Calibri" pitchFamily="34" charset="-122"/>
                <a:cs typeface="Calibri" pitchFamily="34" charset="-120"/>
              </a:rPr>
              <a:t>“I’m feeling left out by our talk tonight. Can we please talk about my day?”</a:t>
            </a:r>
            <a:endParaRPr lang="en-US" sz="1100" dirty="0"/>
          </a:p>
        </p:txBody>
      </p:sp>
      <p:sp>
        <p:nvSpPr>
          <p:cNvPr id="14" name="Shape 12"/>
          <p:cNvSpPr/>
          <p:nvPr/>
        </p:nvSpPr>
        <p:spPr>
          <a:xfrm>
            <a:off x="640080" y="2724912"/>
            <a:ext cx="10881360" cy="877824"/>
          </a:xfrm>
          <a:prstGeom prst="roundRect">
            <a:avLst>
              <a:gd name="adj" fmla="val 8333"/>
            </a:avLst>
          </a:prstGeom>
          <a:solidFill>
            <a:srgbClr val="FFFFFF"/>
          </a:solidFill>
          <a:ln/>
          <a:effectLst>
            <a:outerShdw sx="100000" sy="100000" kx="0" ky="0" algn="bl" rotWithShape="0" blurRad="101600" dist="25400" dir="5400000">
              <a:srgbClr val="6D2E46">
                <a:alpha val="10000"/>
              </a:srgbClr>
            </a:outerShdw>
          </a:effectLst>
        </p:spPr>
      </p:sp>
      <p:sp>
        <p:nvSpPr>
          <p:cNvPr id="15" name="Shape 13"/>
          <p:cNvSpPr/>
          <p:nvPr/>
        </p:nvSpPr>
        <p:spPr>
          <a:xfrm>
            <a:off x="896112" y="2999232"/>
            <a:ext cx="329184" cy="329184"/>
          </a:xfrm>
          <a:prstGeom prst="ellipse">
            <a:avLst/>
          </a:prstGeom>
          <a:solidFill>
            <a:srgbClr val="6D2E46"/>
          </a:solidFill>
          <a:ln/>
        </p:spPr>
      </p:sp>
      <p:sp>
        <p:nvSpPr>
          <p:cNvPr id="16" name="Text 14"/>
          <p:cNvSpPr/>
          <p:nvPr/>
        </p:nvSpPr>
        <p:spPr>
          <a:xfrm>
            <a:off x="896112" y="29992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1353312" y="2724912"/>
            <a:ext cx="2377440" cy="877824"/>
          </a:xfrm>
          <a:prstGeom prst="rect">
            <a:avLst/>
          </a:prstGeom>
          <a:noFill/>
          <a:ln/>
        </p:spPr>
        <p:txBody>
          <a:bodyPr wrap="square" lIns="0" tIns="0" rIns="0" bIns="0" rtlCol="0" anchor="ctr"/>
          <a:lstStyle/>
          <a:p>
            <a:pPr indent="0" marL="0">
              <a:buNone/>
            </a:pPr>
            <a:r>
              <a:rPr lang="en-US" sz="1400" b="1" dirty="0">
                <a:solidFill>
                  <a:srgbClr val="2B2320"/>
                </a:solidFill>
                <a:latin typeface="Calibri" pitchFamily="34" charset="0"/>
                <a:ea typeface="Calibri" pitchFamily="34" charset="-122"/>
                <a:cs typeface="Calibri" pitchFamily="34" charset="-120"/>
              </a:rPr>
              <a:t>Defensiveness</a:t>
            </a:r>
            <a:endParaRPr lang="en-US" sz="1400" dirty="0"/>
          </a:p>
        </p:txBody>
      </p:sp>
      <p:sp>
        <p:nvSpPr>
          <p:cNvPr id="18" name="Text 16"/>
          <p:cNvSpPr/>
          <p:nvPr/>
        </p:nvSpPr>
        <p:spPr>
          <a:xfrm>
            <a:off x="3886200" y="2724912"/>
            <a:ext cx="3520440" cy="877824"/>
          </a:xfrm>
          <a:prstGeom prst="rect">
            <a:avLst/>
          </a:prstGeom>
          <a:noFill/>
          <a:ln/>
        </p:spPr>
        <p:txBody>
          <a:bodyPr wrap="square" lIns="0" tIns="0" rIns="0" bIns="0" rtlCol="0" anchor="ctr"/>
          <a:lstStyle/>
          <a:p>
            <a:pPr indent="0" marL="0">
              <a:lnSpc>
                <a:spcPts val="1500"/>
              </a:lnSpc>
              <a:buNone/>
            </a:pPr>
            <a:r>
              <a:rPr lang="en-US" sz="1100" i="1" dirty="0">
                <a:solidFill>
                  <a:srgbClr val="7A6A64"/>
                </a:solidFill>
                <a:latin typeface="Calibri" pitchFamily="34" charset="0"/>
                <a:ea typeface="Calibri" pitchFamily="34" charset="-122"/>
                <a:cs typeface="Calibri" pitchFamily="34" charset="-120"/>
              </a:rPr>
              <a:t>“It’s not my fault we’re always late, it’s your fault.”</a:t>
            </a:r>
            <a:endParaRPr lang="en-US" sz="1100" dirty="0"/>
          </a:p>
        </p:txBody>
      </p:sp>
      <p:sp>
        <p:nvSpPr>
          <p:cNvPr id="19" name="Shape 17"/>
          <p:cNvSpPr/>
          <p:nvPr/>
        </p:nvSpPr>
        <p:spPr>
          <a:xfrm>
            <a:off x="7498080" y="2816352"/>
            <a:ext cx="3840480" cy="694944"/>
          </a:xfrm>
          <a:prstGeom prst="roundRect">
            <a:avLst>
              <a:gd name="adj" fmla="val 7895"/>
            </a:avLst>
          </a:prstGeom>
          <a:solidFill>
            <a:srgbClr val="F7F1E8"/>
          </a:solidFill>
          <a:ln/>
        </p:spPr>
      </p:sp>
      <p:sp>
        <p:nvSpPr>
          <p:cNvPr id="20" name="Text 18"/>
          <p:cNvSpPr/>
          <p:nvPr/>
        </p:nvSpPr>
        <p:spPr>
          <a:xfrm>
            <a:off x="7680960" y="2816352"/>
            <a:ext cx="3474720" cy="694944"/>
          </a:xfrm>
          <a:prstGeom prst="rect">
            <a:avLst/>
          </a:prstGeom>
          <a:noFill/>
          <a:ln/>
        </p:spPr>
        <p:txBody>
          <a:bodyPr wrap="square" lIns="0" tIns="0" rIns="0" bIns="0" rtlCol="0" anchor="ctr"/>
          <a:lstStyle/>
          <a:p>
            <a:pPr indent="0" marL="0">
              <a:lnSpc>
                <a:spcPts val="1500"/>
              </a:lnSpc>
              <a:buNone/>
            </a:pPr>
            <a:r>
              <a:rPr lang="en-US" sz="1100" dirty="0">
                <a:solidFill>
                  <a:srgbClr val="6D2E46"/>
                </a:solidFill>
                <a:latin typeface="Calibri" pitchFamily="34" charset="0"/>
                <a:ea typeface="Calibri" pitchFamily="34" charset="-122"/>
                <a:cs typeface="Calibri" pitchFamily="34" charset="-120"/>
              </a:rPr>
              <a:t>“Well, part of this is my problem — I need to think more about time.”</a:t>
            </a:r>
            <a:endParaRPr lang="en-US" sz="1100" dirty="0"/>
          </a:p>
        </p:txBody>
      </p:sp>
      <p:sp>
        <p:nvSpPr>
          <p:cNvPr id="21" name="Shape 19"/>
          <p:cNvSpPr/>
          <p:nvPr/>
        </p:nvSpPr>
        <p:spPr>
          <a:xfrm>
            <a:off x="640080" y="3712464"/>
            <a:ext cx="10881360" cy="877824"/>
          </a:xfrm>
          <a:prstGeom prst="roundRect">
            <a:avLst>
              <a:gd name="adj" fmla="val 8333"/>
            </a:avLst>
          </a:prstGeom>
          <a:solidFill>
            <a:srgbClr val="FFFFFF"/>
          </a:solidFill>
          <a:ln/>
          <a:effectLst>
            <a:outerShdw sx="100000" sy="100000" kx="0" ky="0" algn="bl" rotWithShape="0" blurRad="101600" dist="25400" dir="5400000">
              <a:srgbClr val="6D2E46">
                <a:alpha val="10000"/>
              </a:srgbClr>
            </a:outerShdw>
          </a:effectLst>
        </p:spPr>
      </p:sp>
      <p:sp>
        <p:nvSpPr>
          <p:cNvPr id="22" name="Shape 20"/>
          <p:cNvSpPr/>
          <p:nvPr/>
        </p:nvSpPr>
        <p:spPr>
          <a:xfrm>
            <a:off x="896112" y="3986784"/>
            <a:ext cx="329184" cy="329184"/>
          </a:xfrm>
          <a:prstGeom prst="ellipse">
            <a:avLst/>
          </a:prstGeom>
          <a:solidFill>
            <a:srgbClr val="6D2E46"/>
          </a:solidFill>
          <a:ln/>
        </p:spPr>
      </p:sp>
      <p:sp>
        <p:nvSpPr>
          <p:cNvPr id="23" name="Text 21"/>
          <p:cNvSpPr/>
          <p:nvPr/>
        </p:nvSpPr>
        <p:spPr>
          <a:xfrm>
            <a:off x="896112" y="39867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4" name="Text 22"/>
          <p:cNvSpPr/>
          <p:nvPr/>
        </p:nvSpPr>
        <p:spPr>
          <a:xfrm>
            <a:off x="1353312" y="3712464"/>
            <a:ext cx="2377440" cy="877824"/>
          </a:xfrm>
          <a:prstGeom prst="rect">
            <a:avLst/>
          </a:prstGeom>
          <a:noFill/>
          <a:ln/>
        </p:spPr>
        <p:txBody>
          <a:bodyPr wrap="square" lIns="0" tIns="0" rIns="0" bIns="0" rtlCol="0" anchor="ctr"/>
          <a:lstStyle/>
          <a:p>
            <a:pPr indent="0" marL="0">
              <a:buNone/>
            </a:pPr>
            <a:r>
              <a:rPr lang="en-US" sz="1400" b="1" dirty="0">
                <a:solidFill>
                  <a:srgbClr val="2B2320"/>
                </a:solidFill>
                <a:latin typeface="Calibri" pitchFamily="34" charset="0"/>
                <a:ea typeface="Calibri" pitchFamily="34" charset="-122"/>
                <a:cs typeface="Calibri" pitchFamily="34" charset="-120"/>
              </a:rPr>
              <a:t>Contempt</a:t>
            </a:r>
            <a:endParaRPr lang="en-US" sz="1400" dirty="0"/>
          </a:p>
        </p:txBody>
      </p:sp>
      <p:sp>
        <p:nvSpPr>
          <p:cNvPr id="25" name="Text 23"/>
          <p:cNvSpPr/>
          <p:nvPr/>
        </p:nvSpPr>
        <p:spPr>
          <a:xfrm>
            <a:off x="3886200" y="3712464"/>
            <a:ext cx="3520440" cy="877824"/>
          </a:xfrm>
          <a:prstGeom prst="rect">
            <a:avLst/>
          </a:prstGeom>
          <a:noFill/>
          <a:ln/>
        </p:spPr>
        <p:txBody>
          <a:bodyPr wrap="square" lIns="0" tIns="0" rIns="0" bIns="0" rtlCol="0" anchor="ctr"/>
          <a:lstStyle/>
          <a:p>
            <a:pPr indent="0" marL="0">
              <a:lnSpc>
                <a:spcPts val="1500"/>
              </a:lnSpc>
              <a:buNone/>
            </a:pPr>
            <a:r>
              <a:rPr lang="en-US" sz="1100" i="1" dirty="0">
                <a:solidFill>
                  <a:srgbClr val="7A6A64"/>
                </a:solidFill>
                <a:latin typeface="Calibri" pitchFamily="34" charset="0"/>
                <a:ea typeface="Calibri" pitchFamily="34" charset="-122"/>
                <a:cs typeface="Calibri" pitchFamily="34" charset="-120"/>
              </a:rPr>
              <a:t>“You’re an idiot.”</a:t>
            </a:r>
            <a:endParaRPr lang="en-US" sz="1100" dirty="0"/>
          </a:p>
        </p:txBody>
      </p:sp>
      <p:sp>
        <p:nvSpPr>
          <p:cNvPr id="26" name="Shape 24"/>
          <p:cNvSpPr/>
          <p:nvPr/>
        </p:nvSpPr>
        <p:spPr>
          <a:xfrm>
            <a:off x="7498080" y="3803904"/>
            <a:ext cx="3840480" cy="694944"/>
          </a:xfrm>
          <a:prstGeom prst="roundRect">
            <a:avLst>
              <a:gd name="adj" fmla="val 7895"/>
            </a:avLst>
          </a:prstGeom>
          <a:solidFill>
            <a:srgbClr val="F7F1E8"/>
          </a:solidFill>
          <a:ln/>
        </p:spPr>
      </p:sp>
      <p:sp>
        <p:nvSpPr>
          <p:cNvPr id="27" name="Text 25"/>
          <p:cNvSpPr/>
          <p:nvPr/>
        </p:nvSpPr>
        <p:spPr>
          <a:xfrm>
            <a:off x="7680960" y="3803904"/>
            <a:ext cx="3474720" cy="694944"/>
          </a:xfrm>
          <a:prstGeom prst="rect">
            <a:avLst/>
          </a:prstGeom>
          <a:noFill/>
          <a:ln/>
        </p:spPr>
        <p:txBody>
          <a:bodyPr wrap="square" lIns="0" tIns="0" rIns="0" bIns="0" rtlCol="0" anchor="ctr"/>
          <a:lstStyle/>
          <a:p>
            <a:pPr indent="0" marL="0">
              <a:lnSpc>
                <a:spcPts val="1500"/>
              </a:lnSpc>
              <a:buNone/>
            </a:pPr>
            <a:r>
              <a:rPr lang="en-US" sz="1100" dirty="0">
                <a:solidFill>
                  <a:srgbClr val="6D2E46"/>
                </a:solidFill>
                <a:latin typeface="Calibri" pitchFamily="34" charset="0"/>
                <a:ea typeface="Calibri" pitchFamily="34" charset="-122"/>
                <a:cs typeface="Calibri" pitchFamily="34" charset="-120"/>
              </a:rPr>
              <a:t>“I’m proud of the way you handled that teacher conference.”</a:t>
            </a:r>
            <a:endParaRPr lang="en-US" sz="1100" dirty="0"/>
          </a:p>
        </p:txBody>
      </p:sp>
      <p:sp>
        <p:nvSpPr>
          <p:cNvPr id="28" name="Shape 26"/>
          <p:cNvSpPr/>
          <p:nvPr/>
        </p:nvSpPr>
        <p:spPr>
          <a:xfrm>
            <a:off x="640080" y="4700016"/>
            <a:ext cx="10881360" cy="877824"/>
          </a:xfrm>
          <a:prstGeom prst="roundRect">
            <a:avLst>
              <a:gd name="adj" fmla="val 8333"/>
            </a:avLst>
          </a:prstGeom>
          <a:solidFill>
            <a:srgbClr val="FFFFFF"/>
          </a:solidFill>
          <a:ln/>
          <a:effectLst>
            <a:outerShdw sx="100000" sy="100000" kx="0" ky="0" algn="bl" rotWithShape="0" blurRad="101600" dist="25400" dir="5400000">
              <a:srgbClr val="6D2E46">
                <a:alpha val="10000"/>
              </a:srgbClr>
            </a:outerShdw>
          </a:effectLst>
        </p:spPr>
      </p:sp>
      <p:sp>
        <p:nvSpPr>
          <p:cNvPr id="29" name="Shape 27"/>
          <p:cNvSpPr/>
          <p:nvPr/>
        </p:nvSpPr>
        <p:spPr>
          <a:xfrm>
            <a:off x="896112" y="4974336"/>
            <a:ext cx="329184" cy="329184"/>
          </a:xfrm>
          <a:prstGeom prst="ellipse">
            <a:avLst/>
          </a:prstGeom>
          <a:solidFill>
            <a:srgbClr val="6D2E46"/>
          </a:solidFill>
          <a:ln/>
        </p:spPr>
      </p:sp>
      <p:sp>
        <p:nvSpPr>
          <p:cNvPr id="30" name="Text 28"/>
          <p:cNvSpPr/>
          <p:nvPr/>
        </p:nvSpPr>
        <p:spPr>
          <a:xfrm>
            <a:off x="896112" y="4974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 29"/>
          <p:cNvSpPr/>
          <p:nvPr/>
        </p:nvSpPr>
        <p:spPr>
          <a:xfrm>
            <a:off x="1353312" y="4700016"/>
            <a:ext cx="2377440" cy="877824"/>
          </a:xfrm>
          <a:prstGeom prst="rect">
            <a:avLst/>
          </a:prstGeom>
          <a:noFill/>
          <a:ln/>
        </p:spPr>
        <p:txBody>
          <a:bodyPr wrap="square" lIns="0" tIns="0" rIns="0" bIns="0" rtlCol="0" anchor="ctr"/>
          <a:lstStyle/>
          <a:p>
            <a:pPr indent="0" marL="0">
              <a:buNone/>
            </a:pPr>
            <a:r>
              <a:rPr lang="en-US" sz="1400" b="1" dirty="0">
                <a:solidFill>
                  <a:srgbClr val="2B2320"/>
                </a:solidFill>
                <a:latin typeface="Calibri" pitchFamily="34" charset="0"/>
                <a:ea typeface="Calibri" pitchFamily="34" charset="-122"/>
                <a:cs typeface="Calibri" pitchFamily="34" charset="-120"/>
              </a:rPr>
              <a:t>Stonewalling</a:t>
            </a:r>
            <a:endParaRPr lang="en-US" sz="1400" dirty="0"/>
          </a:p>
        </p:txBody>
      </p:sp>
      <p:sp>
        <p:nvSpPr>
          <p:cNvPr id="32" name="Text 30"/>
          <p:cNvSpPr/>
          <p:nvPr/>
        </p:nvSpPr>
        <p:spPr>
          <a:xfrm>
            <a:off x="3886200" y="4700016"/>
            <a:ext cx="3520440" cy="877824"/>
          </a:xfrm>
          <a:prstGeom prst="rect">
            <a:avLst/>
          </a:prstGeom>
          <a:noFill/>
          <a:ln/>
        </p:spPr>
        <p:txBody>
          <a:bodyPr wrap="square" lIns="0" tIns="0" rIns="0" bIns="0" rtlCol="0" anchor="ctr"/>
          <a:lstStyle/>
          <a:p>
            <a:pPr indent="0" marL="0">
              <a:lnSpc>
                <a:spcPts val="1500"/>
              </a:lnSpc>
              <a:buNone/>
            </a:pPr>
            <a:r>
              <a:rPr lang="en-US" sz="1100" i="1" dirty="0">
                <a:solidFill>
                  <a:srgbClr val="7A6A64"/>
                </a:solidFill>
                <a:latin typeface="Calibri" pitchFamily="34" charset="0"/>
                <a:ea typeface="Calibri" pitchFamily="34" charset="-122"/>
                <a:cs typeface="Calibri" pitchFamily="34" charset="-120"/>
              </a:rPr>
              <a:t>Silent treatment — you withdraw, you withhold, I can’t get a response.</a:t>
            </a:r>
            <a:endParaRPr lang="en-US" sz="1100" dirty="0"/>
          </a:p>
        </p:txBody>
      </p:sp>
      <p:sp>
        <p:nvSpPr>
          <p:cNvPr id="33" name="Shape 31"/>
          <p:cNvSpPr/>
          <p:nvPr/>
        </p:nvSpPr>
        <p:spPr>
          <a:xfrm>
            <a:off x="7498080" y="4791456"/>
            <a:ext cx="3840480" cy="694944"/>
          </a:xfrm>
          <a:prstGeom prst="roundRect">
            <a:avLst>
              <a:gd name="adj" fmla="val 7895"/>
            </a:avLst>
          </a:prstGeom>
          <a:solidFill>
            <a:srgbClr val="F7F1E8"/>
          </a:solidFill>
          <a:ln/>
        </p:spPr>
      </p:sp>
      <p:sp>
        <p:nvSpPr>
          <p:cNvPr id="34" name="Text 32"/>
          <p:cNvSpPr/>
          <p:nvPr/>
        </p:nvSpPr>
        <p:spPr>
          <a:xfrm>
            <a:off x="7680960" y="4791456"/>
            <a:ext cx="3474720" cy="694944"/>
          </a:xfrm>
          <a:prstGeom prst="rect">
            <a:avLst/>
          </a:prstGeom>
          <a:noFill/>
          <a:ln/>
        </p:spPr>
        <p:txBody>
          <a:bodyPr wrap="square" lIns="0" tIns="0" rIns="0" bIns="0" rtlCol="0" anchor="ctr"/>
          <a:lstStyle/>
          <a:p>
            <a:pPr indent="0" marL="0">
              <a:lnSpc>
                <a:spcPts val="1500"/>
              </a:lnSpc>
              <a:buNone/>
            </a:pPr>
            <a:r>
              <a:rPr lang="en-US" sz="1100" dirty="0">
                <a:solidFill>
                  <a:srgbClr val="6D2E46"/>
                </a:solidFill>
                <a:latin typeface="Calibri" pitchFamily="34" charset="0"/>
                <a:ea typeface="Calibri" pitchFamily="34" charset="-122"/>
                <a:cs typeface="Calibri" pitchFamily="34" charset="-120"/>
              </a:rPr>
              <a:t>Name the flooding, take a real break, then come back and re-engage.</a:t>
            </a:r>
            <a:endParaRPr lang="en-US" sz="1100" dirty="0"/>
          </a:p>
        </p:txBody>
      </p:sp>
      <p:sp>
        <p:nvSpPr>
          <p:cNvPr id="35" name="Text 33"/>
          <p:cNvSpPr/>
          <p:nvPr/>
        </p:nvSpPr>
        <p:spPr>
          <a:xfrm>
            <a:off x="640080" y="6291072"/>
            <a:ext cx="10881360" cy="292608"/>
          </a:xfrm>
          <a:prstGeom prst="rect">
            <a:avLst/>
          </a:prstGeom>
          <a:noFill/>
          <a:ln/>
        </p:spPr>
        <p:txBody>
          <a:bodyPr wrap="square" lIns="0" tIns="0" rIns="0" bIns="0" rtlCol="0" anchor="ctr"/>
          <a:lstStyle/>
          <a:p>
            <a:pPr indent="0" marL="0">
              <a:buNone/>
            </a:pPr>
            <a:r>
              <a:rPr lang="en-US" sz="1000" i="1" dirty="0">
                <a:solidFill>
                  <a:srgbClr val="7A6A64"/>
                </a:solidFill>
                <a:latin typeface="Calibri" pitchFamily="34" charset="0"/>
                <a:ea typeface="Calibri" pitchFamily="34" charset="-122"/>
                <a:cs typeface="Calibri" pitchFamily="34" charset="-120"/>
              </a:rPr>
              <a:t>Gottman’s Four Horsemen. Manual p.143; taught live in 5-Day Session 4 and NTT Master Prac.</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1E8"/>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100" b="1" spc="200" kern="0" dirty="0">
                <a:solidFill>
                  <a:srgbClr val="A26769"/>
                </a:solidFill>
                <a:latin typeface="Calibri" pitchFamily="34" charset="0"/>
                <a:ea typeface="Calibri" pitchFamily="34" charset="-122"/>
                <a:cs typeface="Calibri" pitchFamily="34" charset="-120"/>
              </a:rPr>
              <a:t>MODEL 09 · WHY THE CONVERSATION WAS NEEDED</a:t>
            </a:r>
            <a:endParaRPr lang="en-US" sz="1100" dirty="0"/>
          </a:p>
        </p:txBody>
      </p:sp>
      <p:sp>
        <p:nvSpPr>
          <p:cNvPr id="3" name="Text 1"/>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The 4 R’s — how unspoken conflict escalates</a:t>
            </a:r>
            <a:endParaRPr lang="en-US" sz="3400" dirty="0"/>
          </a:p>
        </p:txBody>
      </p:sp>
      <p:sp>
        <p:nvSpPr>
          <p:cNvPr id="4" name="Shape 2"/>
          <p:cNvSpPr/>
          <p:nvPr/>
        </p:nvSpPr>
        <p:spPr>
          <a:xfrm>
            <a:off x="640080" y="1600200"/>
            <a:ext cx="2651760" cy="2651760"/>
          </a:xfrm>
          <a:prstGeom prst="roundRect">
            <a:avLst>
              <a:gd name="adj" fmla="val 3448"/>
            </a:avLst>
          </a:prstGeom>
          <a:solidFill>
            <a:srgbClr val="A26769"/>
          </a:solidFill>
          <a:ln/>
        </p:spPr>
      </p:sp>
      <p:sp>
        <p:nvSpPr>
          <p:cNvPr id="5" name="Text 3"/>
          <p:cNvSpPr/>
          <p:nvPr/>
        </p:nvSpPr>
        <p:spPr>
          <a:xfrm>
            <a:off x="914400" y="1810512"/>
            <a:ext cx="210312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R1</a:t>
            </a:r>
            <a:endParaRPr lang="en-US" sz="2600" dirty="0"/>
          </a:p>
        </p:txBody>
      </p:sp>
      <p:sp>
        <p:nvSpPr>
          <p:cNvPr id="6" name="Text 4"/>
          <p:cNvSpPr/>
          <p:nvPr/>
        </p:nvSpPr>
        <p:spPr>
          <a:xfrm>
            <a:off x="914400" y="2304288"/>
            <a:ext cx="21031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Resistance</a:t>
            </a:r>
            <a:endParaRPr lang="en-US" sz="1500" dirty="0"/>
          </a:p>
        </p:txBody>
      </p:sp>
      <p:sp>
        <p:nvSpPr>
          <p:cNvPr id="7" name="Text 5"/>
          <p:cNvSpPr/>
          <p:nvPr/>
        </p:nvSpPr>
        <p:spPr>
          <a:xfrm>
            <a:off x="914400" y="2697480"/>
            <a:ext cx="2103120" cy="1371600"/>
          </a:xfrm>
          <a:prstGeom prst="rect">
            <a:avLst/>
          </a:prstGeom>
          <a:noFill/>
          <a:ln/>
        </p:spPr>
        <p:txBody>
          <a:bodyPr wrap="square" lIns="0" tIns="0" rIns="0" bIns="0" rtlCol="0" anchor="ctr"/>
          <a:lstStyle/>
          <a:p>
            <a:pPr indent="0" marL="0">
              <a:lnSpc>
                <a:spcPts val="1600"/>
              </a:lnSpc>
              <a:buNone/>
            </a:pPr>
            <a:r>
              <a:rPr lang="en-US" sz="1100" dirty="0">
                <a:solidFill>
                  <a:srgbClr val="F2E4E7"/>
                </a:solidFill>
                <a:latin typeface="Calibri" pitchFamily="34" charset="0"/>
                <a:ea typeface="Calibri" pitchFamily="34" charset="-122"/>
                <a:cs typeface="Calibri" pitchFamily="34" charset="-120"/>
              </a:rPr>
              <a:t>Your partner does something that bothers you — but you choose not to say anything.</a:t>
            </a:r>
            <a:endParaRPr lang="en-US" sz="1100" dirty="0"/>
          </a:p>
        </p:txBody>
      </p:sp>
      <p:sp>
        <p:nvSpPr>
          <p:cNvPr id="8" name="Text 6"/>
          <p:cNvSpPr/>
          <p:nvPr/>
        </p:nvSpPr>
        <p:spPr>
          <a:xfrm>
            <a:off x="3273552" y="2651760"/>
            <a:ext cx="310896" cy="365760"/>
          </a:xfrm>
          <a:prstGeom prst="rect">
            <a:avLst/>
          </a:prstGeom>
          <a:noFill/>
          <a:ln/>
        </p:spPr>
        <p:txBody>
          <a:bodyPr wrap="square" lIns="0" tIns="0" rIns="0" bIns="0" rtlCol="0" anchor="ctr"/>
          <a:lstStyle/>
          <a:p>
            <a:pPr algn="ctr" indent="0" marL="0">
              <a:buNone/>
            </a:pPr>
            <a:r>
              <a:rPr lang="en-US" sz="2000" b="1" dirty="0">
                <a:solidFill>
                  <a:srgbClr val="A26769"/>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3566160" y="1600200"/>
            <a:ext cx="2651760" cy="2651760"/>
          </a:xfrm>
          <a:prstGeom prst="roundRect">
            <a:avLst>
              <a:gd name="adj" fmla="val 3448"/>
            </a:avLst>
          </a:prstGeom>
          <a:solidFill>
            <a:srgbClr val="8E5261"/>
          </a:solidFill>
          <a:ln/>
        </p:spPr>
      </p:sp>
      <p:sp>
        <p:nvSpPr>
          <p:cNvPr id="10" name="Text 8"/>
          <p:cNvSpPr/>
          <p:nvPr/>
        </p:nvSpPr>
        <p:spPr>
          <a:xfrm>
            <a:off x="3840480" y="1810512"/>
            <a:ext cx="210312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R2</a:t>
            </a:r>
            <a:endParaRPr lang="en-US" sz="2600" dirty="0"/>
          </a:p>
        </p:txBody>
      </p:sp>
      <p:sp>
        <p:nvSpPr>
          <p:cNvPr id="11" name="Text 9"/>
          <p:cNvSpPr/>
          <p:nvPr/>
        </p:nvSpPr>
        <p:spPr>
          <a:xfrm>
            <a:off x="3840480" y="2304288"/>
            <a:ext cx="21031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Resentment</a:t>
            </a:r>
            <a:endParaRPr lang="en-US" sz="1500" dirty="0"/>
          </a:p>
        </p:txBody>
      </p:sp>
      <p:sp>
        <p:nvSpPr>
          <p:cNvPr id="12" name="Text 10"/>
          <p:cNvSpPr/>
          <p:nvPr/>
        </p:nvSpPr>
        <p:spPr>
          <a:xfrm>
            <a:off x="3840480" y="2697480"/>
            <a:ext cx="2103120" cy="1371600"/>
          </a:xfrm>
          <a:prstGeom prst="rect">
            <a:avLst/>
          </a:prstGeom>
          <a:noFill/>
          <a:ln/>
        </p:spPr>
        <p:txBody>
          <a:bodyPr wrap="square" lIns="0" tIns="0" rIns="0" bIns="0" rtlCol="0" anchor="ctr"/>
          <a:lstStyle/>
          <a:p>
            <a:pPr indent="0" marL="0">
              <a:lnSpc>
                <a:spcPts val="1600"/>
              </a:lnSpc>
              <a:buNone/>
            </a:pPr>
            <a:r>
              <a:rPr lang="en-US" sz="1100" dirty="0">
                <a:solidFill>
                  <a:srgbClr val="F2E4E7"/>
                </a:solidFill>
                <a:latin typeface="Calibri" pitchFamily="34" charset="0"/>
                <a:ea typeface="Calibri" pitchFamily="34" charset="-122"/>
                <a:cs typeface="Calibri" pitchFamily="34" charset="-120"/>
              </a:rPr>
              <a:t>The resistance goes deeper. Tension builds that you still choose not to address.</a:t>
            </a:r>
            <a:endParaRPr lang="en-US" sz="1100" dirty="0"/>
          </a:p>
        </p:txBody>
      </p:sp>
      <p:sp>
        <p:nvSpPr>
          <p:cNvPr id="13" name="Text 11"/>
          <p:cNvSpPr/>
          <p:nvPr/>
        </p:nvSpPr>
        <p:spPr>
          <a:xfrm>
            <a:off x="6199632" y="2651760"/>
            <a:ext cx="310896" cy="365760"/>
          </a:xfrm>
          <a:prstGeom prst="rect">
            <a:avLst/>
          </a:prstGeom>
          <a:noFill/>
          <a:ln/>
        </p:spPr>
        <p:txBody>
          <a:bodyPr wrap="square" lIns="0" tIns="0" rIns="0" bIns="0" rtlCol="0" anchor="ctr"/>
          <a:lstStyle/>
          <a:p>
            <a:pPr algn="ctr" indent="0" marL="0">
              <a:buNone/>
            </a:pPr>
            <a:r>
              <a:rPr lang="en-US" sz="2000" b="1" dirty="0">
                <a:solidFill>
                  <a:srgbClr val="A26769"/>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6492240" y="1600200"/>
            <a:ext cx="2651760" cy="2651760"/>
          </a:xfrm>
          <a:prstGeom prst="roundRect">
            <a:avLst>
              <a:gd name="adj" fmla="val 3448"/>
            </a:avLst>
          </a:prstGeom>
          <a:solidFill>
            <a:srgbClr val="6D2E46"/>
          </a:solidFill>
          <a:ln/>
        </p:spPr>
      </p:sp>
      <p:sp>
        <p:nvSpPr>
          <p:cNvPr id="15" name="Text 13"/>
          <p:cNvSpPr/>
          <p:nvPr/>
        </p:nvSpPr>
        <p:spPr>
          <a:xfrm>
            <a:off x="6766560" y="1810512"/>
            <a:ext cx="210312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R3</a:t>
            </a:r>
            <a:endParaRPr lang="en-US" sz="2600" dirty="0"/>
          </a:p>
        </p:txBody>
      </p:sp>
      <p:sp>
        <p:nvSpPr>
          <p:cNvPr id="16" name="Text 14"/>
          <p:cNvSpPr/>
          <p:nvPr/>
        </p:nvSpPr>
        <p:spPr>
          <a:xfrm>
            <a:off x="6766560" y="2304288"/>
            <a:ext cx="21031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Rejection</a:t>
            </a:r>
            <a:endParaRPr lang="en-US" sz="1500" dirty="0"/>
          </a:p>
        </p:txBody>
      </p:sp>
      <p:sp>
        <p:nvSpPr>
          <p:cNvPr id="17" name="Text 15"/>
          <p:cNvSpPr/>
          <p:nvPr/>
        </p:nvSpPr>
        <p:spPr>
          <a:xfrm>
            <a:off x="6766560" y="2697480"/>
            <a:ext cx="2103120" cy="1371600"/>
          </a:xfrm>
          <a:prstGeom prst="rect">
            <a:avLst/>
          </a:prstGeom>
          <a:noFill/>
          <a:ln/>
        </p:spPr>
        <p:txBody>
          <a:bodyPr wrap="square" lIns="0" tIns="0" rIns="0" bIns="0" rtlCol="0" anchor="ctr"/>
          <a:lstStyle/>
          <a:p>
            <a:pPr indent="0" marL="0">
              <a:lnSpc>
                <a:spcPts val="1600"/>
              </a:lnSpc>
              <a:buNone/>
            </a:pPr>
            <a:r>
              <a:rPr lang="en-US" sz="1100" dirty="0">
                <a:solidFill>
                  <a:srgbClr val="F2E4E7"/>
                </a:solidFill>
                <a:latin typeface="Calibri" pitchFamily="34" charset="0"/>
                <a:ea typeface="Calibri" pitchFamily="34" charset="-122"/>
                <a:cs typeface="Calibri" pitchFamily="34" charset="-120"/>
              </a:rPr>
              <a:t>Toxicity and abrasiveness. You get harsh with each other.</a:t>
            </a:r>
            <a:endParaRPr lang="en-US" sz="1100" dirty="0"/>
          </a:p>
        </p:txBody>
      </p:sp>
      <p:sp>
        <p:nvSpPr>
          <p:cNvPr id="18" name="Text 16"/>
          <p:cNvSpPr/>
          <p:nvPr/>
        </p:nvSpPr>
        <p:spPr>
          <a:xfrm>
            <a:off x="9125712" y="2651760"/>
            <a:ext cx="310896" cy="365760"/>
          </a:xfrm>
          <a:prstGeom prst="rect">
            <a:avLst/>
          </a:prstGeom>
          <a:noFill/>
          <a:ln/>
        </p:spPr>
        <p:txBody>
          <a:bodyPr wrap="square" lIns="0" tIns="0" rIns="0" bIns="0" rtlCol="0" anchor="ctr"/>
          <a:lstStyle/>
          <a:p>
            <a:pPr algn="ctr" indent="0" marL="0">
              <a:buNone/>
            </a:pPr>
            <a:r>
              <a:rPr lang="en-US" sz="2000" b="1" dirty="0">
                <a:solidFill>
                  <a:srgbClr val="A26769"/>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9418320" y="1600200"/>
            <a:ext cx="2651760" cy="2651760"/>
          </a:xfrm>
          <a:prstGeom prst="roundRect">
            <a:avLst>
              <a:gd name="adj" fmla="val 3448"/>
            </a:avLst>
          </a:prstGeom>
          <a:solidFill>
            <a:srgbClr val="48192E"/>
          </a:solidFill>
          <a:ln/>
        </p:spPr>
      </p:sp>
      <p:sp>
        <p:nvSpPr>
          <p:cNvPr id="20" name="Text 18"/>
          <p:cNvSpPr/>
          <p:nvPr/>
        </p:nvSpPr>
        <p:spPr>
          <a:xfrm>
            <a:off x="9692640" y="1810512"/>
            <a:ext cx="210312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R4</a:t>
            </a:r>
            <a:endParaRPr lang="en-US" sz="2600" dirty="0"/>
          </a:p>
        </p:txBody>
      </p:sp>
      <p:sp>
        <p:nvSpPr>
          <p:cNvPr id="21" name="Text 19"/>
          <p:cNvSpPr/>
          <p:nvPr/>
        </p:nvSpPr>
        <p:spPr>
          <a:xfrm>
            <a:off x="9692640" y="2304288"/>
            <a:ext cx="21031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Repression</a:t>
            </a:r>
            <a:endParaRPr lang="en-US" sz="1500" dirty="0"/>
          </a:p>
        </p:txBody>
      </p:sp>
      <p:sp>
        <p:nvSpPr>
          <p:cNvPr id="22" name="Text 20"/>
          <p:cNvSpPr/>
          <p:nvPr/>
        </p:nvSpPr>
        <p:spPr>
          <a:xfrm>
            <a:off x="9692640" y="2697480"/>
            <a:ext cx="2103120" cy="1371600"/>
          </a:xfrm>
          <a:prstGeom prst="rect">
            <a:avLst/>
          </a:prstGeom>
          <a:noFill/>
          <a:ln/>
        </p:spPr>
        <p:txBody>
          <a:bodyPr wrap="square" lIns="0" tIns="0" rIns="0" bIns="0" rtlCol="0" anchor="ctr"/>
          <a:lstStyle/>
          <a:p>
            <a:pPr indent="0" marL="0">
              <a:lnSpc>
                <a:spcPts val="1600"/>
              </a:lnSpc>
              <a:buNone/>
            </a:pPr>
            <a:r>
              <a:rPr lang="en-US" sz="1100" dirty="0">
                <a:solidFill>
                  <a:srgbClr val="F2E4E7"/>
                </a:solidFill>
                <a:latin typeface="Calibri" pitchFamily="34" charset="0"/>
                <a:ea typeface="Calibri" pitchFamily="34" charset="-122"/>
                <a:cs typeface="Calibri" pitchFamily="34" charset="-120"/>
              </a:rPr>
              <a:t>Numbness and learned helplessness. You lower your expectations and meet your needs elsewhere — work, kids, friends.</a:t>
            </a:r>
            <a:endParaRPr lang="en-US" sz="1100" dirty="0"/>
          </a:p>
        </p:txBody>
      </p:sp>
      <p:sp>
        <p:nvSpPr>
          <p:cNvPr id="23" name="Shape 21"/>
          <p:cNvSpPr/>
          <p:nvPr/>
        </p:nvSpPr>
        <p:spPr>
          <a:xfrm>
            <a:off x="640080" y="4526280"/>
            <a:ext cx="10881360" cy="1051560"/>
          </a:xfrm>
          <a:prstGeom prst="roundRect">
            <a:avLst>
              <a:gd name="adj" fmla="val 8696"/>
            </a:avLst>
          </a:prstGeom>
          <a:solidFill>
            <a:srgbClr val="FFFFFF"/>
          </a:solidFill>
          <a:ln/>
          <a:effectLst>
            <a:outerShdw sx="100000" sy="100000" kx="0" ky="0" algn="bl" rotWithShape="0" blurRad="101600" dist="25400" dir="5400000">
              <a:srgbClr val="6D2E46">
                <a:alpha val="10000"/>
              </a:srgbClr>
            </a:outerShdw>
          </a:effectLst>
        </p:spPr>
      </p:sp>
      <p:sp>
        <p:nvSpPr>
          <p:cNvPr id="24" name="Text 22"/>
          <p:cNvSpPr/>
          <p:nvPr/>
        </p:nvSpPr>
        <p:spPr>
          <a:xfrm>
            <a:off x="1005840" y="4681728"/>
            <a:ext cx="4114800" cy="292608"/>
          </a:xfrm>
          <a:prstGeom prst="rect">
            <a:avLst/>
          </a:prstGeom>
          <a:noFill/>
          <a:ln/>
        </p:spPr>
        <p:txBody>
          <a:bodyPr wrap="square" lIns="0" tIns="0" rIns="0" bIns="0" rtlCol="0" anchor="ctr"/>
          <a:lstStyle/>
          <a:p>
            <a:pPr indent="0" marL="0">
              <a:buNone/>
            </a:pPr>
            <a:r>
              <a:rPr lang="en-US" sz="1400" b="1" dirty="0">
                <a:solidFill>
                  <a:srgbClr val="6D2E46"/>
                </a:solidFill>
                <a:latin typeface="Calibri" pitchFamily="34" charset="0"/>
                <a:ea typeface="Calibri" pitchFamily="34" charset="-122"/>
                <a:cs typeface="Calibri" pitchFamily="34" charset="-120"/>
              </a:rPr>
              <a:t>How do you escape the 4 R’s?</a:t>
            </a:r>
            <a:endParaRPr lang="en-US" sz="1400" dirty="0"/>
          </a:p>
        </p:txBody>
      </p:sp>
      <p:sp>
        <p:nvSpPr>
          <p:cNvPr id="25" name="Text 23"/>
          <p:cNvSpPr/>
          <p:nvPr/>
        </p:nvSpPr>
        <p:spPr>
          <a:xfrm>
            <a:off x="1005840" y="4992624"/>
            <a:ext cx="10149840" cy="502920"/>
          </a:xfrm>
          <a:prstGeom prst="rect">
            <a:avLst/>
          </a:prstGeom>
          <a:noFill/>
          <a:ln/>
        </p:spPr>
        <p:txBody>
          <a:bodyPr wrap="square" lIns="0" tIns="0" rIns="0" bIns="0" rtlCol="0" anchor="ctr"/>
          <a:lstStyle/>
          <a:p>
            <a:pPr indent="0" marL="0">
              <a:lnSpc>
                <a:spcPts val="1700"/>
              </a:lnSpc>
              <a:buNone/>
            </a:pPr>
            <a:r>
              <a:rPr lang="en-US" sz="1200" dirty="0">
                <a:solidFill>
                  <a:srgbClr val="7A6A64"/>
                </a:solidFill>
                <a:latin typeface="Calibri" pitchFamily="34" charset="0"/>
                <a:ea typeface="Calibri" pitchFamily="34" charset="-122"/>
                <a:cs typeface="Calibri" pitchFamily="34" charset="-120"/>
              </a:rPr>
              <a:t>Reverse the negative stacking and create mutual patterns of openness, connection and love. To have a good relationship you need five times as many positive communications as negative ones — to have a great one, you need more.</a:t>
            </a:r>
            <a:endParaRPr lang="en-US" sz="1200" dirty="0"/>
          </a:p>
        </p:txBody>
      </p:sp>
      <p:sp>
        <p:nvSpPr>
          <p:cNvPr id="26" name="Text 24"/>
          <p:cNvSpPr/>
          <p:nvPr/>
        </p:nvSpPr>
        <p:spPr>
          <a:xfrm>
            <a:off x="640080" y="6291072"/>
            <a:ext cx="10881360" cy="292608"/>
          </a:xfrm>
          <a:prstGeom prst="rect">
            <a:avLst/>
          </a:prstGeom>
          <a:noFill/>
          <a:ln/>
        </p:spPr>
        <p:txBody>
          <a:bodyPr wrap="square" lIns="0" tIns="0" rIns="0" bIns="0" rtlCol="0" anchor="ctr"/>
          <a:lstStyle/>
          <a:p>
            <a:pPr indent="0" marL="0">
              <a:buNone/>
            </a:pPr>
            <a:r>
              <a:rPr lang="en-US" sz="1000" i="1" dirty="0">
                <a:solidFill>
                  <a:srgbClr val="7A6A64"/>
                </a:solidFill>
                <a:latin typeface="Calibri" pitchFamily="34" charset="0"/>
                <a:ea typeface="Calibri" pitchFamily="34" charset="-122"/>
                <a:cs typeface="Calibri" pitchFamily="34" charset="-120"/>
              </a:rPr>
              <a:t>Source: “Relationship Mastery – Master Prac”, within The 5 Relationship Stressors.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1E8"/>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100" b="1" spc="200" kern="0" dirty="0">
                <a:solidFill>
                  <a:srgbClr val="A26769"/>
                </a:solidFill>
                <a:latin typeface="Calibri" pitchFamily="34" charset="0"/>
                <a:ea typeface="Calibri" pitchFamily="34" charset="-122"/>
                <a:cs typeface="Calibri" pitchFamily="34" charset="-120"/>
              </a:rPr>
              <a:t>WHERE EVERYTHING LIVES</a:t>
            </a:r>
            <a:endParaRPr lang="en-US" sz="1100" dirty="0"/>
          </a:p>
        </p:txBody>
      </p:sp>
      <p:sp>
        <p:nvSpPr>
          <p:cNvPr id="3" name="Text 1"/>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Source files in Drive</a:t>
            </a:r>
            <a:endParaRPr lang="en-US" sz="3400" dirty="0"/>
          </a:p>
        </p:txBody>
      </p:sp>
      <p:sp>
        <p:nvSpPr>
          <p:cNvPr id="4" name="Shape 2"/>
          <p:cNvSpPr/>
          <p:nvPr/>
        </p:nvSpPr>
        <p:spPr>
          <a:xfrm>
            <a:off x="640080" y="1463040"/>
            <a:ext cx="10881360" cy="566928"/>
          </a:xfrm>
          <a:prstGeom prst="roundRect">
            <a:avLst>
              <a:gd name="adj" fmla="val 11290"/>
            </a:avLst>
          </a:prstGeom>
          <a:solidFill>
            <a:srgbClr val="FFFFFF"/>
          </a:solidFill>
          <a:ln/>
        </p:spPr>
      </p:sp>
      <p:sp>
        <p:nvSpPr>
          <p:cNvPr id="5" name="Shape 3"/>
          <p:cNvSpPr/>
          <p:nvPr/>
        </p:nvSpPr>
        <p:spPr>
          <a:xfrm>
            <a:off x="896112" y="1627632"/>
            <a:ext cx="237744" cy="237744"/>
          </a:xfrm>
          <a:prstGeom prst="ellipse">
            <a:avLst/>
          </a:prstGeom>
          <a:solidFill>
            <a:srgbClr val="6D2E46"/>
          </a:solidFill>
          <a:ln/>
        </p:spPr>
      </p:sp>
      <p:sp>
        <p:nvSpPr>
          <p:cNvPr id="6" name="Text 4"/>
          <p:cNvSpPr/>
          <p:nvPr/>
        </p:nvSpPr>
        <p:spPr>
          <a:xfrm>
            <a:off x="1280160" y="1463040"/>
            <a:ext cx="5212080" cy="566928"/>
          </a:xfrm>
          <a:prstGeom prst="rect">
            <a:avLst/>
          </a:prstGeom>
          <a:noFill/>
          <a:ln/>
        </p:spPr>
        <p:txBody>
          <a:bodyPr wrap="square" lIns="0" tIns="0" rIns="0" bIns="0" rtlCol="0" anchor="ctr"/>
          <a:lstStyle/>
          <a:p>
            <a:pPr indent="0" marL="0">
              <a:buNone/>
            </a:pPr>
            <a:r>
              <a:rPr lang="en-US" sz="1200" b="1" dirty="0">
                <a:solidFill>
                  <a:srgbClr val="2B2320"/>
                </a:solidFill>
                <a:latin typeface="Calibri" pitchFamily="34" charset="0"/>
                <a:ea typeface="Calibri" pitchFamily="34" charset="-122"/>
                <a:cs typeface="Calibri" pitchFamily="34" charset="-120"/>
              </a:rPr>
              <a:t>Session 3 (John Gottman detailed version)</a:t>
            </a:r>
            <a:endParaRPr lang="en-US" sz="1200" dirty="0"/>
          </a:p>
        </p:txBody>
      </p:sp>
      <p:sp>
        <p:nvSpPr>
          <p:cNvPr id="7" name="Text 5"/>
          <p:cNvSpPr/>
          <p:nvPr/>
        </p:nvSpPr>
        <p:spPr>
          <a:xfrm>
            <a:off x="6583680" y="1463040"/>
            <a:ext cx="1554480" cy="566928"/>
          </a:xfrm>
          <a:prstGeom prst="rect">
            <a:avLst/>
          </a:prstGeom>
          <a:noFill/>
          <a:ln/>
        </p:spPr>
        <p:txBody>
          <a:bodyPr wrap="square" lIns="0" tIns="0" rIns="0" bIns="0" rtlCol="0" anchor="ctr"/>
          <a:lstStyle/>
          <a:p>
            <a:pPr indent="0" marL="0">
              <a:buNone/>
            </a:pPr>
            <a:r>
              <a:rPr lang="en-US" sz="1050" dirty="0">
                <a:solidFill>
                  <a:srgbClr val="7A6A64"/>
                </a:solidFill>
                <a:latin typeface="Calibri" pitchFamily="34" charset="0"/>
                <a:ea typeface="Calibri" pitchFamily="34" charset="-122"/>
                <a:cs typeface="Calibri" pitchFamily="34" charset="-120"/>
              </a:rPr>
              <a:t>Google Slides</a:t>
            </a:r>
            <a:endParaRPr lang="en-US" sz="1050" dirty="0"/>
          </a:p>
        </p:txBody>
      </p:sp>
      <p:sp>
        <p:nvSpPr>
          <p:cNvPr id="8" name="Text 6"/>
          <p:cNvSpPr/>
          <p:nvPr/>
        </p:nvSpPr>
        <p:spPr>
          <a:xfrm>
            <a:off x="8229600" y="1463040"/>
            <a:ext cx="3200400" cy="566928"/>
          </a:xfrm>
          <a:prstGeom prst="rect">
            <a:avLst/>
          </a:prstGeom>
          <a:noFill/>
          <a:ln/>
        </p:spPr>
        <p:txBody>
          <a:bodyPr wrap="square" lIns="0" tIns="0" rIns="0" bIns="0" rtlCol="0" anchor="ctr"/>
          <a:lstStyle/>
          <a:p>
            <a:pPr indent="0" marL="0">
              <a:lnSpc>
                <a:spcPts val="1400"/>
              </a:lnSpc>
              <a:buNone/>
            </a:pPr>
            <a:r>
              <a:rPr lang="en-US" sz="1050" dirty="0">
                <a:solidFill>
                  <a:srgbClr val="7A6A64"/>
                </a:solidFill>
                <a:latin typeface="Calibri" pitchFamily="34" charset="0"/>
                <a:ea typeface="Calibri" pitchFamily="34" charset="-122"/>
                <a:cs typeface="Calibri" pitchFamily="34" charset="-120"/>
              </a:rPr>
              <a:t>Models 1, 2, 7 — the current teaching versions</a:t>
            </a:r>
            <a:endParaRPr lang="en-US" sz="1050" dirty="0"/>
          </a:p>
        </p:txBody>
      </p:sp>
      <p:sp>
        <p:nvSpPr>
          <p:cNvPr id="9" name="Shape 7"/>
          <p:cNvSpPr/>
          <p:nvPr/>
        </p:nvSpPr>
        <p:spPr>
          <a:xfrm>
            <a:off x="640080" y="2121408"/>
            <a:ext cx="10881360" cy="566928"/>
          </a:xfrm>
          <a:prstGeom prst="roundRect">
            <a:avLst>
              <a:gd name="adj" fmla="val 11290"/>
            </a:avLst>
          </a:prstGeom>
          <a:solidFill>
            <a:srgbClr val="FFFFFF"/>
          </a:solidFill>
          <a:ln/>
        </p:spPr>
      </p:sp>
      <p:sp>
        <p:nvSpPr>
          <p:cNvPr id="10" name="Shape 8"/>
          <p:cNvSpPr/>
          <p:nvPr/>
        </p:nvSpPr>
        <p:spPr>
          <a:xfrm>
            <a:off x="896112" y="2286000"/>
            <a:ext cx="237744" cy="237744"/>
          </a:xfrm>
          <a:prstGeom prst="ellipse">
            <a:avLst/>
          </a:prstGeom>
          <a:solidFill>
            <a:srgbClr val="6D2E46"/>
          </a:solidFill>
          <a:ln/>
        </p:spPr>
      </p:sp>
      <p:sp>
        <p:nvSpPr>
          <p:cNvPr id="11" name="Text 9"/>
          <p:cNvSpPr/>
          <p:nvPr/>
        </p:nvSpPr>
        <p:spPr>
          <a:xfrm>
            <a:off x="1280160" y="2121408"/>
            <a:ext cx="5212080" cy="566928"/>
          </a:xfrm>
          <a:prstGeom prst="rect">
            <a:avLst/>
          </a:prstGeom>
          <a:noFill/>
          <a:ln/>
        </p:spPr>
        <p:txBody>
          <a:bodyPr wrap="square" lIns="0" tIns="0" rIns="0" bIns="0" rtlCol="0" anchor="ctr"/>
          <a:lstStyle/>
          <a:p>
            <a:pPr indent="0" marL="0">
              <a:buNone/>
            </a:pPr>
            <a:r>
              <a:rPr lang="en-US" sz="1200" b="1" dirty="0">
                <a:solidFill>
                  <a:srgbClr val="2B2320"/>
                </a:solidFill>
                <a:latin typeface="Calibri" pitchFamily="34" charset="0"/>
                <a:ea typeface="Calibri" pitchFamily="34" charset="-122"/>
                <a:cs typeface="Calibri" pitchFamily="34" charset="-120"/>
              </a:rPr>
              <a:t>NTT Master Prac Manual</a:t>
            </a:r>
            <a:endParaRPr lang="en-US" sz="1200" dirty="0"/>
          </a:p>
        </p:txBody>
      </p:sp>
      <p:sp>
        <p:nvSpPr>
          <p:cNvPr id="12" name="Text 10"/>
          <p:cNvSpPr/>
          <p:nvPr/>
        </p:nvSpPr>
        <p:spPr>
          <a:xfrm>
            <a:off x="6583680" y="2121408"/>
            <a:ext cx="1554480" cy="566928"/>
          </a:xfrm>
          <a:prstGeom prst="rect">
            <a:avLst/>
          </a:prstGeom>
          <a:noFill/>
          <a:ln/>
        </p:spPr>
        <p:txBody>
          <a:bodyPr wrap="square" lIns="0" tIns="0" rIns="0" bIns="0" rtlCol="0" anchor="ctr"/>
          <a:lstStyle/>
          <a:p>
            <a:pPr indent="0" marL="0">
              <a:buNone/>
            </a:pPr>
            <a:r>
              <a:rPr lang="en-US" sz="1050" dirty="0">
                <a:solidFill>
                  <a:srgbClr val="7A6A64"/>
                </a:solidFill>
                <a:latin typeface="Calibri" pitchFamily="34" charset="0"/>
                <a:ea typeface="Calibri" pitchFamily="34" charset="-122"/>
                <a:cs typeface="Calibri" pitchFamily="34" charset="-120"/>
              </a:rPr>
              <a:t>Google Doc</a:t>
            </a:r>
            <a:endParaRPr lang="en-US" sz="1050" dirty="0"/>
          </a:p>
        </p:txBody>
      </p:sp>
      <p:sp>
        <p:nvSpPr>
          <p:cNvPr id="13" name="Text 11"/>
          <p:cNvSpPr/>
          <p:nvPr/>
        </p:nvSpPr>
        <p:spPr>
          <a:xfrm>
            <a:off x="8229600" y="2121408"/>
            <a:ext cx="3200400" cy="566928"/>
          </a:xfrm>
          <a:prstGeom prst="rect">
            <a:avLst/>
          </a:prstGeom>
          <a:noFill/>
          <a:ln/>
        </p:spPr>
        <p:txBody>
          <a:bodyPr wrap="square" lIns="0" tIns="0" rIns="0" bIns="0" rtlCol="0" anchor="ctr"/>
          <a:lstStyle/>
          <a:p>
            <a:pPr indent="0" marL="0">
              <a:lnSpc>
                <a:spcPts val="1400"/>
              </a:lnSpc>
              <a:buNone/>
            </a:pPr>
            <a:r>
              <a:rPr lang="en-US" sz="1050" dirty="0">
                <a:solidFill>
                  <a:srgbClr val="7A6A64"/>
                </a:solidFill>
                <a:latin typeface="Calibri" pitchFamily="34" charset="0"/>
                <a:ea typeface="Calibri" pitchFamily="34" charset="-122"/>
                <a:cs typeface="Calibri" pitchFamily="34" charset="-120"/>
              </a:rPr>
              <a:t>Models 3, 4, 5, 8 — “How To Deal With Conflict”, p.159</a:t>
            </a:r>
            <a:endParaRPr lang="en-US" sz="1050" dirty="0"/>
          </a:p>
        </p:txBody>
      </p:sp>
      <p:sp>
        <p:nvSpPr>
          <p:cNvPr id="14" name="Shape 12"/>
          <p:cNvSpPr/>
          <p:nvPr/>
        </p:nvSpPr>
        <p:spPr>
          <a:xfrm>
            <a:off x="640080" y="2779776"/>
            <a:ext cx="10881360" cy="566928"/>
          </a:xfrm>
          <a:prstGeom prst="roundRect">
            <a:avLst>
              <a:gd name="adj" fmla="val 11290"/>
            </a:avLst>
          </a:prstGeom>
          <a:solidFill>
            <a:srgbClr val="FFFFFF"/>
          </a:solidFill>
          <a:ln/>
        </p:spPr>
      </p:sp>
      <p:sp>
        <p:nvSpPr>
          <p:cNvPr id="15" name="Shape 13"/>
          <p:cNvSpPr/>
          <p:nvPr/>
        </p:nvSpPr>
        <p:spPr>
          <a:xfrm>
            <a:off x="896112" y="2944368"/>
            <a:ext cx="237744" cy="237744"/>
          </a:xfrm>
          <a:prstGeom prst="ellipse">
            <a:avLst/>
          </a:prstGeom>
          <a:solidFill>
            <a:srgbClr val="6D2E46"/>
          </a:solidFill>
          <a:ln/>
        </p:spPr>
      </p:sp>
      <p:sp>
        <p:nvSpPr>
          <p:cNvPr id="16" name="Text 14"/>
          <p:cNvSpPr/>
          <p:nvPr/>
        </p:nvSpPr>
        <p:spPr>
          <a:xfrm>
            <a:off x="1280160" y="2779776"/>
            <a:ext cx="5212080" cy="566928"/>
          </a:xfrm>
          <a:prstGeom prst="rect">
            <a:avLst/>
          </a:prstGeom>
          <a:noFill/>
          <a:ln/>
        </p:spPr>
        <p:txBody>
          <a:bodyPr wrap="square" lIns="0" tIns="0" rIns="0" bIns="0" rtlCol="0" anchor="ctr"/>
          <a:lstStyle/>
          <a:p>
            <a:pPr indent="0" marL="0">
              <a:buNone/>
            </a:pPr>
            <a:r>
              <a:rPr lang="en-US" sz="1200" b="1" dirty="0">
                <a:solidFill>
                  <a:srgbClr val="2B2320"/>
                </a:solidFill>
                <a:latin typeface="Calibri" pitchFamily="34" charset="0"/>
                <a:ea typeface="Calibri" pitchFamily="34" charset="-122"/>
                <a:cs typeface="Calibri" pitchFamily="34" charset="-120"/>
              </a:rPr>
              <a:t>NTT Relationship Coaching for Couples</a:t>
            </a:r>
            <a:endParaRPr lang="en-US" sz="1200" dirty="0"/>
          </a:p>
        </p:txBody>
      </p:sp>
      <p:sp>
        <p:nvSpPr>
          <p:cNvPr id="17" name="Text 15"/>
          <p:cNvSpPr/>
          <p:nvPr/>
        </p:nvSpPr>
        <p:spPr>
          <a:xfrm>
            <a:off x="6583680" y="2779776"/>
            <a:ext cx="1554480" cy="566928"/>
          </a:xfrm>
          <a:prstGeom prst="rect">
            <a:avLst/>
          </a:prstGeom>
          <a:noFill/>
          <a:ln/>
        </p:spPr>
        <p:txBody>
          <a:bodyPr wrap="square" lIns="0" tIns="0" rIns="0" bIns="0" rtlCol="0" anchor="ctr"/>
          <a:lstStyle/>
          <a:p>
            <a:pPr indent="0" marL="0">
              <a:buNone/>
            </a:pPr>
            <a:r>
              <a:rPr lang="en-US" sz="1050" dirty="0">
                <a:solidFill>
                  <a:srgbClr val="7A6A64"/>
                </a:solidFill>
                <a:latin typeface="Calibri" pitchFamily="34" charset="0"/>
                <a:ea typeface="Calibri" pitchFamily="34" charset="-122"/>
                <a:cs typeface="Calibri" pitchFamily="34" charset="-120"/>
              </a:rPr>
              <a:t>Doc + 2 PDFs</a:t>
            </a:r>
            <a:endParaRPr lang="en-US" sz="1050" dirty="0"/>
          </a:p>
        </p:txBody>
      </p:sp>
      <p:sp>
        <p:nvSpPr>
          <p:cNvPr id="18" name="Text 16"/>
          <p:cNvSpPr/>
          <p:nvPr/>
        </p:nvSpPr>
        <p:spPr>
          <a:xfrm>
            <a:off x="8229600" y="2779776"/>
            <a:ext cx="3200400" cy="566928"/>
          </a:xfrm>
          <a:prstGeom prst="rect">
            <a:avLst/>
          </a:prstGeom>
          <a:noFill/>
          <a:ln/>
        </p:spPr>
        <p:txBody>
          <a:bodyPr wrap="square" lIns="0" tIns="0" rIns="0" bIns="0" rtlCol="0" anchor="ctr"/>
          <a:lstStyle/>
          <a:p>
            <a:pPr indent="0" marL="0">
              <a:lnSpc>
                <a:spcPts val="1400"/>
              </a:lnSpc>
              <a:buNone/>
            </a:pPr>
            <a:r>
              <a:rPr lang="en-US" sz="1050" dirty="0">
                <a:solidFill>
                  <a:srgbClr val="7A6A64"/>
                </a:solidFill>
                <a:latin typeface="Calibri" pitchFamily="34" charset="0"/>
                <a:ea typeface="Calibri" pitchFamily="34" charset="-122"/>
                <a:cs typeface="Calibri" pitchFamily="34" charset="-120"/>
              </a:rPr>
              <a:t>Model 6 — the 5-session paid intervention</a:t>
            </a:r>
            <a:endParaRPr lang="en-US" sz="1050" dirty="0"/>
          </a:p>
        </p:txBody>
      </p:sp>
      <p:sp>
        <p:nvSpPr>
          <p:cNvPr id="19" name="Shape 17"/>
          <p:cNvSpPr/>
          <p:nvPr/>
        </p:nvSpPr>
        <p:spPr>
          <a:xfrm>
            <a:off x="640080" y="3438144"/>
            <a:ext cx="10881360" cy="566928"/>
          </a:xfrm>
          <a:prstGeom prst="roundRect">
            <a:avLst>
              <a:gd name="adj" fmla="val 11290"/>
            </a:avLst>
          </a:prstGeom>
          <a:solidFill>
            <a:srgbClr val="FFFFFF"/>
          </a:solidFill>
          <a:ln/>
        </p:spPr>
      </p:sp>
      <p:sp>
        <p:nvSpPr>
          <p:cNvPr id="20" name="Shape 18"/>
          <p:cNvSpPr/>
          <p:nvPr/>
        </p:nvSpPr>
        <p:spPr>
          <a:xfrm>
            <a:off x="896112" y="3602736"/>
            <a:ext cx="237744" cy="237744"/>
          </a:xfrm>
          <a:prstGeom prst="ellipse">
            <a:avLst/>
          </a:prstGeom>
          <a:solidFill>
            <a:srgbClr val="6D2E46"/>
          </a:solidFill>
          <a:ln/>
        </p:spPr>
      </p:sp>
      <p:sp>
        <p:nvSpPr>
          <p:cNvPr id="21" name="Text 19"/>
          <p:cNvSpPr/>
          <p:nvPr/>
        </p:nvSpPr>
        <p:spPr>
          <a:xfrm>
            <a:off x="1280160" y="3438144"/>
            <a:ext cx="5212080" cy="566928"/>
          </a:xfrm>
          <a:prstGeom prst="rect">
            <a:avLst/>
          </a:prstGeom>
          <a:noFill/>
          <a:ln/>
        </p:spPr>
        <p:txBody>
          <a:bodyPr wrap="square" lIns="0" tIns="0" rIns="0" bIns="0" rtlCol="0" anchor="ctr"/>
          <a:lstStyle/>
          <a:p>
            <a:pPr indent="0" marL="0">
              <a:buNone/>
            </a:pPr>
            <a:r>
              <a:rPr lang="en-US" sz="1200" b="1" dirty="0">
                <a:solidFill>
                  <a:srgbClr val="2B2320"/>
                </a:solidFill>
                <a:latin typeface="Calibri" pitchFamily="34" charset="0"/>
                <a:ea typeface="Calibri" pitchFamily="34" charset="-122"/>
                <a:cs typeface="Calibri" pitchFamily="34" charset="-120"/>
              </a:rPr>
              <a:t>Relationship Mastery – Master Prac</a:t>
            </a:r>
            <a:endParaRPr lang="en-US" sz="1200" dirty="0"/>
          </a:p>
        </p:txBody>
      </p:sp>
      <p:sp>
        <p:nvSpPr>
          <p:cNvPr id="22" name="Text 20"/>
          <p:cNvSpPr/>
          <p:nvPr/>
        </p:nvSpPr>
        <p:spPr>
          <a:xfrm>
            <a:off x="6583680" y="3438144"/>
            <a:ext cx="1554480" cy="566928"/>
          </a:xfrm>
          <a:prstGeom prst="rect">
            <a:avLst/>
          </a:prstGeom>
          <a:noFill/>
          <a:ln/>
        </p:spPr>
        <p:txBody>
          <a:bodyPr wrap="square" lIns="0" tIns="0" rIns="0" bIns="0" rtlCol="0" anchor="ctr"/>
          <a:lstStyle/>
          <a:p>
            <a:pPr indent="0" marL="0">
              <a:buNone/>
            </a:pPr>
            <a:r>
              <a:rPr lang="en-US" sz="1050" dirty="0">
                <a:solidFill>
                  <a:srgbClr val="7A6A64"/>
                </a:solidFill>
                <a:latin typeface="Calibri" pitchFamily="34" charset="0"/>
                <a:ea typeface="Calibri" pitchFamily="34" charset="-122"/>
                <a:cs typeface="Calibri" pitchFamily="34" charset="-120"/>
              </a:rPr>
              <a:t>Google Doc</a:t>
            </a:r>
            <a:endParaRPr lang="en-US" sz="1050" dirty="0"/>
          </a:p>
        </p:txBody>
      </p:sp>
      <p:sp>
        <p:nvSpPr>
          <p:cNvPr id="23" name="Text 21"/>
          <p:cNvSpPr/>
          <p:nvPr/>
        </p:nvSpPr>
        <p:spPr>
          <a:xfrm>
            <a:off x="8229600" y="3438144"/>
            <a:ext cx="3200400" cy="566928"/>
          </a:xfrm>
          <a:prstGeom prst="rect">
            <a:avLst/>
          </a:prstGeom>
          <a:noFill/>
          <a:ln/>
        </p:spPr>
        <p:txBody>
          <a:bodyPr wrap="square" lIns="0" tIns="0" rIns="0" bIns="0" rtlCol="0" anchor="ctr"/>
          <a:lstStyle/>
          <a:p>
            <a:pPr indent="0" marL="0">
              <a:lnSpc>
                <a:spcPts val="1400"/>
              </a:lnSpc>
              <a:buNone/>
            </a:pPr>
            <a:r>
              <a:rPr lang="en-US" sz="1050" dirty="0">
                <a:solidFill>
                  <a:srgbClr val="7A6A64"/>
                </a:solidFill>
                <a:latin typeface="Calibri" pitchFamily="34" charset="0"/>
                <a:ea typeface="Calibri" pitchFamily="34" charset="-122"/>
                <a:cs typeface="Calibri" pitchFamily="34" charset="-120"/>
              </a:rPr>
              <a:t>Model 9, the 5 Relationship Stressors, Gottman notes</a:t>
            </a:r>
            <a:endParaRPr lang="en-US" sz="1050" dirty="0"/>
          </a:p>
        </p:txBody>
      </p:sp>
      <p:sp>
        <p:nvSpPr>
          <p:cNvPr id="24" name="Shape 22"/>
          <p:cNvSpPr/>
          <p:nvPr/>
        </p:nvSpPr>
        <p:spPr>
          <a:xfrm>
            <a:off x="640080" y="4096512"/>
            <a:ext cx="10881360" cy="566928"/>
          </a:xfrm>
          <a:prstGeom prst="roundRect">
            <a:avLst>
              <a:gd name="adj" fmla="val 11290"/>
            </a:avLst>
          </a:prstGeom>
          <a:solidFill>
            <a:srgbClr val="FFFFFF"/>
          </a:solidFill>
          <a:ln/>
        </p:spPr>
      </p:sp>
      <p:sp>
        <p:nvSpPr>
          <p:cNvPr id="25" name="Shape 23"/>
          <p:cNvSpPr/>
          <p:nvPr/>
        </p:nvSpPr>
        <p:spPr>
          <a:xfrm>
            <a:off x="896112" y="4261104"/>
            <a:ext cx="237744" cy="237744"/>
          </a:xfrm>
          <a:prstGeom prst="ellipse">
            <a:avLst/>
          </a:prstGeom>
          <a:solidFill>
            <a:srgbClr val="A26769"/>
          </a:solidFill>
          <a:ln/>
        </p:spPr>
      </p:sp>
      <p:sp>
        <p:nvSpPr>
          <p:cNvPr id="26" name="Text 24"/>
          <p:cNvSpPr/>
          <p:nvPr/>
        </p:nvSpPr>
        <p:spPr>
          <a:xfrm>
            <a:off x="1280160" y="4096512"/>
            <a:ext cx="5212080" cy="566928"/>
          </a:xfrm>
          <a:prstGeom prst="rect">
            <a:avLst/>
          </a:prstGeom>
          <a:noFill/>
          <a:ln/>
        </p:spPr>
        <p:txBody>
          <a:bodyPr wrap="square" lIns="0" tIns="0" rIns="0" bIns="0" rtlCol="0" anchor="ctr"/>
          <a:lstStyle/>
          <a:p>
            <a:pPr indent="0" marL="0">
              <a:buNone/>
            </a:pPr>
            <a:r>
              <a:rPr lang="en-US" sz="1200" b="1" dirty="0">
                <a:solidFill>
                  <a:srgbClr val="2B2320"/>
                </a:solidFill>
                <a:latin typeface="Calibri" pitchFamily="34" charset="0"/>
                <a:ea typeface="Calibri" pitchFamily="34" charset="-122"/>
                <a:cs typeface="Calibri" pitchFamily="34" charset="-120"/>
              </a:rPr>
              <a:t>Free life coach training slides / Session 3 / Module 2 slides copy</a:t>
            </a:r>
            <a:endParaRPr lang="en-US" sz="1200" dirty="0"/>
          </a:p>
        </p:txBody>
      </p:sp>
      <p:sp>
        <p:nvSpPr>
          <p:cNvPr id="27" name="Text 25"/>
          <p:cNvSpPr/>
          <p:nvPr/>
        </p:nvSpPr>
        <p:spPr>
          <a:xfrm>
            <a:off x="6583680" y="4096512"/>
            <a:ext cx="1554480" cy="566928"/>
          </a:xfrm>
          <a:prstGeom prst="rect">
            <a:avLst/>
          </a:prstGeom>
          <a:noFill/>
          <a:ln/>
        </p:spPr>
        <p:txBody>
          <a:bodyPr wrap="square" lIns="0" tIns="0" rIns="0" bIns="0" rtlCol="0" anchor="ctr"/>
          <a:lstStyle/>
          <a:p>
            <a:pPr indent="0" marL="0">
              <a:buNone/>
            </a:pPr>
            <a:r>
              <a:rPr lang="en-US" sz="1050" dirty="0">
                <a:solidFill>
                  <a:srgbClr val="7A6A64"/>
                </a:solidFill>
                <a:latin typeface="Calibri" pitchFamily="34" charset="0"/>
                <a:ea typeface="Calibri" pitchFamily="34" charset="-122"/>
                <a:cs typeface="Calibri" pitchFamily="34" charset="-120"/>
              </a:rPr>
              <a:t>Google Slides</a:t>
            </a:r>
            <a:endParaRPr lang="en-US" sz="1050" dirty="0"/>
          </a:p>
        </p:txBody>
      </p:sp>
      <p:sp>
        <p:nvSpPr>
          <p:cNvPr id="28" name="Text 26"/>
          <p:cNvSpPr/>
          <p:nvPr/>
        </p:nvSpPr>
        <p:spPr>
          <a:xfrm>
            <a:off x="8229600" y="4096512"/>
            <a:ext cx="3200400" cy="566928"/>
          </a:xfrm>
          <a:prstGeom prst="rect">
            <a:avLst/>
          </a:prstGeom>
          <a:noFill/>
          <a:ln/>
        </p:spPr>
        <p:txBody>
          <a:bodyPr wrap="square" lIns="0" tIns="0" rIns="0" bIns="0" rtlCol="0" anchor="ctr"/>
          <a:lstStyle/>
          <a:p>
            <a:pPr indent="0" marL="0">
              <a:lnSpc>
                <a:spcPts val="1400"/>
              </a:lnSpc>
              <a:buNone/>
            </a:pPr>
            <a:r>
              <a:rPr lang="en-US" sz="1050" dirty="0">
                <a:solidFill>
                  <a:srgbClr val="7A6A64"/>
                </a:solidFill>
                <a:latin typeface="Calibri" pitchFamily="34" charset="0"/>
                <a:ea typeface="Calibri" pitchFamily="34" charset="-122"/>
                <a:cs typeface="Calibri" pitchFamily="34" charset="-120"/>
              </a:rPr>
              <a:t>Repeat copies of the Compassionate Communication Model</a:t>
            </a:r>
            <a:endParaRPr lang="en-US" sz="1050" dirty="0"/>
          </a:p>
        </p:txBody>
      </p:sp>
      <p:sp>
        <p:nvSpPr>
          <p:cNvPr id="29" name="Shape 27"/>
          <p:cNvSpPr/>
          <p:nvPr/>
        </p:nvSpPr>
        <p:spPr>
          <a:xfrm>
            <a:off x="640080" y="4754880"/>
            <a:ext cx="10881360" cy="566928"/>
          </a:xfrm>
          <a:prstGeom prst="roundRect">
            <a:avLst>
              <a:gd name="adj" fmla="val 11290"/>
            </a:avLst>
          </a:prstGeom>
          <a:solidFill>
            <a:srgbClr val="FFFFFF"/>
          </a:solidFill>
          <a:ln/>
        </p:spPr>
      </p:sp>
      <p:sp>
        <p:nvSpPr>
          <p:cNvPr id="30" name="Shape 28"/>
          <p:cNvSpPr/>
          <p:nvPr/>
        </p:nvSpPr>
        <p:spPr>
          <a:xfrm>
            <a:off x="896112" y="4919472"/>
            <a:ext cx="237744" cy="237744"/>
          </a:xfrm>
          <a:prstGeom prst="ellipse">
            <a:avLst/>
          </a:prstGeom>
          <a:solidFill>
            <a:srgbClr val="A26769"/>
          </a:solidFill>
          <a:ln/>
        </p:spPr>
      </p:sp>
      <p:sp>
        <p:nvSpPr>
          <p:cNvPr id="31" name="Text 29"/>
          <p:cNvSpPr/>
          <p:nvPr/>
        </p:nvSpPr>
        <p:spPr>
          <a:xfrm>
            <a:off x="1280160" y="4754880"/>
            <a:ext cx="5212080" cy="566928"/>
          </a:xfrm>
          <a:prstGeom prst="rect">
            <a:avLst/>
          </a:prstGeom>
          <a:noFill/>
          <a:ln/>
        </p:spPr>
        <p:txBody>
          <a:bodyPr wrap="square" lIns="0" tIns="0" rIns="0" bIns="0" rtlCol="0" anchor="ctr"/>
          <a:lstStyle/>
          <a:p>
            <a:pPr indent="0" marL="0">
              <a:buNone/>
            </a:pPr>
            <a:r>
              <a:rPr lang="en-US" sz="1200" b="1" dirty="0">
                <a:solidFill>
                  <a:srgbClr val="2B2320"/>
                </a:solidFill>
                <a:latin typeface="Calibri" pitchFamily="34" charset="0"/>
                <a:ea typeface="Calibri" pitchFamily="34" charset="-122"/>
                <a:cs typeface="Calibri" pitchFamily="34" charset="-120"/>
              </a:rPr>
              <a:t>5-Day training — Session 4 decks (Jun, Aug, Sep, Oct 2025)</a:t>
            </a:r>
            <a:endParaRPr lang="en-US" sz="1200" dirty="0"/>
          </a:p>
        </p:txBody>
      </p:sp>
      <p:sp>
        <p:nvSpPr>
          <p:cNvPr id="32" name="Text 30"/>
          <p:cNvSpPr/>
          <p:nvPr/>
        </p:nvSpPr>
        <p:spPr>
          <a:xfrm>
            <a:off x="6583680" y="4754880"/>
            <a:ext cx="1554480" cy="566928"/>
          </a:xfrm>
          <a:prstGeom prst="rect">
            <a:avLst/>
          </a:prstGeom>
          <a:noFill/>
          <a:ln/>
        </p:spPr>
        <p:txBody>
          <a:bodyPr wrap="square" lIns="0" tIns="0" rIns="0" bIns="0" rtlCol="0" anchor="ctr"/>
          <a:lstStyle/>
          <a:p>
            <a:pPr indent="0" marL="0">
              <a:buNone/>
            </a:pPr>
            <a:r>
              <a:rPr lang="en-US" sz="1050" dirty="0">
                <a:solidFill>
                  <a:srgbClr val="7A6A64"/>
                </a:solidFill>
                <a:latin typeface="Calibri" pitchFamily="34" charset="0"/>
                <a:ea typeface="Calibri" pitchFamily="34" charset="-122"/>
                <a:cs typeface="Calibri" pitchFamily="34" charset="-120"/>
              </a:rPr>
              <a:t>Google Slides</a:t>
            </a:r>
            <a:endParaRPr lang="en-US" sz="1050" dirty="0"/>
          </a:p>
        </p:txBody>
      </p:sp>
      <p:sp>
        <p:nvSpPr>
          <p:cNvPr id="33" name="Text 31"/>
          <p:cNvSpPr/>
          <p:nvPr/>
        </p:nvSpPr>
        <p:spPr>
          <a:xfrm>
            <a:off x="8229600" y="4754880"/>
            <a:ext cx="3200400" cy="566928"/>
          </a:xfrm>
          <a:prstGeom prst="rect">
            <a:avLst/>
          </a:prstGeom>
          <a:noFill/>
          <a:ln/>
        </p:spPr>
        <p:txBody>
          <a:bodyPr wrap="square" lIns="0" tIns="0" rIns="0" bIns="0" rtlCol="0" anchor="ctr"/>
          <a:lstStyle/>
          <a:p>
            <a:pPr indent="0" marL="0">
              <a:lnSpc>
                <a:spcPts val="1400"/>
              </a:lnSpc>
              <a:buNone/>
            </a:pPr>
            <a:r>
              <a:rPr lang="en-US" sz="1050" dirty="0">
                <a:solidFill>
                  <a:srgbClr val="7A6A64"/>
                </a:solidFill>
                <a:latin typeface="Calibri" pitchFamily="34" charset="0"/>
                <a:ea typeface="Calibri" pitchFamily="34" charset="-122"/>
                <a:cs typeface="Calibri" pitchFamily="34" charset="-120"/>
              </a:rPr>
              <a:t>Model 8 with antidotes; the 3 U’s / 3 C’s of intimacy</a:t>
            </a:r>
            <a:endParaRPr lang="en-US" sz="1050" dirty="0"/>
          </a:p>
        </p:txBody>
      </p:sp>
      <p:sp>
        <p:nvSpPr>
          <p:cNvPr id="34" name="Shape 32"/>
          <p:cNvSpPr/>
          <p:nvPr/>
        </p:nvSpPr>
        <p:spPr>
          <a:xfrm>
            <a:off x="640080" y="5413248"/>
            <a:ext cx="10881360" cy="566928"/>
          </a:xfrm>
          <a:prstGeom prst="roundRect">
            <a:avLst>
              <a:gd name="adj" fmla="val 11290"/>
            </a:avLst>
          </a:prstGeom>
          <a:solidFill>
            <a:srgbClr val="FFFFFF"/>
          </a:solidFill>
          <a:ln/>
        </p:spPr>
      </p:sp>
      <p:sp>
        <p:nvSpPr>
          <p:cNvPr id="35" name="Shape 33"/>
          <p:cNvSpPr/>
          <p:nvPr/>
        </p:nvSpPr>
        <p:spPr>
          <a:xfrm>
            <a:off x="896112" y="5577840"/>
            <a:ext cx="237744" cy="237744"/>
          </a:xfrm>
          <a:prstGeom prst="ellipse">
            <a:avLst/>
          </a:prstGeom>
          <a:solidFill>
            <a:srgbClr val="A26769"/>
          </a:solidFill>
          <a:ln/>
        </p:spPr>
      </p:sp>
      <p:sp>
        <p:nvSpPr>
          <p:cNvPr id="36" name="Text 34"/>
          <p:cNvSpPr/>
          <p:nvPr/>
        </p:nvSpPr>
        <p:spPr>
          <a:xfrm>
            <a:off x="1280160" y="5413248"/>
            <a:ext cx="5212080" cy="566928"/>
          </a:xfrm>
          <a:prstGeom prst="rect">
            <a:avLst/>
          </a:prstGeom>
          <a:noFill/>
          <a:ln/>
        </p:spPr>
        <p:txBody>
          <a:bodyPr wrap="square" lIns="0" tIns="0" rIns="0" bIns="0" rtlCol="0" anchor="ctr"/>
          <a:lstStyle/>
          <a:p>
            <a:pPr indent="0" marL="0">
              <a:buNone/>
            </a:pPr>
            <a:r>
              <a:rPr lang="en-US" sz="1200" b="1" dirty="0">
                <a:solidFill>
                  <a:srgbClr val="2B2320"/>
                </a:solidFill>
                <a:latin typeface="Calibri" pitchFamily="34" charset="0"/>
                <a:ea typeface="Calibri" pitchFamily="34" charset="-122"/>
                <a:cs typeface="Calibri" pitchFamily="34" charset="-120"/>
              </a:rPr>
              <a:t>Ignite Love &amp; Passion slides (2020, 2021, Georgina)</a:t>
            </a:r>
            <a:endParaRPr lang="en-US" sz="1200" dirty="0"/>
          </a:p>
        </p:txBody>
      </p:sp>
      <p:sp>
        <p:nvSpPr>
          <p:cNvPr id="37" name="Text 35"/>
          <p:cNvSpPr/>
          <p:nvPr/>
        </p:nvSpPr>
        <p:spPr>
          <a:xfrm>
            <a:off x="6583680" y="5413248"/>
            <a:ext cx="1554480" cy="566928"/>
          </a:xfrm>
          <a:prstGeom prst="rect">
            <a:avLst/>
          </a:prstGeom>
          <a:noFill/>
          <a:ln/>
        </p:spPr>
        <p:txBody>
          <a:bodyPr wrap="square" lIns="0" tIns="0" rIns="0" bIns="0" rtlCol="0" anchor="ctr"/>
          <a:lstStyle/>
          <a:p>
            <a:pPr indent="0" marL="0">
              <a:buNone/>
            </a:pPr>
            <a:r>
              <a:rPr lang="en-US" sz="1050" dirty="0">
                <a:solidFill>
                  <a:srgbClr val="7A6A64"/>
                </a:solidFill>
                <a:latin typeface="Calibri" pitchFamily="34" charset="0"/>
                <a:ea typeface="Calibri" pitchFamily="34" charset="-122"/>
                <a:cs typeface="Calibri" pitchFamily="34" charset="-120"/>
              </a:rPr>
              <a:t>Google Slides</a:t>
            </a:r>
            <a:endParaRPr lang="en-US" sz="1050" dirty="0"/>
          </a:p>
        </p:txBody>
      </p:sp>
      <p:sp>
        <p:nvSpPr>
          <p:cNvPr id="38" name="Text 36"/>
          <p:cNvSpPr/>
          <p:nvPr/>
        </p:nvSpPr>
        <p:spPr>
          <a:xfrm>
            <a:off x="8229600" y="5413248"/>
            <a:ext cx="3200400" cy="566928"/>
          </a:xfrm>
          <a:prstGeom prst="rect">
            <a:avLst/>
          </a:prstGeom>
          <a:noFill/>
          <a:ln/>
        </p:spPr>
        <p:txBody>
          <a:bodyPr wrap="square" lIns="0" tIns="0" rIns="0" bIns="0" rtlCol="0" anchor="ctr"/>
          <a:lstStyle/>
          <a:p>
            <a:pPr indent="0" marL="0">
              <a:lnSpc>
                <a:spcPts val="1400"/>
              </a:lnSpc>
              <a:buNone/>
            </a:pPr>
            <a:r>
              <a:rPr lang="en-US" sz="1050" dirty="0">
                <a:solidFill>
                  <a:srgbClr val="7A6A64"/>
                </a:solidFill>
                <a:latin typeface="Calibri" pitchFamily="34" charset="0"/>
                <a:ea typeface="Calibri" pitchFamily="34" charset="-122"/>
                <a:cs typeface="Calibri" pitchFamily="34" charset="-120"/>
              </a:rPr>
              <a:t>Earlier live-event relationship material</a:t>
            </a:r>
            <a:endParaRPr lang="en-US" sz="1050" dirty="0"/>
          </a:p>
        </p:txBody>
      </p:sp>
      <p:sp>
        <p:nvSpPr>
          <p:cNvPr id="39" name="Text 37"/>
          <p:cNvSpPr/>
          <p:nvPr/>
        </p:nvSpPr>
        <p:spPr>
          <a:xfrm>
            <a:off x="640080" y="6291072"/>
            <a:ext cx="10881360" cy="292608"/>
          </a:xfrm>
          <a:prstGeom prst="rect">
            <a:avLst/>
          </a:prstGeom>
          <a:noFill/>
          <a:ln/>
        </p:spPr>
        <p:txBody>
          <a:bodyPr wrap="square" lIns="0" tIns="0" rIns="0" bIns="0" rtlCol="0" anchor="ctr"/>
          <a:lstStyle/>
          <a:p>
            <a:pPr indent="0" marL="0">
              <a:buNone/>
            </a:pPr>
            <a:r>
              <a:rPr lang="en-US" sz="1000" i="1" dirty="0">
                <a:solidFill>
                  <a:srgbClr val="7A6A64"/>
                </a:solidFill>
                <a:latin typeface="Calibri" pitchFamily="34" charset="0"/>
                <a:ea typeface="Calibri" pitchFamily="34" charset="-122"/>
                <a:cs typeface="Calibri" pitchFamily="34" charset="-120"/>
              </a:rPr>
              <a:t>Gmail was searched too — it references this material in curriculum copy and “8 Secrets to an Extraordinary Love Life” promos, but holds no model document.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48192E"/>
        </a:solidFill>
      </p:bgPr>
    </p:bg>
    <p:spTree>
      <p:nvGrpSpPr>
        <p:cNvPr id="1" name=""/>
        <p:cNvGrpSpPr/>
        <p:nvPr/>
      </p:nvGrpSpPr>
      <p:grpSpPr>
        <a:xfrm>
          <a:off x="0" y="0"/>
          <a:ext cx="0" cy="0"/>
          <a:chOff x="0" y="0"/>
          <a:chExt cx="0" cy="0"/>
        </a:xfrm>
      </p:grpSpPr>
      <p:sp>
        <p:nvSpPr>
          <p:cNvPr id="2" name="Shape 0"/>
          <p:cNvSpPr/>
          <p:nvPr/>
        </p:nvSpPr>
        <p:spPr>
          <a:xfrm>
            <a:off x="9692640" y="4572000"/>
            <a:ext cx="4023360" cy="4023360"/>
          </a:xfrm>
          <a:prstGeom prst="ellipse">
            <a:avLst/>
          </a:prstGeom>
          <a:solidFill>
            <a:srgbClr val="6D2E46">
              <a:alpha val="55000"/>
            </a:srgbClr>
          </a:solidFill>
          <a:ln/>
        </p:spPr>
      </p:sp>
      <p:sp>
        <p:nvSpPr>
          <p:cNvPr id="3" name="Text 1"/>
          <p:cNvSpPr/>
          <p:nvPr/>
        </p:nvSpPr>
        <p:spPr>
          <a:xfrm>
            <a:off x="640080" y="457200"/>
            <a:ext cx="7315200" cy="274320"/>
          </a:xfrm>
          <a:prstGeom prst="rect">
            <a:avLst/>
          </a:prstGeom>
          <a:noFill/>
          <a:ln/>
        </p:spPr>
        <p:txBody>
          <a:bodyPr wrap="square" lIns="0" tIns="0" rIns="0" bIns="0" rtlCol="0" anchor="ctr"/>
          <a:lstStyle/>
          <a:p>
            <a:pPr indent="0" marL="0">
              <a:buNone/>
            </a:pPr>
            <a:r>
              <a:rPr lang="en-US" sz="1100" b="1" spc="200" kern="0" dirty="0">
                <a:solidFill>
                  <a:srgbClr val="C08A3E"/>
                </a:solidFill>
                <a:latin typeface="Calibri" pitchFamily="34" charset="0"/>
                <a:ea typeface="Calibri" pitchFamily="34" charset="-122"/>
                <a:cs typeface="Calibri" pitchFamily="34" charset="-120"/>
              </a:rPr>
              <a:t>PUTTING IT TOGETHER</a:t>
            </a:r>
            <a:endParaRPr lang="en-US" sz="1100" dirty="0"/>
          </a:p>
        </p:txBody>
      </p:sp>
      <p:sp>
        <p:nvSpPr>
          <p:cNvPr id="4" name="Text 2"/>
          <p:cNvSpPr/>
          <p:nvPr/>
        </p:nvSpPr>
        <p:spPr>
          <a:xfrm>
            <a:off x="640080" y="804672"/>
            <a:ext cx="108813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How the nine fit into one sequence</a:t>
            </a:r>
            <a:endParaRPr lang="en-US" sz="3400" dirty="0"/>
          </a:p>
        </p:txBody>
      </p:sp>
      <p:sp>
        <p:nvSpPr>
          <p:cNvPr id="5" name="Shape 3"/>
          <p:cNvSpPr/>
          <p:nvPr/>
        </p:nvSpPr>
        <p:spPr>
          <a:xfrm>
            <a:off x="640080" y="1691640"/>
            <a:ext cx="9784080" cy="786384"/>
          </a:xfrm>
          <a:prstGeom prst="roundRect">
            <a:avLst>
              <a:gd name="adj" fmla="val 9302"/>
            </a:avLst>
          </a:prstGeom>
          <a:solidFill>
            <a:srgbClr val="FFFFFF">
              <a:alpha val="8000"/>
            </a:srgbClr>
          </a:solidFill>
          <a:ln/>
        </p:spPr>
      </p:sp>
      <p:sp>
        <p:nvSpPr>
          <p:cNvPr id="6" name="Text 4"/>
          <p:cNvSpPr/>
          <p:nvPr/>
        </p:nvSpPr>
        <p:spPr>
          <a:xfrm>
            <a:off x="1051560" y="1783080"/>
            <a:ext cx="1920240" cy="310896"/>
          </a:xfrm>
          <a:prstGeom prst="rect">
            <a:avLst/>
          </a:prstGeom>
          <a:noFill/>
          <a:ln/>
        </p:spPr>
        <p:txBody>
          <a:bodyPr wrap="square" lIns="0" tIns="0" rIns="0" bIns="0" rtlCol="0" anchor="ctr"/>
          <a:lstStyle/>
          <a:p>
            <a:pPr indent="0" marL="0">
              <a:buNone/>
            </a:pPr>
            <a:r>
              <a:rPr lang="en-US" sz="1600" b="1" dirty="0">
                <a:solidFill>
                  <a:srgbClr val="C08A3E"/>
                </a:solidFill>
                <a:latin typeface="Cambria" pitchFamily="34" charset="0"/>
                <a:ea typeface="Cambria" pitchFamily="34" charset="-122"/>
                <a:cs typeface="Cambria" pitchFamily="34" charset="-120"/>
              </a:rPr>
              <a:t>Diagnose</a:t>
            </a:r>
            <a:endParaRPr lang="en-US" sz="1600" dirty="0"/>
          </a:p>
        </p:txBody>
      </p:sp>
      <p:sp>
        <p:nvSpPr>
          <p:cNvPr id="7" name="Text 5"/>
          <p:cNvSpPr/>
          <p:nvPr/>
        </p:nvSpPr>
        <p:spPr>
          <a:xfrm>
            <a:off x="1051560" y="2112264"/>
            <a:ext cx="1920240" cy="256032"/>
          </a:xfrm>
          <a:prstGeom prst="rect">
            <a:avLst/>
          </a:prstGeom>
          <a:noFill/>
          <a:ln/>
        </p:spPr>
        <p:txBody>
          <a:bodyPr wrap="square" lIns="0" tIns="0" rIns="0" bIns="0" rtlCol="0" anchor="ctr"/>
          <a:lstStyle/>
          <a:p>
            <a:pPr indent="0" marL="0">
              <a:buNone/>
            </a:pPr>
            <a:r>
              <a:rPr lang="en-US" sz="1000" b="1" spc="100" kern="0" dirty="0">
                <a:solidFill>
                  <a:srgbClr val="A26769"/>
                </a:solidFill>
                <a:latin typeface="Calibri" pitchFamily="34" charset="0"/>
                <a:ea typeface="Calibri" pitchFamily="34" charset="-122"/>
                <a:cs typeface="Calibri" pitchFamily="34" charset="-120"/>
              </a:rPr>
              <a:t>Models 8 &amp; 9</a:t>
            </a:r>
            <a:endParaRPr lang="en-US" sz="1000" dirty="0"/>
          </a:p>
        </p:txBody>
      </p:sp>
      <p:sp>
        <p:nvSpPr>
          <p:cNvPr id="8" name="Text 6"/>
          <p:cNvSpPr/>
          <p:nvPr/>
        </p:nvSpPr>
        <p:spPr>
          <a:xfrm>
            <a:off x="3200400" y="1691640"/>
            <a:ext cx="6949440" cy="786384"/>
          </a:xfrm>
          <a:prstGeom prst="rect">
            <a:avLst/>
          </a:prstGeom>
          <a:noFill/>
          <a:ln/>
        </p:spPr>
        <p:txBody>
          <a:bodyPr wrap="square" lIns="0" tIns="0" rIns="0" bIns="0" rtlCol="0" anchor="ctr"/>
          <a:lstStyle/>
          <a:p>
            <a:pPr indent="0" marL="0">
              <a:lnSpc>
                <a:spcPts val="1700"/>
              </a:lnSpc>
              <a:buNone/>
            </a:pPr>
            <a:r>
              <a:rPr lang="en-US" sz="1200" dirty="0">
                <a:solidFill>
                  <a:srgbClr val="E8D9DC"/>
                </a:solidFill>
                <a:latin typeface="Calibri" pitchFamily="34" charset="0"/>
                <a:ea typeface="Calibri" pitchFamily="34" charset="-122"/>
                <a:cs typeface="Calibri" pitchFamily="34" charset="-120"/>
              </a:rPr>
              <a:t>Which Horseman does each partner ride? How far down the 4 R’s have they stacked?</a:t>
            </a:r>
            <a:endParaRPr lang="en-US" sz="1200" dirty="0"/>
          </a:p>
        </p:txBody>
      </p:sp>
      <p:sp>
        <p:nvSpPr>
          <p:cNvPr id="9" name="Shape 7"/>
          <p:cNvSpPr/>
          <p:nvPr/>
        </p:nvSpPr>
        <p:spPr>
          <a:xfrm>
            <a:off x="640080" y="2606040"/>
            <a:ext cx="9784080" cy="786384"/>
          </a:xfrm>
          <a:prstGeom prst="roundRect">
            <a:avLst>
              <a:gd name="adj" fmla="val 9302"/>
            </a:avLst>
          </a:prstGeom>
          <a:solidFill>
            <a:srgbClr val="FFFFFF">
              <a:alpha val="8000"/>
            </a:srgbClr>
          </a:solidFill>
          <a:ln/>
        </p:spPr>
      </p:sp>
      <p:sp>
        <p:nvSpPr>
          <p:cNvPr id="10" name="Text 8"/>
          <p:cNvSpPr/>
          <p:nvPr/>
        </p:nvSpPr>
        <p:spPr>
          <a:xfrm>
            <a:off x="1051560" y="2697480"/>
            <a:ext cx="1920240" cy="310896"/>
          </a:xfrm>
          <a:prstGeom prst="rect">
            <a:avLst/>
          </a:prstGeom>
          <a:noFill/>
          <a:ln/>
        </p:spPr>
        <p:txBody>
          <a:bodyPr wrap="square" lIns="0" tIns="0" rIns="0" bIns="0" rtlCol="0" anchor="ctr"/>
          <a:lstStyle/>
          <a:p>
            <a:pPr indent="0" marL="0">
              <a:buNone/>
            </a:pPr>
            <a:r>
              <a:rPr lang="en-US" sz="1600" b="1" dirty="0">
                <a:solidFill>
                  <a:srgbClr val="C08A3E"/>
                </a:solidFill>
                <a:latin typeface="Cambria" pitchFamily="34" charset="0"/>
                <a:ea typeface="Cambria" pitchFamily="34" charset="-122"/>
                <a:cs typeface="Cambria" pitchFamily="34" charset="-120"/>
              </a:rPr>
              <a:t>Prepare</a:t>
            </a:r>
            <a:endParaRPr lang="en-US" sz="1600" dirty="0"/>
          </a:p>
        </p:txBody>
      </p:sp>
      <p:sp>
        <p:nvSpPr>
          <p:cNvPr id="11" name="Text 9"/>
          <p:cNvSpPr/>
          <p:nvPr/>
        </p:nvSpPr>
        <p:spPr>
          <a:xfrm>
            <a:off x="1051560" y="3026664"/>
            <a:ext cx="1920240" cy="256032"/>
          </a:xfrm>
          <a:prstGeom prst="rect">
            <a:avLst/>
          </a:prstGeom>
          <a:noFill/>
          <a:ln/>
        </p:spPr>
        <p:txBody>
          <a:bodyPr wrap="square" lIns="0" tIns="0" rIns="0" bIns="0" rtlCol="0" anchor="ctr"/>
          <a:lstStyle/>
          <a:p>
            <a:pPr indent="0" marL="0">
              <a:buNone/>
            </a:pPr>
            <a:r>
              <a:rPr lang="en-US" sz="1000" b="1" spc="100" kern="0" dirty="0">
                <a:solidFill>
                  <a:srgbClr val="A26769"/>
                </a:solidFill>
                <a:latin typeface="Calibri" pitchFamily="34" charset="0"/>
                <a:ea typeface="Calibri" pitchFamily="34" charset="-122"/>
                <a:cs typeface="Calibri" pitchFamily="34" charset="-120"/>
              </a:rPr>
              <a:t>Models 5 &amp; 2</a:t>
            </a:r>
            <a:endParaRPr lang="en-US" sz="1000" dirty="0"/>
          </a:p>
        </p:txBody>
      </p:sp>
      <p:sp>
        <p:nvSpPr>
          <p:cNvPr id="12" name="Text 10"/>
          <p:cNvSpPr/>
          <p:nvPr/>
        </p:nvSpPr>
        <p:spPr>
          <a:xfrm>
            <a:off x="3200400" y="2606040"/>
            <a:ext cx="6949440" cy="786384"/>
          </a:xfrm>
          <a:prstGeom prst="rect">
            <a:avLst/>
          </a:prstGeom>
          <a:noFill/>
          <a:ln/>
        </p:spPr>
        <p:txBody>
          <a:bodyPr wrap="square" lIns="0" tIns="0" rIns="0" bIns="0" rtlCol="0" anchor="ctr"/>
          <a:lstStyle/>
          <a:p>
            <a:pPr indent="0" marL="0">
              <a:lnSpc>
                <a:spcPts val="1700"/>
              </a:lnSpc>
              <a:buNone/>
            </a:pPr>
            <a:r>
              <a:rPr lang="en-US" sz="1200" dirty="0">
                <a:solidFill>
                  <a:srgbClr val="E8D9DC"/>
                </a:solidFill>
                <a:latin typeface="Calibri" pitchFamily="34" charset="0"/>
                <a:ea typeface="Calibri" pitchFamily="34" charset="-122"/>
                <a:cs typeface="Calibri" pitchFamily="34" charset="-120"/>
              </a:rPr>
              <a:t>Run the self-audit and The Mantra. Agree the rules. Find the meaning you attached.</a:t>
            </a:r>
            <a:endParaRPr lang="en-US" sz="1200" dirty="0"/>
          </a:p>
        </p:txBody>
      </p:sp>
      <p:sp>
        <p:nvSpPr>
          <p:cNvPr id="13" name="Shape 11"/>
          <p:cNvSpPr/>
          <p:nvPr/>
        </p:nvSpPr>
        <p:spPr>
          <a:xfrm>
            <a:off x="640080" y="3520440"/>
            <a:ext cx="9784080" cy="786384"/>
          </a:xfrm>
          <a:prstGeom prst="roundRect">
            <a:avLst>
              <a:gd name="adj" fmla="val 9302"/>
            </a:avLst>
          </a:prstGeom>
          <a:solidFill>
            <a:srgbClr val="FFFFFF">
              <a:alpha val="8000"/>
            </a:srgbClr>
          </a:solidFill>
          <a:ln/>
        </p:spPr>
      </p:sp>
      <p:sp>
        <p:nvSpPr>
          <p:cNvPr id="14" name="Text 12"/>
          <p:cNvSpPr/>
          <p:nvPr/>
        </p:nvSpPr>
        <p:spPr>
          <a:xfrm>
            <a:off x="1051560" y="3611880"/>
            <a:ext cx="1920240" cy="310896"/>
          </a:xfrm>
          <a:prstGeom prst="rect">
            <a:avLst/>
          </a:prstGeom>
          <a:noFill/>
          <a:ln/>
        </p:spPr>
        <p:txBody>
          <a:bodyPr wrap="square" lIns="0" tIns="0" rIns="0" bIns="0" rtlCol="0" anchor="ctr"/>
          <a:lstStyle/>
          <a:p>
            <a:pPr indent="0" marL="0">
              <a:buNone/>
            </a:pPr>
            <a:r>
              <a:rPr lang="en-US" sz="1600" b="1" dirty="0">
                <a:solidFill>
                  <a:srgbClr val="C08A3E"/>
                </a:solidFill>
                <a:latin typeface="Cambria" pitchFamily="34" charset="0"/>
                <a:ea typeface="Cambria" pitchFamily="34" charset="-122"/>
                <a:cs typeface="Cambria" pitchFamily="34" charset="-120"/>
              </a:rPr>
              <a:t>Speak</a:t>
            </a:r>
            <a:endParaRPr lang="en-US" sz="1600" dirty="0"/>
          </a:p>
        </p:txBody>
      </p:sp>
      <p:sp>
        <p:nvSpPr>
          <p:cNvPr id="15" name="Text 13"/>
          <p:cNvSpPr/>
          <p:nvPr/>
        </p:nvSpPr>
        <p:spPr>
          <a:xfrm>
            <a:off x="1051560" y="3941064"/>
            <a:ext cx="1920240" cy="256032"/>
          </a:xfrm>
          <a:prstGeom prst="rect">
            <a:avLst/>
          </a:prstGeom>
          <a:noFill/>
          <a:ln/>
        </p:spPr>
        <p:txBody>
          <a:bodyPr wrap="square" lIns="0" tIns="0" rIns="0" bIns="0" rtlCol="0" anchor="ctr"/>
          <a:lstStyle/>
          <a:p>
            <a:pPr indent="0" marL="0">
              <a:buNone/>
            </a:pPr>
            <a:r>
              <a:rPr lang="en-US" sz="1000" b="1" spc="100" kern="0" dirty="0">
                <a:solidFill>
                  <a:srgbClr val="A26769"/>
                </a:solidFill>
                <a:latin typeface="Calibri" pitchFamily="34" charset="0"/>
                <a:ea typeface="Calibri" pitchFamily="34" charset="-122"/>
                <a:cs typeface="Calibri" pitchFamily="34" charset="-120"/>
              </a:rPr>
              <a:t>Models 1, 3 &amp; 6</a:t>
            </a:r>
            <a:endParaRPr lang="en-US" sz="1000" dirty="0"/>
          </a:p>
        </p:txBody>
      </p:sp>
      <p:sp>
        <p:nvSpPr>
          <p:cNvPr id="16" name="Text 14"/>
          <p:cNvSpPr/>
          <p:nvPr/>
        </p:nvSpPr>
        <p:spPr>
          <a:xfrm>
            <a:off x="3200400" y="3520440"/>
            <a:ext cx="6949440" cy="786384"/>
          </a:xfrm>
          <a:prstGeom prst="rect">
            <a:avLst/>
          </a:prstGeom>
          <a:noFill/>
          <a:ln/>
        </p:spPr>
        <p:txBody>
          <a:bodyPr wrap="square" lIns="0" tIns="0" rIns="0" bIns="0" rtlCol="0" anchor="ctr"/>
          <a:lstStyle/>
          <a:p>
            <a:pPr indent="0" marL="0">
              <a:lnSpc>
                <a:spcPts val="1700"/>
              </a:lnSpc>
              <a:buNone/>
            </a:pPr>
            <a:r>
              <a:rPr lang="en-US" sz="1200" dirty="0">
                <a:solidFill>
                  <a:srgbClr val="E8D9DC"/>
                </a:solidFill>
                <a:latin typeface="Calibri" pitchFamily="34" charset="0"/>
                <a:ea typeface="Calibri" pitchFamily="34" charset="-122"/>
                <a:cs typeface="Calibri" pitchFamily="34" charset="-120"/>
              </a:rPr>
              <a:t>Preframe, express the feeling, own the meaning both ways, state the need.</a:t>
            </a:r>
            <a:endParaRPr lang="en-US" sz="1200" dirty="0"/>
          </a:p>
        </p:txBody>
      </p:sp>
      <p:sp>
        <p:nvSpPr>
          <p:cNvPr id="17" name="Shape 15"/>
          <p:cNvSpPr/>
          <p:nvPr/>
        </p:nvSpPr>
        <p:spPr>
          <a:xfrm>
            <a:off x="640080" y="4434840"/>
            <a:ext cx="9784080" cy="786384"/>
          </a:xfrm>
          <a:prstGeom prst="roundRect">
            <a:avLst>
              <a:gd name="adj" fmla="val 9302"/>
            </a:avLst>
          </a:prstGeom>
          <a:solidFill>
            <a:srgbClr val="FFFFFF">
              <a:alpha val="8000"/>
            </a:srgbClr>
          </a:solidFill>
          <a:ln/>
        </p:spPr>
      </p:sp>
      <p:sp>
        <p:nvSpPr>
          <p:cNvPr id="18" name="Text 16"/>
          <p:cNvSpPr/>
          <p:nvPr/>
        </p:nvSpPr>
        <p:spPr>
          <a:xfrm>
            <a:off x="1051560" y="4526280"/>
            <a:ext cx="1920240" cy="310896"/>
          </a:xfrm>
          <a:prstGeom prst="rect">
            <a:avLst/>
          </a:prstGeom>
          <a:noFill/>
          <a:ln/>
        </p:spPr>
        <p:txBody>
          <a:bodyPr wrap="square" lIns="0" tIns="0" rIns="0" bIns="0" rtlCol="0" anchor="ctr"/>
          <a:lstStyle/>
          <a:p>
            <a:pPr indent="0" marL="0">
              <a:buNone/>
            </a:pPr>
            <a:r>
              <a:rPr lang="en-US" sz="1600" b="1" dirty="0">
                <a:solidFill>
                  <a:srgbClr val="C08A3E"/>
                </a:solidFill>
                <a:latin typeface="Cambria" pitchFamily="34" charset="0"/>
                <a:ea typeface="Cambria" pitchFamily="34" charset="-122"/>
                <a:cs typeface="Cambria" pitchFamily="34" charset="-120"/>
              </a:rPr>
              <a:t>Receive</a:t>
            </a:r>
            <a:endParaRPr lang="en-US" sz="1600" dirty="0"/>
          </a:p>
        </p:txBody>
      </p:sp>
      <p:sp>
        <p:nvSpPr>
          <p:cNvPr id="19" name="Text 17"/>
          <p:cNvSpPr/>
          <p:nvPr/>
        </p:nvSpPr>
        <p:spPr>
          <a:xfrm>
            <a:off x="1051560" y="4855464"/>
            <a:ext cx="1920240" cy="256032"/>
          </a:xfrm>
          <a:prstGeom prst="rect">
            <a:avLst/>
          </a:prstGeom>
          <a:noFill/>
          <a:ln/>
        </p:spPr>
        <p:txBody>
          <a:bodyPr wrap="square" lIns="0" tIns="0" rIns="0" bIns="0" rtlCol="0" anchor="ctr"/>
          <a:lstStyle/>
          <a:p>
            <a:pPr indent="0" marL="0">
              <a:buNone/>
            </a:pPr>
            <a:r>
              <a:rPr lang="en-US" sz="1000" b="1" spc="100" kern="0" dirty="0">
                <a:solidFill>
                  <a:srgbClr val="A26769"/>
                </a:solidFill>
                <a:latin typeface="Calibri" pitchFamily="34" charset="0"/>
                <a:ea typeface="Calibri" pitchFamily="34" charset="-122"/>
                <a:cs typeface="Calibri" pitchFamily="34" charset="-120"/>
              </a:rPr>
              <a:t>Model 4</a:t>
            </a:r>
            <a:endParaRPr lang="en-US" sz="1000" dirty="0"/>
          </a:p>
        </p:txBody>
      </p:sp>
      <p:sp>
        <p:nvSpPr>
          <p:cNvPr id="20" name="Text 18"/>
          <p:cNvSpPr/>
          <p:nvPr/>
        </p:nvSpPr>
        <p:spPr>
          <a:xfrm>
            <a:off x="3200400" y="4434840"/>
            <a:ext cx="6949440" cy="786384"/>
          </a:xfrm>
          <a:prstGeom prst="rect">
            <a:avLst/>
          </a:prstGeom>
          <a:noFill/>
          <a:ln/>
        </p:spPr>
        <p:txBody>
          <a:bodyPr wrap="square" lIns="0" tIns="0" rIns="0" bIns="0" rtlCol="0" anchor="ctr"/>
          <a:lstStyle/>
          <a:p>
            <a:pPr indent="0" marL="0">
              <a:lnSpc>
                <a:spcPts val="1700"/>
              </a:lnSpc>
              <a:buNone/>
            </a:pPr>
            <a:r>
              <a:rPr lang="en-US" sz="1200" dirty="0">
                <a:solidFill>
                  <a:srgbClr val="E8D9DC"/>
                </a:solidFill>
                <a:latin typeface="Calibri" pitchFamily="34" charset="0"/>
                <a:ea typeface="Calibri" pitchFamily="34" charset="-122"/>
                <a:cs typeface="Calibri" pitchFamily="34" charset="-120"/>
              </a:rPr>
              <a:t>Apologise for the impact, clarify intent, commit to change.</a:t>
            </a:r>
            <a:endParaRPr lang="en-US" sz="1200" dirty="0"/>
          </a:p>
        </p:txBody>
      </p:sp>
      <p:sp>
        <p:nvSpPr>
          <p:cNvPr id="21" name="Shape 19"/>
          <p:cNvSpPr/>
          <p:nvPr/>
        </p:nvSpPr>
        <p:spPr>
          <a:xfrm>
            <a:off x="640080" y="5349240"/>
            <a:ext cx="9784080" cy="786384"/>
          </a:xfrm>
          <a:prstGeom prst="roundRect">
            <a:avLst>
              <a:gd name="adj" fmla="val 9302"/>
            </a:avLst>
          </a:prstGeom>
          <a:solidFill>
            <a:srgbClr val="FFFFFF">
              <a:alpha val="8000"/>
            </a:srgbClr>
          </a:solidFill>
          <a:ln/>
        </p:spPr>
      </p:sp>
      <p:sp>
        <p:nvSpPr>
          <p:cNvPr id="22" name="Text 20"/>
          <p:cNvSpPr/>
          <p:nvPr/>
        </p:nvSpPr>
        <p:spPr>
          <a:xfrm>
            <a:off x="1051560" y="5440680"/>
            <a:ext cx="1920240" cy="310896"/>
          </a:xfrm>
          <a:prstGeom prst="rect">
            <a:avLst/>
          </a:prstGeom>
          <a:noFill/>
          <a:ln/>
        </p:spPr>
        <p:txBody>
          <a:bodyPr wrap="square" lIns="0" tIns="0" rIns="0" bIns="0" rtlCol="0" anchor="ctr"/>
          <a:lstStyle/>
          <a:p>
            <a:pPr indent="0" marL="0">
              <a:buNone/>
            </a:pPr>
            <a:r>
              <a:rPr lang="en-US" sz="1600" b="1" dirty="0">
                <a:solidFill>
                  <a:srgbClr val="C08A3E"/>
                </a:solidFill>
                <a:latin typeface="Cambria" pitchFamily="34" charset="0"/>
                <a:ea typeface="Cambria" pitchFamily="34" charset="-122"/>
                <a:cs typeface="Cambria" pitchFamily="34" charset="-120"/>
              </a:rPr>
              <a:t>Rebuild</a:t>
            </a:r>
            <a:endParaRPr lang="en-US" sz="1600" dirty="0"/>
          </a:p>
        </p:txBody>
      </p:sp>
      <p:sp>
        <p:nvSpPr>
          <p:cNvPr id="23" name="Text 21"/>
          <p:cNvSpPr/>
          <p:nvPr/>
        </p:nvSpPr>
        <p:spPr>
          <a:xfrm>
            <a:off x="1051560" y="5769864"/>
            <a:ext cx="1920240" cy="256032"/>
          </a:xfrm>
          <a:prstGeom prst="rect">
            <a:avLst/>
          </a:prstGeom>
          <a:noFill/>
          <a:ln/>
        </p:spPr>
        <p:txBody>
          <a:bodyPr wrap="square" lIns="0" tIns="0" rIns="0" bIns="0" rtlCol="0" anchor="ctr"/>
          <a:lstStyle/>
          <a:p>
            <a:pPr indent="0" marL="0">
              <a:buNone/>
            </a:pPr>
            <a:r>
              <a:rPr lang="en-US" sz="1000" b="1" spc="100" kern="0" dirty="0">
                <a:solidFill>
                  <a:srgbClr val="A26769"/>
                </a:solidFill>
                <a:latin typeface="Calibri" pitchFamily="34" charset="0"/>
                <a:ea typeface="Calibri" pitchFamily="34" charset="-122"/>
                <a:cs typeface="Calibri" pitchFamily="34" charset="-120"/>
              </a:rPr>
              <a:t>Models 7</a:t>
            </a:r>
            <a:endParaRPr lang="en-US" sz="1000" dirty="0"/>
          </a:p>
        </p:txBody>
      </p:sp>
      <p:sp>
        <p:nvSpPr>
          <p:cNvPr id="24" name="Text 22"/>
          <p:cNvSpPr/>
          <p:nvPr/>
        </p:nvSpPr>
        <p:spPr>
          <a:xfrm>
            <a:off x="3200400" y="5349240"/>
            <a:ext cx="6949440" cy="786384"/>
          </a:xfrm>
          <a:prstGeom prst="rect">
            <a:avLst/>
          </a:prstGeom>
          <a:noFill/>
          <a:ln/>
        </p:spPr>
        <p:txBody>
          <a:bodyPr wrap="square" lIns="0" tIns="0" rIns="0" bIns="0" rtlCol="0" anchor="ctr"/>
          <a:lstStyle/>
          <a:p>
            <a:pPr indent="0" marL="0">
              <a:lnSpc>
                <a:spcPts val="1700"/>
              </a:lnSpc>
              <a:buNone/>
            </a:pPr>
            <a:r>
              <a:rPr lang="en-US" sz="1200" dirty="0">
                <a:solidFill>
                  <a:srgbClr val="E8D9DC"/>
                </a:solidFill>
                <a:latin typeface="Calibri" pitchFamily="34" charset="0"/>
                <a:ea typeface="Calibri" pitchFamily="34" charset="-122"/>
                <a:cs typeface="Calibri" pitchFamily="34" charset="-120"/>
              </a:rPr>
              <a:t>Ownership, commitment, an act of love — then needs, dreams and shared meaning.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1E8"/>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100" b="1" spc="200" kern="0" dirty="0">
                <a:solidFill>
                  <a:srgbClr val="A26769"/>
                </a:solidFill>
                <a:latin typeface="Calibri" pitchFamily="34" charset="0"/>
                <a:ea typeface="Calibri" pitchFamily="34" charset="-122"/>
                <a:cs typeface="Calibri" pitchFamily="34" charset="-120"/>
              </a:rPr>
              <a:t>RECOMMENDATION</a:t>
            </a:r>
            <a:endParaRPr lang="en-US" sz="1100" dirty="0"/>
          </a:p>
        </p:txBody>
      </p:sp>
      <p:sp>
        <p:nvSpPr>
          <p:cNvPr id="3" name="Text 1"/>
          <p:cNvSpPr/>
          <p:nvPr/>
        </p:nvSpPr>
        <p:spPr>
          <a:xfrm>
            <a:off x="640080" y="411480"/>
            <a:ext cx="10881360" cy="77724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One thing worth fixing</a:t>
            </a:r>
            <a:endParaRPr lang="en-US" sz="3400" dirty="0"/>
          </a:p>
        </p:txBody>
      </p:sp>
      <p:sp>
        <p:nvSpPr>
          <p:cNvPr id="4" name="Shape 2"/>
          <p:cNvSpPr/>
          <p:nvPr/>
        </p:nvSpPr>
        <p:spPr>
          <a:xfrm>
            <a:off x="640080" y="1508760"/>
            <a:ext cx="10881360" cy="1261872"/>
          </a:xfrm>
          <a:prstGeom prst="roundRect">
            <a:avLst>
              <a:gd name="adj" fmla="val 7246"/>
            </a:avLst>
          </a:prstGeom>
          <a:solidFill>
            <a:srgbClr val="FFFFFF"/>
          </a:solidFill>
          <a:ln/>
          <a:effectLst>
            <a:outerShdw sx="100000" sy="100000" kx="0" ky="0" algn="bl" rotWithShape="0" blurRad="101600" dist="25400" dir="5400000">
              <a:srgbClr val="6D2E46">
                <a:alpha val="10000"/>
              </a:srgbClr>
            </a:outerShdw>
          </a:effectLst>
        </p:spPr>
      </p:sp>
      <p:sp>
        <p:nvSpPr>
          <p:cNvPr id="5" name="Shape 3"/>
          <p:cNvSpPr/>
          <p:nvPr/>
        </p:nvSpPr>
        <p:spPr>
          <a:xfrm>
            <a:off x="1005840" y="1920240"/>
            <a:ext cx="457200" cy="457200"/>
          </a:xfrm>
          <a:prstGeom prst="ellipse">
            <a:avLst/>
          </a:prstGeom>
          <a:solidFill>
            <a:srgbClr val="6D2E46"/>
          </a:solidFill>
          <a:ln/>
        </p:spPr>
      </p:sp>
      <p:sp>
        <p:nvSpPr>
          <p:cNvPr id="6" name="Text 4"/>
          <p:cNvSpPr/>
          <p:nvPr/>
        </p:nvSpPr>
        <p:spPr>
          <a:xfrm>
            <a:off x="1005840" y="192024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691640" y="1709928"/>
            <a:ext cx="2743200" cy="320040"/>
          </a:xfrm>
          <a:prstGeom prst="rect">
            <a:avLst/>
          </a:prstGeom>
          <a:noFill/>
          <a:ln/>
        </p:spPr>
        <p:txBody>
          <a:bodyPr wrap="square" lIns="0" tIns="0" rIns="0" bIns="0" rtlCol="0" anchor="ctr"/>
          <a:lstStyle/>
          <a:p>
            <a:pPr indent="0" marL="0">
              <a:buNone/>
            </a:pPr>
            <a:r>
              <a:rPr lang="en-US" sz="1600" b="1" dirty="0">
                <a:solidFill>
                  <a:srgbClr val="6D2E46"/>
                </a:solidFill>
                <a:latin typeface="Cambria" pitchFamily="34" charset="0"/>
                <a:ea typeface="Cambria" pitchFamily="34" charset="-122"/>
                <a:cs typeface="Cambria" pitchFamily="34" charset="-120"/>
              </a:rPr>
              <a:t>The overlap</a:t>
            </a:r>
            <a:endParaRPr lang="en-US" sz="1600" dirty="0"/>
          </a:p>
        </p:txBody>
      </p:sp>
      <p:sp>
        <p:nvSpPr>
          <p:cNvPr id="8" name="Text 6"/>
          <p:cNvSpPr/>
          <p:nvPr/>
        </p:nvSpPr>
        <p:spPr>
          <a:xfrm>
            <a:off x="1691640" y="2057400"/>
            <a:ext cx="9326880" cy="594360"/>
          </a:xfrm>
          <a:prstGeom prst="rect">
            <a:avLst/>
          </a:prstGeom>
          <a:noFill/>
          <a:ln/>
        </p:spPr>
        <p:txBody>
          <a:bodyPr wrap="square" lIns="0" tIns="0" rIns="0" bIns="0" rtlCol="0" anchor="ctr"/>
          <a:lstStyle/>
          <a:p>
            <a:pPr indent="0" marL="0">
              <a:lnSpc>
                <a:spcPts val="1800"/>
              </a:lnSpc>
              <a:buNone/>
            </a:pPr>
            <a:r>
              <a:rPr lang="en-US" sz="1250" dirty="0">
                <a:solidFill>
                  <a:srgbClr val="2B2320"/>
                </a:solidFill>
                <a:latin typeface="Calibri" pitchFamily="34" charset="0"/>
                <a:ea typeface="Calibri" pitchFamily="34" charset="-122"/>
                <a:cs typeface="Calibri" pitchFamily="34" charset="-120"/>
              </a:rPr>
              <a:t>The Conscious Request / Response pair and the Compassionate Communication Model teach the same conversation with different words. Students who read the manual and watch the deck get two scripts.</a:t>
            </a:r>
            <a:endParaRPr lang="en-US" sz="1250" dirty="0"/>
          </a:p>
        </p:txBody>
      </p:sp>
      <p:sp>
        <p:nvSpPr>
          <p:cNvPr id="9" name="Shape 7"/>
          <p:cNvSpPr/>
          <p:nvPr/>
        </p:nvSpPr>
        <p:spPr>
          <a:xfrm>
            <a:off x="640080" y="2926080"/>
            <a:ext cx="10881360" cy="1261872"/>
          </a:xfrm>
          <a:prstGeom prst="roundRect">
            <a:avLst>
              <a:gd name="adj" fmla="val 7246"/>
            </a:avLst>
          </a:prstGeom>
          <a:solidFill>
            <a:srgbClr val="FFFFFF"/>
          </a:solidFill>
          <a:ln/>
          <a:effectLst>
            <a:outerShdw sx="100000" sy="100000" kx="0" ky="0" algn="bl" rotWithShape="0" blurRad="101600" dist="25400" dir="5400000">
              <a:srgbClr val="6D2E46">
                <a:alpha val="10000"/>
              </a:srgbClr>
            </a:outerShdw>
          </a:effectLst>
        </p:spPr>
      </p:sp>
      <p:sp>
        <p:nvSpPr>
          <p:cNvPr id="10" name="Shape 8"/>
          <p:cNvSpPr/>
          <p:nvPr/>
        </p:nvSpPr>
        <p:spPr>
          <a:xfrm>
            <a:off x="1005840" y="3337560"/>
            <a:ext cx="457200" cy="457200"/>
          </a:xfrm>
          <a:prstGeom prst="ellipse">
            <a:avLst/>
          </a:prstGeom>
          <a:solidFill>
            <a:srgbClr val="A26769"/>
          </a:solidFill>
          <a:ln/>
        </p:spPr>
      </p:sp>
      <p:sp>
        <p:nvSpPr>
          <p:cNvPr id="11" name="Text 9"/>
          <p:cNvSpPr/>
          <p:nvPr/>
        </p:nvSpPr>
        <p:spPr>
          <a:xfrm>
            <a:off x="1005840" y="33375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1691640" y="3127248"/>
            <a:ext cx="2743200" cy="320040"/>
          </a:xfrm>
          <a:prstGeom prst="rect">
            <a:avLst/>
          </a:prstGeom>
          <a:noFill/>
          <a:ln/>
        </p:spPr>
        <p:txBody>
          <a:bodyPr wrap="square" lIns="0" tIns="0" rIns="0" bIns="0" rtlCol="0" anchor="ctr"/>
          <a:lstStyle/>
          <a:p>
            <a:pPr indent="0" marL="0">
              <a:buNone/>
            </a:pPr>
            <a:r>
              <a:rPr lang="en-US" sz="1600" b="1" dirty="0">
                <a:solidFill>
                  <a:srgbClr val="A26769"/>
                </a:solidFill>
                <a:latin typeface="Cambria" pitchFamily="34" charset="0"/>
                <a:ea typeface="Cambria" pitchFamily="34" charset="-122"/>
                <a:cs typeface="Cambria" pitchFamily="34" charset="-120"/>
              </a:rPr>
              <a:t>The gap</a:t>
            </a:r>
            <a:endParaRPr lang="en-US" sz="1600" dirty="0"/>
          </a:p>
        </p:txBody>
      </p:sp>
      <p:sp>
        <p:nvSpPr>
          <p:cNvPr id="13" name="Text 11"/>
          <p:cNvSpPr/>
          <p:nvPr/>
        </p:nvSpPr>
        <p:spPr>
          <a:xfrm>
            <a:off x="1691640" y="3474720"/>
            <a:ext cx="9326880" cy="594360"/>
          </a:xfrm>
          <a:prstGeom prst="rect">
            <a:avLst/>
          </a:prstGeom>
          <a:noFill/>
          <a:ln/>
        </p:spPr>
        <p:txBody>
          <a:bodyPr wrap="square" lIns="0" tIns="0" rIns="0" bIns="0" rtlCol="0" anchor="ctr"/>
          <a:lstStyle/>
          <a:p>
            <a:pPr indent="0" marL="0">
              <a:lnSpc>
                <a:spcPts val="1800"/>
              </a:lnSpc>
              <a:buNone/>
            </a:pPr>
            <a:r>
              <a:rPr lang="en-US" sz="1250" dirty="0">
                <a:solidFill>
                  <a:srgbClr val="2B2320"/>
                </a:solidFill>
                <a:latin typeface="Calibri" pitchFamily="34" charset="0"/>
                <a:ea typeface="Calibri" pitchFamily="34" charset="-122"/>
                <a:cs typeface="Calibri" pitchFamily="34" charset="-120"/>
              </a:rPr>
              <a:t>The Compassionate Communication Model is marked “Not in manual” on every slide. The newest and best version of this material has never made it into the printed curriculum.</a:t>
            </a:r>
            <a:endParaRPr lang="en-US" sz="1250" dirty="0"/>
          </a:p>
        </p:txBody>
      </p:sp>
      <p:sp>
        <p:nvSpPr>
          <p:cNvPr id="14" name="Shape 12"/>
          <p:cNvSpPr/>
          <p:nvPr/>
        </p:nvSpPr>
        <p:spPr>
          <a:xfrm>
            <a:off x="640080" y="4343400"/>
            <a:ext cx="10881360" cy="1261872"/>
          </a:xfrm>
          <a:prstGeom prst="roundRect">
            <a:avLst>
              <a:gd name="adj" fmla="val 7246"/>
            </a:avLst>
          </a:prstGeom>
          <a:solidFill>
            <a:srgbClr val="FFFFFF"/>
          </a:solidFill>
          <a:ln/>
          <a:effectLst>
            <a:outerShdw sx="100000" sy="100000" kx="0" ky="0" algn="bl" rotWithShape="0" blurRad="101600" dist="25400" dir="5400000">
              <a:srgbClr val="6D2E46">
                <a:alpha val="10000"/>
              </a:srgbClr>
            </a:outerShdw>
          </a:effectLst>
        </p:spPr>
      </p:sp>
      <p:sp>
        <p:nvSpPr>
          <p:cNvPr id="15" name="Shape 13"/>
          <p:cNvSpPr/>
          <p:nvPr/>
        </p:nvSpPr>
        <p:spPr>
          <a:xfrm>
            <a:off x="1005840" y="4754880"/>
            <a:ext cx="457200" cy="457200"/>
          </a:xfrm>
          <a:prstGeom prst="ellipse">
            <a:avLst/>
          </a:prstGeom>
          <a:solidFill>
            <a:srgbClr val="48192E"/>
          </a:solidFill>
          <a:ln/>
        </p:spPr>
      </p:sp>
      <p:sp>
        <p:nvSpPr>
          <p:cNvPr id="16" name="Text 14"/>
          <p:cNvSpPr/>
          <p:nvPr/>
        </p:nvSpPr>
        <p:spPr>
          <a:xfrm>
            <a:off x="1005840" y="475488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p:nvPr/>
        </p:nvSpPr>
        <p:spPr>
          <a:xfrm>
            <a:off x="1691640" y="4544568"/>
            <a:ext cx="2743200" cy="320040"/>
          </a:xfrm>
          <a:prstGeom prst="rect">
            <a:avLst/>
          </a:prstGeom>
          <a:noFill/>
          <a:ln/>
        </p:spPr>
        <p:txBody>
          <a:bodyPr wrap="square" lIns="0" tIns="0" rIns="0" bIns="0" rtlCol="0" anchor="ctr"/>
          <a:lstStyle/>
          <a:p>
            <a:pPr indent="0" marL="0">
              <a:buNone/>
            </a:pPr>
            <a:r>
              <a:rPr lang="en-US" sz="1600" b="1" dirty="0">
                <a:solidFill>
                  <a:srgbClr val="48192E"/>
                </a:solidFill>
                <a:latin typeface="Cambria" pitchFamily="34" charset="0"/>
                <a:ea typeface="Cambria" pitchFamily="34" charset="-122"/>
                <a:cs typeface="Cambria" pitchFamily="34" charset="-120"/>
              </a:rPr>
              <a:t>The fix</a:t>
            </a:r>
            <a:endParaRPr lang="en-US" sz="1600" dirty="0"/>
          </a:p>
        </p:txBody>
      </p:sp>
      <p:sp>
        <p:nvSpPr>
          <p:cNvPr id="18" name="Text 16"/>
          <p:cNvSpPr/>
          <p:nvPr/>
        </p:nvSpPr>
        <p:spPr>
          <a:xfrm>
            <a:off x="1691640" y="4892040"/>
            <a:ext cx="9326880" cy="594360"/>
          </a:xfrm>
          <a:prstGeom prst="rect">
            <a:avLst/>
          </a:prstGeom>
          <a:noFill/>
          <a:ln/>
        </p:spPr>
        <p:txBody>
          <a:bodyPr wrap="square" lIns="0" tIns="0" rIns="0" bIns="0" rtlCol="0" anchor="ctr"/>
          <a:lstStyle/>
          <a:p>
            <a:pPr indent="0" marL="0">
              <a:lnSpc>
                <a:spcPts val="1800"/>
              </a:lnSpc>
              <a:buNone/>
            </a:pPr>
            <a:r>
              <a:rPr lang="en-US" sz="1250" dirty="0">
                <a:solidFill>
                  <a:srgbClr val="2B2320"/>
                </a:solidFill>
                <a:latin typeface="Calibri" pitchFamily="34" charset="0"/>
                <a:ea typeface="Calibri" pitchFamily="34" charset="-122"/>
                <a:cs typeface="Calibri" pitchFamily="34" charset="-120"/>
              </a:rPr>
              <a:t>Name one canonical model, fold the Conscious Response steps into Step 5, and get it into the Master Prac manual and the couples intervention document.</a:t>
            </a:r>
            <a:endParaRPr lang="en-US" sz="1250" dirty="0"/>
          </a:p>
        </p:txBody>
      </p:sp>
      <p:sp>
        <p:nvSpPr>
          <p:cNvPr id="19" name="Text 17"/>
          <p:cNvSpPr/>
          <p:nvPr/>
        </p:nvSpPr>
        <p:spPr>
          <a:xfrm>
            <a:off x="640080" y="6291072"/>
            <a:ext cx="10881360" cy="292608"/>
          </a:xfrm>
          <a:prstGeom prst="rect">
            <a:avLst/>
          </a:prstGeom>
          <a:noFill/>
          <a:ln/>
        </p:spPr>
        <p:txBody>
          <a:bodyPr wrap="square" lIns="0" tIns="0" rIns="0" bIns="0" rtlCol="0" anchor="ctr"/>
          <a:lstStyle/>
          <a:p>
            <a:pPr indent="0" marL="0">
              <a:buNone/>
            </a:pPr>
            <a:r>
              <a:rPr lang="en-US" sz="1000" i="1" dirty="0">
                <a:solidFill>
                  <a:srgbClr val="7A6A64"/>
                </a:solidFill>
                <a:latin typeface="Calibri" pitchFamily="34" charset="0"/>
                <a:ea typeface="Calibri" pitchFamily="34" charset="-122"/>
                <a:cs typeface="Calibri" pitchFamily="34" charset="-120"/>
              </a:rPr>
              <a:t>Prepared from Google Drive and Gmail, 19 August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Relationship Resolution Communication Models</dc:title>
  <dc:subject>PptxGenJS Presentation</dc:subject>
  <dc:creator>Luke Hawkins Coaching</dc:creator>
  <cp:lastModifiedBy>Luke Hawkins Coaching</cp:lastModifiedBy>
  <cp:revision>1</cp:revision>
  <dcterms:created xsi:type="dcterms:W3CDTF">2026-08-19T06:21:38Z</dcterms:created>
  <dcterms:modified xsi:type="dcterms:W3CDTF">2026-08-19T06:21:38Z</dcterms:modified>
</cp:coreProperties>
</file>