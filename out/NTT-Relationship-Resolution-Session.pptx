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8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463040"/>
            <a:ext cx="5120640" cy="5120640"/>
          </a:xfrm>
          <a:prstGeom prst="ellipse">
            <a:avLst/>
          </a:prstGeom>
          <a:solidFill>
            <a:srgbClr val="6D2E4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2926080" cy="2926080"/>
          </a:xfrm>
          <a:prstGeom prst="ellipse">
            <a:avLst/>
          </a:prstGeom>
          <a:solidFill>
            <a:srgbClr val="A2676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HAWKINS COACHING  ·  STUDENT TRAINING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NTT Relationship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Session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9-phase facilitated repair process for coaching couples through conflict — from the accountability contract to the closing ritual.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live client sessions  ·  Teach it exactly in this order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phases: contract → truth → repair → ritual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92808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Contract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1892808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155448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Diagnosis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4192" y="1892808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52560" y="1554480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Frames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2999232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337560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2999232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Structures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89120" y="2999232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3337560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4645152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2999232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38160" y="2999232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94192" y="3337560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52560" y="2999232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Needs Audit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4443984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" y="4782312"/>
            <a:ext cx="475488" cy="47548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4782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54480" y="4443984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Commitment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389120" y="4443984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45152" y="4782312"/>
            <a:ext cx="475488" cy="47548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34" name="Text 32"/>
          <p:cNvSpPr/>
          <p:nvPr/>
        </p:nvSpPr>
        <p:spPr>
          <a:xfrm>
            <a:off x="4645152" y="4782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03520" y="4443984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the Hurt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138160" y="4443984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94192" y="4782312"/>
            <a:ext cx="475488" cy="47548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38" name="Text 36"/>
          <p:cNvSpPr/>
          <p:nvPr/>
        </p:nvSpPr>
        <p:spPr>
          <a:xfrm>
            <a:off x="8394192" y="4782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052560" y="4443984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Repair Ritual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0080" y="62910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1–4 set the container. Phases 5–7 do the work. Phases 8–9 seal it. Never skip the ritual.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Pre-work: notes in hand, gates answered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partner privately prepares: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top 5 hurtful experiences in the relationship, written as “when you said / did X…”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top 1–3 core issues in the relationship.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bring these as written notes — and do NOT share them with each other beforehand.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written notes matter: in the exchange (Phase 5) they read from their notes 1–3 items at a time. Notes keep the session structured instead of becoming a live argument.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508760"/>
            <a:ext cx="3840480" cy="4023360"/>
          </a:xfrm>
          <a:prstGeom prst="roundRect">
            <a:avLst>
              <a:gd name="adj" fmla="val 2381"/>
            </a:avLst>
          </a:prstGeom>
          <a:solidFill>
            <a:srgbClr val="48192E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GATE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Is this relationship worth saving?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0" y="2926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Are you willing to do whatever it takes to make it work?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3977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partners must answer YES to both before you book the session. Anything less than a clear yes is its own conversation first.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2910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NTT couples intervention: these two questions are asked before any relationship coaching begins.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Accountability Contract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explicit permission before anything else. This is your licence for every hard intervention later — without it, truth feels like attack.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— VERBATIM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10149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going to be holding you both accountable for your behaviours and the impact of them on your partner — and that means you are accountable to change and to getting the relationship you want. Do I have permission from you both to do that?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I may also say things that you don’t want to hear — but need to hear — to get the relationship you want. Is that okay?”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35204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526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verbal YES from each partner individually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 is not a contract. Make each of them say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4343400"/>
            <a:ext cx="35204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4526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 hesitant yes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 is information — pause and dig into it before moving 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4343400"/>
            <a:ext cx="35204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4526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back to it all session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“Remember what you gave me permission to do?” resets the room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Diagnosis — then check privately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78308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Horsemen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377440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2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Criticism · Defensiveness · Contempt · Stonewalling. Frame them as the only reasons a relationship fails.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3552" y="24688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66160" y="15544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8E5261"/>
          </a:solidFill>
          <a:ln/>
        </p:spPr>
      </p:sp>
      <p:sp>
        <p:nvSpPr>
          <p:cNvPr id="9" name="Text 7"/>
          <p:cNvSpPr/>
          <p:nvPr/>
        </p:nvSpPr>
        <p:spPr>
          <a:xfrm>
            <a:off x="3822192" y="178308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fire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22192" y="2377440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2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“not enough” trigger response — and/or emotional needs not being met.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99632" y="24688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15544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6748272" y="178308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cost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48272" y="2377440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2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horseman lowers emotional safety and trust.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25712" y="24688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0" y="15544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48192E"/>
          </a:solidFill>
          <a:ln/>
        </p:spPr>
      </p:sp>
      <p:sp>
        <p:nvSpPr>
          <p:cNvPr id="17" name="Text 15"/>
          <p:cNvSpPr/>
          <p:nvPr/>
        </p:nvSpPr>
        <p:spPr>
          <a:xfrm>
            <a:off x="9674352" y="178308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ends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74352" y="2377440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2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safety and trust drop, intimacy goes down. That’s the mechanism.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“We’re not here to judge the behaviour. We’re here to find the trigger underneath it.”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681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— The private check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99262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each partner aside individually: “Is there anything else, behind closed doors, that you haven’t shared?” You need the full picture before the exchange begins — a surprise in Phase 5 derails the whole session.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8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the 10 Frames for Resolution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these BEFORE anyone expresses anything. They are the rules of engagement for the session — and for the relationship.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011680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1874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to understand before being understood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98448" y="2167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always precedes advice.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42616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2871216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27340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the heart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98448" y="30266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 to go to the head.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02152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730752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35935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that you create their experience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98448" y="38862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responsible for the feelings you create in your partner.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361688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590288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361688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them how you’d like to be treated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221224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5449824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449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5312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at Level 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98448" y="56052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all about the other — fill their needs at a 10, unconditionally.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1783080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64808" y="2011680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22008" y="178308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own triggers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63640" y="2642616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64808" y="2871216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35" name="Text 33"/>
          <p:cNvSpPr/>
          <p:nvPr/>
        </p:nvSpPr>
        <p:spPr>
          <a:xfrm>
            <a:off x="6464808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22008" y="27340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behaviour is love or a cry for help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22008" y="30266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third category.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502152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64808" y="3730752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40" name="Text 38"/>
          <p:cNvSpPr/>
          <p:nvPr/>
        </p:nvSpPr>
        <p:spPr>
          <a:xfrm>
            <a:off x="646480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22008" y="3502152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Non-judgement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263640" y="4361688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64808" y="4590288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44" name="Text 42"/>
          <p:cNvSpPr/>
          <p:nvPr/>
        </p:nvSpPr>
        <p:spPr>
          <a:xfrm>
            <a:off x="6464808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22008" y="44531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Genuine, sincere apologies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922008" y="47457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must feel you understand the impact — and hear a real commitment not to repeat it.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5221224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64808" y="5449824"/>
            <a:ext cx="329184" cy="329184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49" name="Text 47"/>
          <p:cNvSpPr/>
          <p:nvPr/>
        </p:nvSpPr>
        <p:spPr>
          <a:xfrm>
            <a:off x="6464808" y="5449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22008" y="5221224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question their intent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Coach’s job: enforce these live. The moment anyone breaks a frame — a “yeah but”, an eye-roll, a counter-attack — stop the room and name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Two Structures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both scripts up before the exchange, so each partner knows exactly what to say in each seat.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8470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The Conscious Request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BY THE ONE WHO WAS HURT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05840" y="2569464"/>
            <a:ext cx="256032" cy="2560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89888" y="25420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said or did X, I felt Y.”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063240"/>
            <a:ext cx="256032" cy="2560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know this wasn’t your intention — do you mind sharing what meaning you think got triggered inside of you? Where do you think that comes from?”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3922776"/>
            <a:ext cx="256032" cy="2560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89888" y="389534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(Partner answers: “My reason for my behaviour was… the meaning that got triggered in me was…”)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4562856"/>
            <a:ext cx="256032" cy="2560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562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89888" y="45354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okay if in the future you ______?” — state specifically how you want your needs met.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64592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18470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The Conscious Apology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217627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BY THE ONE WHO CAUSED THE HURT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2569464"/>
            <a:ext cx="256032" cy="25603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13448" y="254203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sorry for ______.” — describe specifically what you did, the way THEY perceived it, not the way you meant it.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3209544"/>
            <a:ext cx="256032" cy="25603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13448" y="3182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intention was X.”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3703320"/>
            <a:ext cx="256032" cy="25603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13448" y="36758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“Obviously that didn’t work, and I’m sorry for hurting you.”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4197096"/>
            <a:ext cx="256032" cy="25603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13448" y="41696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I meet your needs in the future?”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29400" y="4690872"/>
            <a:ext cx="256032" cy="25603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4690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13448" y="4663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agreement and commitment.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2910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apology isn’t complete until it’s RECEIVED as sincere. Teach students to check: “Did that land? Did you feel it?”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THE HEART OF THE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Exchange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675120" cy="1234440"/>
          </a:xfrm>
          <a:prstGeom prst="roundRect">
            <a:avLst>
              <a:gd name="adj" fmla="val 7407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wants to own their role first — and be the first to listen?”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volunteers to listen first sets the tone. Acknowledge the courage out loud.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3483864"/>
            <a:ext cx="402336" cy="40233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44752" y="33832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 shares their 5 experiences — 1 to 3 at a time, never the whole list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44752" y="371246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 listens using the frames, then responds with the Conscious Apology structure.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824" y="4398264"/>
            <a:ext cx="402336" cy="40233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44752" y="42976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 names their top 1–3 core issues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44752" y="462686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 explains and OWNS why they do it — the trigger underneath, not a justification.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7824" y="5312664"/>
            <a:ext cx="402336" cy="40233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44752" y="52120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44752" y="554126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 shares; Partner A listens and responds the same way.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1463040"/>
            <a:ext cx="3840480" cy="4526280"/>
          </a:xfrm>
          <a:prstGeom prst="roundRect">
            <a:avLst>
              <a:gd name="adj" fmla="val 2381"/>
            </a:avLst>
          </a:prstGeom>
          <a:solidFill>
            <a:srgbClr val="48192E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PACING RULE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2148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batches.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completion.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046720" y="32004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hurt gets expressed, met with a conscious apology, and CLOSED before the next one opens.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controls pacing — 1–3 items at a time is a facilitation skill, not a suggestion. Dumping the whole list creates flooding; batching creates repair.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2910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defensiveness while listening — it’s the most common frame-break in this phase.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Needs Audit — the gap is the lesson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Self-score 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03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partner rates THEMSELVES: “How well am I meeting all of their needs, 0–10?”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0" y="18288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377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against reality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3017520"/>
            <a:ext cx="2103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their self-score with what their partner actually experiences.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18288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2377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gap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3017520"/>
            <a:ext cx="2103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the two numbers is the lesson. Get them to own it — no defending the self-score.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18320" y="16002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92640" y="18288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0" y="23774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0" y="3017520"/>
            <a:ext cx="2103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partner expresses specifically what would make it a 10 — and the first commits to 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7091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BOTH directions. He audits how he meets her needs; she audits how she meets his. The audit is symmetrical even when the hurt isn’t.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OPTIONAL BUT POWERFUL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Relationship Vision &amp; the Real Commitment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partner expresses the relationship they want: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they feel together, do together, express together and share together? What will they commit to for each other — no matter what?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speak. Neither responds to the other’s vision with edits — they receive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COMMITMENT — A REAL ONE, NOT JUST WORDS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0" y="2057400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commit to ______ (state the behaviour your partner needs).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know this is who I am — I will honour my word from this day forward.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love you so much. You mean ______ to me.”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2910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commitment sounds like words without weight, stop and ask for it again — from the heart, with eye contact.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8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Receiving the Hurt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057400"/>
            <a:ext cx="457200" cy="45720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19019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or sit, totally present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17373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receives from the other what has hurt them. No defending. No explaining. No flinching. Total presence.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" y="3291840"/>
            <a:ext cx="457200" cy="45720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31363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Apologise for the specifics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0" y="2971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apologise for the SPECIFIC things that hurt their partner — named one by one, not a blanket “I’m sorry for everything”.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32688" y="4526280"/>
            <a:ext cx="457200" cy="45720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3708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4206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partner receives in the same way.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Coach’s watchpoint: the moment the receiver starts explaining instead of receiving, stop them. Receiving IS the exercise.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 · THE CLOSE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Repair Ritual — never end without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ritual converts the repair into a felt experience they take home. Choose one: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Ho’oponopono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to face, said both ways, from the heart: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“I’m sorry”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apologises for the pain caused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love you”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721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what they mean to them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“Please forgive me”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4270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ownership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“Thank you”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4818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relationship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73736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965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0" y="2240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Presence Exercise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278892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partners hold eye contact — soft music optional.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holds loving presence; the other openly receives it from the heart.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repeats silently: “I love you, I’ll take care of you.”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love genuinely lands, they welcome each other with an embrace.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2910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end the session on Phase 8. The hurt was opened — the ritual is what closes it.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QUICK-REFERENCE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session on one card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3000" y="11521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&amp; MOVE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1152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55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72768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48132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contract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0" y="148132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hesitant “yes” — dig into 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48256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1956816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4 Horsemen + private check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0" y="19568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 information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432304"/>
            <a:ext cx="11155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523744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43230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10 Frames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0" y="243230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Head-talk, “yeah but”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2999232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2907792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Request + Apology scripts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29077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straight to the exchange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383280"/>
            <a:ext cx="11155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474720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38328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— 1–3 items at a time, both ways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0" y="33832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Defensiveness while listening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3950208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385876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audit, both directions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315200" y="385876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self-score vs partner-score gap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334256"/>
            <a:ext cx="11155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4425696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" y="4334256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real commitment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315200" y="433425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without weight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4901184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80974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hurt, fully present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315200" y="480974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instead of receiving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02920" y="5285232"/>
            <a:ext cx="11155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" y="5376672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5376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43000" y="5285232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Ho’oponopono or presence exercise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315200" y="528523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without the ritual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0080" y="62910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1–4 set the container · 5–7 do the work · 8–9 seal it.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8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THESE LAST — THEY MAKE THE WHOLE THING 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261872"/>
          </a:xfrm>
          <a:prstGeom prst="roundRect">
            <a:avLst>
              <a:gd name="adj" fmla="val 7246"/>
            </a:avLst>
          </a:prstGeom>
          <a:solidFill>
            <a:srgbClr val="FFFFFF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48256"/>
            <a:ext cx="457200" cy="45720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coach controls pacing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249424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items at a time is a facilitation skill, not a suggestion. Your job is to keep each repair loop small enough to close.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881360" cy="1261872"/>
          </a:xfrm>
          <a:prstGeom prst="roundRect">
            <a:avLst>
              <a:gd name="adj" fmla="val 7246"/>
            </a:avLst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465576"/>
            <a:ext cx="457200" cy="45720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32644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apology isn’t complete until it’s received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666744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the receiving partner every time: “Did that land? Did you feel it?” If it didn’t, the apology goes again.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10881360" cy="1261872"/>
          </a:xfrm>
          <a:prstGeom prst="roundRect">
            <a:avLst>
              <a:gd name="adj" fmla="val 7246"/>
            </a:avLst>
          </a:prstGeom>
          <a:solidFill>
            <a:srgbClr val="FFFFFF">
              <a:alpha val="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882896"/>
            <a:ext cx="457200" cy="45720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6817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enforce the frames — that’s what they hired you 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084064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0CE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intervention you make traces back to the permission you took in Phase 1. That’s why Phase 1 is never optional.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NTT Relationship Resolution Session  ·  Luke Hawkins Coaching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NTT Relationship Resolution Session</dc:title>
  <dc:subject>PptxGenJS Presentation</dc:subject>
  <dc:creator>Luke Hawkins Coaching</dc:creator>
  <cp:lastModifiedBy>Luke Hawkins Coaching</cp:lastModifiedBy>
  <cp:revision>1</cp:revision>
  <dcterms:created xsi:type="dcterms:W3CDTF">2026-08-19T07:26:40Z</dcterms:created>
  <dcterms:modified xsi:type="dcterms:W3CDTF">2026-08-19T07:26:40Z</dcterms:modified>
</cp:coreProperties>
</file>