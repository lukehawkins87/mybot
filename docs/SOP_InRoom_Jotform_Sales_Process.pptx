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ci.jotform.com/form/252998741221867" TargetMode="External"/><Relationship Id="rId3" Type="http://schemas.openxmlformats.org/officeDocument/2006/relationships/hyperlink" Target="https://pci.jotform.com/form/260675831638870" TargetMode="External"/><Relationship Id="rId4" Type="http://schemas.openxmlformats.org/officeDocument/2006/relationships/hyperlink" Target="https://pci.jotform.com/form/251951019685867" TargetMode="External"/><Relationship Id="rId5" Type="http://schemas.openxmlformats.org/officeDocument/2006/relationships/hyperlink" Target="https://pci.jotform.com/form/242967831977880" TargetMode="External"/><Relationship Id="rId6" Type="http://schemas.openxmlformats.org/officeDocument/2006/relationships/hyperlink" Target="https://pci.jotform.com/form/260685894235873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orm.jotform.com/251947416259870" TargetMode="External"/><Relationship Id="rId3" Type="http://schemas.openxmlformats.org/officeDocument/2006/relationships/hyperlink" Target="https://form.jotform.com/251947469715875" TargetMode="External"/><Relationship Id="rId4" Type="http://schemas.openxmlformats.org/officeDocument/2006/relationships/hyperlink" Target="https://form.jotform.com/251948252023858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FCA311"/>
                </a:solidFill>
                <a:latin typeface="Montserrat"/>
              </a:rPr>
              <a:t>SOP  •  TEAM TRAINING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4800" b="1" i="0">
                <a:solidFill>
                  <a:srgbClr val="FFFFFF"/>
                </a:solidFill>
                <a:latin typeface="Montserrat"/>
              </a:rPr>
              <a:t>In-Room Jotform Sales Process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2400" b="0" i="0">
                <a:solidFill>
                  <a:srgbClr val="C9D4EA"/>
                </a:solidFill>
                <a:latin typeface="Montserrat"/>
              </a:rPr>
              <a:t>✅ Onboarding Process After Purchase</a:t>
            </a:r>
          </a:p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9AA8C4"/>
                </a:solidFill>
                <a:latin typeface="Roboto"/>
              </a:rPr>
              <a:t>Every client. Every time. Same simple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28016" cy="713232"/>
          </a:xfrm>
          <a:prstGeom prst="round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6576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Montserrat"/>
              </a:rPr>
              <a:t>🔹 STEP 1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213D"/>
                </a:solidFill>
                <a:latin typeface="Montserrat"/>
              </a:rPr>
              <a:t>Step 1: Fill Out the JotForm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222A3A"/>
                </a:solidFill>
                <a:latin typeface="Roboto"/>
              </a:rPr>
              <a:t>Every client must first complete the JotForm to proceed.</a:t>
            </a:r>
            <a:r>
              <a:rPr sz="1400" b="0" i="1">
                <a:solidFill>
                  <a:srgbClr val="5A6478"/>
                </a:solidFill>
                <a:latin typeface="Roboto"/>
              </a:rPr>
              <a:t>    Link to all Jotforms: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553212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29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Montserrat"/>
              </a:rPr>
              <a:t>🏢  IN PERSON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100"/>
              </a:spcAft>
            </a:pPr>
            <a:r>
              <a:rPr sz="1350" b="1" i="0">
                <a:solidFill>
                  <a:srgbClr val="222A3A"/>
                </a:solidFill>
                <a:latin typeface="Roboto"/>
              </a:rPr>
              <a:t>In-room assisted Jotform (AUD) 🇦🇺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2563EB"/>
                </a:solidFill>
                <a:latin typeface="Roboto"/>
                <a:hlinkClick r:id="rId2"/>
              </a:rPr>
              <a:t>https://pci.jotform.com/form/252998741221867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100"/>
              </a:spcAft>
            </a:pPr>
            <a:r>
              <a:rPr sz="1350" b="1" i="0">
                <a:solidFill>
                  <a:srgbClr val="222A3A"/>
                </a:solidFill>
                <a:latin typeface="Roboto"/>
              </a:rPr>
              <a:t>In-room assisted Jotform (USD) 🇺🇲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2563EB"/>
                </a:solidFill>
                <a:latin typeface="Roboto"/>
                <a:hlinkClick r:id="rId3"/>
              </a:rPr>
              <a:t>https://pci.jotform.com/form/260675831638870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100"/>
              </a:spcAft>
            </a:pPr>
            <a:r>
              <a:rPr sz="1350" b="1" i="0">
                <a:solidFill>
                  <a:srgbClr val="222A3A"/>
                </a:solidFill>
                <a:latin typeface="Roboto"/>
              </a:rPr>
              <a:t>In-room self-service QR code Jotform (AUD) 🇦🇺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2563EB"/>
                </a:solidFill>
                <a:latin typeface="Roboto"/>
                <a:hlinkClick r:id="rId4"/>
              </a:rPr>
              <a:t>https://pci.jotform.com/form/251951019685867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54406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 i="0">
                <a:solidFill>
                  <a:srgbClr val="0E9F6E"/>
                </a:solidFill>
                <a:latin typeface="Montserrat"/>
              </a:rPr>
              <a:t>🌐  ONLINE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100"/>
              </a:spcAft>
            </a:pPr>
            <a:r>
              <a:rPr sz="1350" b="1" i="0">
                <a:solidFill>
                  <a:srgbClr val="222A3A"/>
                </a:solidFill>
                <a:latin typeface="Roboto"/>
              </a:rPr>
              <a:t>Online self-service Jotform (AUD) 🇦🇺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2563EB"/>
                </a:solidFill>
                <a:latin typeface="Roboto"/>
                <a:hlinkClick r:id="rId5"/>
              </a:rPr>
              <a:t>https://pci.jotform.com/form/242967831977880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100"/>
              </a:spcAft>
            </a:pPr>
            <a:r>
              <a:rPr sz="1350" b="1" i="0">
                <a:solidFill>
                  <a:srgbClr val="222A3A"/>
                </a:solidFill>
                <a:latin typeface="Roboto"/>
              </a:rPr>
              <a:t>Online self-service Jotform (USD) 🇺🇲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2563EB"/>
                </a:solidFill>
                <a:latin typeface="Roboto"/>
                <a:hlinkClick r:id="rId6"/>
              </a:rPr>
              <a:t>https://pci.jotform.com/form/260685894235873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FCA311"/>
                </a:solidFill>
                <a:latin typeface="Montserrat"/>
              </a:rPr>
              <a:t>🔹 STEP 2</a:t>
            </a:r>
          </a:p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Choose Your Payment Method
&amp; Follow the Correct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3337560" cy="214884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 w="12700">
            <a:solidFill>
              <a:srgbClr val="354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86200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0" i="0">
                <a:solidFill>
                  <a:srgbClr val="FFFFFF"/>
                </a:solidFill>
                <a:latin typeface="Roboto"/>
              </a:rPr>
              <a:t>💳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Bank Transfer / Physical
Debit Card / PayPal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AA8C4"/>
                </a:solidFill>
                <a:latin typeface="Roboto"/>
              </a:rPr>
              <a:t>Pay inside the Jotform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657600"/>
            <a:ext cx="3337560" cy="214884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 w="12700">
            <a:solidFill>
              <a:srgbClr val="354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886200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0" i="0">
                <a:solidFill>
                  <a:srgbClr val="FFFFFF"/>
                </a:solidFill>
                <a:latin typeface="Roboto"/>
              </a:rPr>
              <a:t>🟦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Square Tapper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AA8C4"/>
                </a:solidFill>
                <a:latin typeface="Roboto"/>
              </a:rPr>
              <a:t>In-person payment — use the correct iPad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657600"/>
            <a:ext cx="3337560" cy="214884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 w="12700">
            <a:solidFill>
              <a:srgbClr val="354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3886200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600" b="0" i="0">
                <a:solidFill>
                  <a:srgbClr val="FFFFFF"/>
                </a:solidFill>
                <a:latin typeface="Roboto"/>
              </a:rPr>
              <a:t>🟦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‘Split-it’ Financing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AA8C4"/>
                </a:solidFill>
                <a:latin typeface="Roboto"/>
              </a:rPr>
              <a:t>Monthly credit card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28016" cy="713232"/>
          </a:xfrm>
          <a:prstGeom prst="round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6576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Montserrat"/>
              </a:rPr>
              <a:t>💳 PAYMENT ROUTE 1</a:t>
            </a:r>
          </a:p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4213D"/>
                </a:solidFill>
                <a:latin typeface="Montserrat"/>
              </a:rPr>
              <a:t>For Payments via Bank Transfer / Physical Debit Card / PayPal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361188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54864"/>
          <a:lstStyle/>
          <a:p>
            <a:pPr algn="ctr"/>
            <a:r>
              <a:rPr sz="1450" b="1" i="0">
                <a:solidFill>
                  <a:srgbClr val="FFFFFF"/>
                </a:solidFill>
                <a:latin typeface="Montserrat"/>
              </a:rPr>
              <a:t>➤ If Paid in Full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450591"/>
            <a:ext cx="3282696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1.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Make full payment in Jotform.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2.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Sign the agreement.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1">
                <a:solidFill>
                  <a:srgbClr val="5A6478"/>
                </a:solidFill>
                <a:latin typeface="Roboto"/>
              </a:rPr>
              <a:t>(see down below for how to language this)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3.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Book a 15-minute onboarding call with Blessing via Calendly.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61188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54864"/>
          <a:lstStyle/>
          <a:p>
            <a:pPr algn="ctr"/>
            <a:r>
              <a:rPr sz="1450" b="1" i="0">
                <a:solidFill>
                  <a:srgbClr val="FFFFFF"/>
                </a:solidFill>
                <a:latin typeface="Montserrat"/>
              </a:rPr>
              <a:t>➤ If On a Payment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2450591"/>
            <a:ext cx="3282696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1.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Make your first payment in Jotform.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2.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Sign the agreement.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3.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Book a 15-minute onboarding call with Kristine (Finance Team) via Calendly.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37360"/>
            <a:ext cx="361188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737360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54864"/>
          <a:lstStyle/>
          <a:p>
            <a:pPr algn="ctr"/>
            <a:r>
              <a:rPr sz="1450" b="1" i="0">
                <a:solidFill>
                  <a:srgbClr val="FFFFFF"/>
                </a:solidFill>
                <a:latin typeface="Montserrat"/>
              </a:rPr>
              <a:t>➤ If On a Custom Payment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450591"/>
            <a:ext cx="3282696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1.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Make the custom-agreed payment in Jotform.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2.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Sign the agreement.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3.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Book a 15-minute onboarding call with Blessing via Calendly.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28016" cy="713232"/>
          </a:xfrm>
          <a:prstGeom prst="round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6576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Montserrat"/>
              </a:rPr>
              <a:t>🟦 PAYMENT ROUTE 2</a:t>
            </a:r>
          </a:p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4213D"/>
                </a:solidFill>
                <a:latin typeface="Montserrat"/>
              </a:rPr>
              <a:t>For Payments Using Square Tapper (In-Person Payment)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11201400" cy="502920"/>
          </a:xfrm>
          <a:prstGeom prst="roundRect">
            <a:avLst>
              <a:gd name="adj" fmla="val 8000"/>
            </a:avLst>
          </a:prstGeom>
          <a:solidFill>
            <a:srgbClr val="FDF0DC"/>
          </a:solidFill>
          <a:ln w="12700">
            <a:solidFill>
              <a:srgbClr val="FCA3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C03A2B"/>
                </a:solidFill>
                <a:latin typeface="Roboto"/>
              </a:rPr>
              <a:t>⚠️ Important: </a:t>
            </a:r>
            <a:r>
              <a:rPr sz="1350" b="1" i="0">
                <a:solidFill>
                  <a:srgbClr val="222A3A"/>
                </a:solidFill>
                <a:latin typeface="Roboto"/>
              </a:rPr>
              <a:t>Always use the correct iPad for processing payments.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12848"/>
            <a:ext cx="36118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212848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54864"/>
          <a:lstStyle/>
          <a:p>
            <a:pPr algn="ctr"/>
            <a:r>
              <a:rPr sz="1450" b="1" i="0">
                <a:solidFill>
                  <a:srgbClr val="FFFFFF"/>
                </a:solidFill>
                <a:latin typeface="Montserrat"/>
              </a:rPr>
              <a:t>➤ If Paid in Full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926080"/>
            <a:ext cx="3282696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1.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Make full payment using Square.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2.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Sign the agreement.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3.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Book a 15-minute onboarding call with Blessing via Calendly.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12848"/>
            <a:ext cx="36118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2212848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54864"/>
          <a:lstStyle/>
          <a:p>
            <a:pPr algn="ctr"/>
            <a:r>
              <a:rPr sz="1450" b="1" i="0">
                <a:solidFill>
                  <a:srgbClr val="FFFFFF"/>
                </a:solidFill>
                <a:latin typeface="Montserrat"/>
              </a:rPr>
              <a:t>➤ If On a Payment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926080"/>
            <a:ext cx="3282696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1.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Make your first payment using Square.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2.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Sign the agreement.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3.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Book a 15-minute onboarding call with Kristine via Calendly.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212848"/>
            <a:ext cx="36118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2212848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54864"/>
          <a:lstStyle/>
          <a:p>
            <a:pPr algn="ctr"/>
            <a:r>
              <a:rPr sz="1450" b="1" i="0">
                <a:solidFill>
                  <a:srgbClr val="FFFFFF"/>
                </a:solidFill>
                <a:latin typeface="Montserrat"/>
              </a:rPr>
              <a:t>➤ If On a Custom Payment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926080"/>
            <a:ext cx="3282696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1.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Make the custom-agreed payment using Square.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2.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Sign the agreement.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2563EB"/>
                </a:solidFill>
                <a:latin typeface="Roboto"/>
              </a:rPr>
              <a:t>3.  </a:t>
            </a:r>
            <a:r>
              <a:rPr sz="1350" b="0" i="0">
                <a:solidFill>
                  <a:srgbClr val="222A3A"/>
                </a:solidFill>
                <a:latin typeface="Roboto"/>
              </a:rPr>
              <a:t>Book a 15-minute onboarding call with Blessing via Calendly.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28016" cy="713232"/>
          </a:xfrm>
          <a:prstGeom prst="round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6576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Montserrat"/>
              </a:rPr>
              <a:t>📅 BOOKING THE CALL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213D"/>
                </a:solidFill>
                <a:latin typeface="Montserrat"/>
              </a:rPr>
              <a:t>Calendly Booking Form Instructions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9436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3949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700" b="1" i="0">
                <a:solidFill>
                  <a:srgbClr val="222A3A"/>
                </a:solidFill>
                <a:latin typeface="Roboto"/>
              </a:rPr>
              <a:t>Only collect: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0E9F6E"/>
                </a:solidFill>
                <a:latin typeface="Roboto"/>
              </a:rPr>
              <a:t>✔  </a:t>
            </a:r>
            <a:r>
              <a:rPr sz="1600" b="0" i="0">
                <a:solidFill>
                  <a:srgbClr val="222A3A"/>
                </a:solidFill>
                <a:latin typeface="Roboto"/>
              </a:rPr>
              <a:t>First Name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0E9F6E"/>
                </a:solidFill>
                <a:latin typeface="Roboto"/>
              </a:rPr>
              <a:t>✔  </a:t>
            </a:r>
            <a:r>
              <a:rPr sz="1600" b="0" i="0">
                <a:solidFill>
                  <a:srgbClr val="222A3A"/>
                </a:solidFill>
                <a:latin typeface="Roboto"/>
              </a:rPr>
              <a:t>Last Name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0E9F6E"/>
                </a:solidFill>
                <a:latin typeface="Roboto"/>
              </a:rPr>
              <a:t>✔  </a:t>
            </a:r>
            <a:r>
              <a:rPr sz="1600" b="0" i="0">
                <a:solidFill>
                  <a:srgbClr val="222A3A"/>
                </a:solidFill>
                <a:latin typeface="Roboto"/>
              </a:rPr>
              <a:t>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709160"/>
            <a:ext cx="5943600" cy="1417320"/>
          </a:xfrm>
          <a:prstGeom prst="roundRect">
            <a:avLst>
              <a:gd name="adj" fmla="val 8000"/>
            </a:avLst>
          </a:prstGeom>
          <a:solidFill>
            <a:srgbClr val="E9F0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5394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1">
                <a:solidFill>
                  <a:srgbClr val="5A6478"/>
                </a:solidFill>
                <a:latin typeface="Roboto"/>
              </a:rPr>
              <a:t>When it's time to sign —</a:t>
            </a:r>
          </a:p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4213D"/>
                </a:solidFill>
                <a:latin typeface="Roboto"/>
              </a:rPr>
              <a:t>You say “Just need your autograph here”.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8856" y="1728216"/>
            <a:ext cx="4590288" cy="24851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_bles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83080"/>
            <a:ext cx="4480560" cy="2375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8856" y="4249970"/>
            <a:ext cx="4590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1">
                <a:solidFill>
                  <a:srgbClr val="5A6478"/>
                </a:solidFill>
                <a:latin typeface="Roboto"/>
              </a:rPr>
              <a:t>Blessing — 15 min Support / Onboarding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8856" y="4606586"/>
            <a:ext cx="4133088" cy="24532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l_krist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661450"/>
            <a:ext cx="4023360" cy="23435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48856" y="7096393"/>
            <a:ext cx="41330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1">
                <a:solidFill>
                  <a:srgbClr val="5A6478"/>
                </a:solidFill>
                <a:latin typeface="Roboto"/>
              </a:rPr>
              <a:t>Kristine — 15 Minute Onboarding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28016" cy="713232"/>
          </a:xfrm>
          <a:prstGeom prst="round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6576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Montserrat"/>
              </a:rPr>
              <a:t>🟦 PAYMENT ROUTE 3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13D"/>
                </a:solidFill>
                <a:latin typeface="Montserrat"/>
              </a:rPr>
              <a:t>For Payments Using ‘Split-it’ Financing  (1 of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02920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45262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Roboto"/>
              </a:rPr>
              <a:t>1.  </a:t>
            </a:r>
            <a:r>
              <a:rPr sz="1400" b="0" i="0">
                <a:solidFill>
                  <a:srgbClr val="222A3A"/>
                </a:solidFill>
                <a:latin typeface="Roboto"/>
              </a:rPr>
              <a:t>Fill out Jotform.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Roboto"/>
              </a:rPr>
              <a:t>2.  </a:t>
            </a:r>
            <a:r>
              <a:rPr sz="1400" b="0" i="0">
                <a:solidFill>
                  <a:srgbClr val="222A3A"/>
                </a:solidFill>
                <a:latin typeface="Roboto"/>
              </a:rPr>
              <a:t>Click the link in jotform to take you to the “Split-it” financing page.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Roboto"/>
              </a:rPr>
              <a:t>3.  </a:t>
            </a:r>
            <a:r>
              <a:rPr sz="1400" b="0" i="0">
                <a:solidFill>
                  <a:srgbClr val="222A3A"/>
                </a:solidFill>
                <a:latin typeface="Roboto"/>
              </a:rPr>
              <a:t>Have them input their details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Roboto"/>
              </a:rPr>
              <a:t>4.  </a:t>
            </a:r>
            <a:r>
              <a:rPr sz="1400" b="0" i="0">
                <a:solidFill>
                  <a:srgbClr val="222A3A"/>
                </a:solidFill>
                <a:latin typeface="Roboto"/>
              </a:rPr>
              <a:t>Click on “Join.”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Roboto"/>
              </a:rPr>
              <a:t>5.  </a:t>
            </a:r>
            <a:r>
              <a:rPr sz="1400" b="0" i="0">
                <a:solidFill>
                  <a:srgbClr val="222A3A"/>
                </a:solidFill>
                <a:latin typeface="Roboto"/>
              </a:rPr>
              <a:t>Add credit card details and click update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Roboto"/>
              </a:rPr>
              <a:t>6.  </a:t>
            </a:r>
            <a:r>
              <a:rPr sz="1400" b="0" i="0">
                <a:solidFill>
                  <a:srgbClr val="222A3A"/>
                </a:solidFill>
                <a:latin typeface="Roboto"/>
              </a:rPr>
              <a:t>Select which payment option they want in the “your payment plans” section.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3016" y="1773936"/>
            <a:ext cx="5870448" cy="26342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litit_jo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28800"/>
            <a:ext cx="5760720" cy="25245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3016" y="4444759"/>
            <a:ext cx="58704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1">
                <a:solidFill>
                  <a:srgbClr val="5A6478"/>
                </a:solidFill>
                <a:latin typeface="Roboto"/>
              </a:rPr>
              <a:t>Steps 3–4: enter details, then click “Join”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97496" y="4847095"/>
            <a:ext cx="1847088" cy="31412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op_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901959"/>
            <a:ext cx="1737360" cy="30315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97496" y="8024955"/>
            <a:ext cx="18470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1">
                <a:solidFill>
                  <a:srgbClr val="5A6478"/>
                </a:solidFill>
                <a:latin typeface="Roboto"/>
              </a:rPr>
              <a:t>Step 5: add card details →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28016" cy="713232"/>
          </a:xfrm>
          <a:prstGeom prst="round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6576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Montserrat"/>
              </a:rPr>
              <a:t>🟦 PAYMENT ROUTE 3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13D"/>
                </a:solidFill>
                <a:latin typeface="Montserrat"/>
              </a:rPr>
              <a:t>For Payments Using ‘Split-it’ Financing  (2 of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76656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62179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2563EB"/>
                </a:solidFill>
                <a:latin typeface="Roboto"/>
              </a:rPr>
              <a:t>7.  </a:t>
            </a:r>
            <a:r>
              <a:rPr sz="1450" b="0" i="0">
                <a:solidFill>
                  <a:srgbClr val="222A3A"/>
                </a:solidFill>
                <a:latin typeface="Roboto"/>
              </a:rPr>
              <a:t>Click the proceed/confirm button.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2563EB"/>
                </a:solidFill>
                <a:latin typeface="Roboto"/>
              </a:rPr>
              <a:t>8.  </a:t>
            </a:r>
            <a:r>
              <a:rPr sz="1450" b="0" i="0">
                <a:solidFill>
                  <a:srgbClr val="222A3A"/>
                </a:solidFill>
                <a:latin typeface="Roboto"/>
              </a:rPr>
              <a:t>It will take 2-4 mins max for approval.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2563EB"/>
                </a:solidFill>
                <a:latin typeface="Roboto"/>
              </a:rPr>
              <a:t>9.  </a:t>
            </a:r>
            <a:r>
              <a:rPr sz="1450" b="0" i="0">
                <a:solidFill>
                  <a:srgbClr val="222A3A"/>
                </a:solidFill>
                <a:latin typeface="Roboto"/>
              </a:rPr>
              <a:t>Once successful you will see this screen. →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2563EB"/>
                </a:solidFill>
                <a:latin typeface="Roboto"/>
              </a:rPr>
              <a:t>10.  </a:t>
            </a:r>
            <a:r>
              <a:rPr sz="1450" b="0" i="0">
                <a:solidFill>
                  <a:srgbClr val="222A3A"/>
                </a:solidFill>
                <a:latin typeface="Roboto"/>
              </a:rPr>
              <a:t>Then go back to jotform and follow the normal process.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2563EB"/>
                </a:solidFill>
                <a:latin typeface="Roboto"/>
              </a:rPr>
              <a:t>11.  </a:t>
            </a:r>
            <a:r>
              <a:rPr sz="1450" b="0" i="0">
                <a:solidFill>
                  <a:srgbClr val="222A3A"/>
                </a:solidFill>
                <a:latin typeface="Roboto"/>
              </a:rPr>
              <a:t>Sign the agreement.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2563EB"/>
                </a:solidFill>
                <a:latin typeface="Roboto"/>
              </a:rPr>
              <a:t>12.  </a:t>
            </a:r>
            <a:r>
              <a:rPr sz="1450" b="0" i="0">
                <a:solidFill>
                  <a:srgbClr val="222A3A"/>
                </a:solidFill>
                <a:latin typeface="Roboto"/>
              </a:rPr>
              <a:t>Book a 15-minute onboarding call with Blessing via Calendly.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63256" y="1819655"/>
            <a:ext cx="3950208" cy="40230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i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4519"/>
            <a:ext cx="3840480" cy="39133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63256" y="5879294"/>
            <a:ext cx="3950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1">
                <a:solidFill>
                  <a:srgbClr val="5A6478"/>
                </a:solidFill>
                <a:latin typeface="Roboto"/>
              </a:rPr>
              <a:t>✅ “Your payment plan is confirmed.”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28016" cy="713232"/>
          </a:xfrm>
          <a:prstGeom prst="round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6576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Montserrat"/>
              </a:rPr>
              <a:t>🗣️ WORD-FOR-WORD SCRIPT</a:t>
            </a:r>
          </a:p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FFFFF"/>
                </a:solidFill>
                <a:latin typeface="Montserrat"/>
              </a:rPr>
              <a:t>EXTRA NOTES — How to Language the Agreement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1201400" cy="123444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 w="12700">
            <a:solidFill>
              <a:srgbClr val="354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i="0">
                <a:solidFill>
                  <a:srgbClr val="9AA8C4"/>
                </a:solidFill>
                <a:latin typeface="Roboto"/>
              </a:rPr>
              <a:t>For step 2: “Sign the agreement.”  </a:t>
            </a:r>
            <a:r>
              <a:rPr sz="1600" b="1" i="0">
                <a:solidFill>
                  <a:srgbClr val="FFFFFF"/>
                </a:solidFill>
                <a:latin typeface="Roboto"/>
              </a:rPr>
              <a:t>You say “Just need your autograph here”.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9AA8C4"/>
                </a:solidFill>
                <a:latin typeface="Roboto"/>
              </a:rPr>
              <a:t>If they say </a:t>
            </a:r>
            <a:r>
              <a:rPr sz="1550" b="1" i="0">
                <a:solidFill>
                  <a:srgbClr val="FCA311"/>
                </a:solidFill>
                <a:latin typeface="Roboto"/>
              </a:rPr>
              <a:t>“what does it say?”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11201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051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14213D"/>
                </a:solidFill>
                <a:latin typeface="Roboto"/>
              </a:rPr>
              <a:t>Your response </a:t>
            </a:r>
            <a:r>
              <a:rPr sz="1500" b="1" i="1">
                <a:solidFill>
                  <a:srgbClr val="2563EB"/>
                </a:solidFill>
                <a:latin typeface="Roboto"/>
              </a:rPr>
              <a:t>(downward tonality):</a:t>
            </a:r>
          </a:p>
          <a:p>
            <a:pPr algn="l">
              <a:lnSpc>
                <a:spcPct val="135000"/>
              </a:lnSpc>
            </a:pPr>
            <a:r>
              <a:rPr sz="1650" b="0" i="1">
                <a:solidFill>
                  <a:srgbClr val="222A3A"/>
                </a:solidFill>
                <a:latin typeface="Roboto"/>
              </a:rPr>
              <a:t>“Just saying you’re happy to come along and do the payments (if on a payment plan) and the other main bits were what we covered on the first page together on the form (i.e. 75% of course got to be paid before attending the 7FA bootcamp or NTT Masters event, you get 12 months access to the online portal and all the bonuses)”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28016" cy="713232"/>
          </a:xfrm>
          <a:prstGeom prst="round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6576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Montserrat"/>
              </a:rPr>
              <a:t>🔗 QUICK REFERENCE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213D"/>
                </a:solidFill>
                <a:latin typeface="Montserrat"/>
              </a:rPr>
              <a:t>Agreement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1201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30552"/>
            <a:ext cx="2377440" cy="62179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NTT Masters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029968"/>
            <a:ext cx="8046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5A6478"/>
                </a:solidFill>
                <a:latin typeface="Roboto"/>
              </a:rPr>
              <a:t>Link to agreement for NTT Masters:</a:t>
            </a:r>
          </a:p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563EB"/>
                </a:solidFill>
                <a:latin typeface="Roboto"/>
                <a:hlinkClick r:id="rId2"/>
              </a:rPr>
              <a:t>https://form.jotform.com/251947416259870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91840"/>
            <a:ext cx="11201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3593592"/>
            <a:ext cx="2377440" cy="621792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NTT Masters + 7FA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493008"/>
            <a:ext cx="8046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5A6478"/>
                </a:solidFill>
                <a:latin typeface="Roboto"/>
              </a:rPr>
              <a:t>Link to agreement for NTT Masters + 7FA:</a:t>
            </a:r>
          </a:p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563EB"/>
                </a:solidFill>
                <a:latin typeface="Roboto"/>
                <a:hlinkClick r:id="rId3"/>
              </a:rPr>
              <a:t>https://form.jotform.com/251947469715875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54880"/>
            <a:ext cx="11201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5056632"/>
            <a:ext cx="2377440" cy="621792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7FA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956048"/>
            <a:ext cx="8046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5A6478"/>
                </a:solidFill>
                <a:latin typeface="Roboto"/>
              </a:rPr>
              <a:t>Link to agreement for 7FA:</a:t>
            </a:r>
          </a:p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563EB"/>
                </a:solidFill>
                <a:latin typeface="Roboto"/>
                <a:hlinkClick r:id="rId4"/>
              </a:rPr>
              <a:t>https://form.jotform.com/251948252023858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28016" cy="713232"/>
          </a:xfrm>
          <a:prstGeom prst="round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6576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Montserrat"/>
              </a:rPr>
              <a:t>📸 VISUAL REFERENCE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213D"/>
                </a:solidFill>
                <a:latin typeface="Montserrat"/>
              </a:rPr>
              <a:t>Calendly Booking Pages — What You'll See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865376"/>
            <a:ext cx="5321808" cy="400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_lu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5212080" cy="389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5909120"/>
            <a:ext cx="5321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1">
                <a:solidFill>
                  <a:srgbClr val="5A6478"/>
                </a:solidFill>
                <a:latin typeface="Roboto"/>
              </a:rPr>
              <a:t>Luke Hawkins — 15min New Customer Onboarding 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91656" y="1865376"/>
            <a:ext cx="5230368" cy="29495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_inn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20240"/>
            <a:ext cx="5120640" cy="2839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91656" y="4851482"/>
            <a:ext cx="52303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1">
                <a:solidFill>
                  <a:srgbClr val="5A6478"/>
                </a:solidFill>
                <a:latin typeface="Roboto"/>
              </a:rPr>
              <a:t>Luke Hawkins Team — Inner Circle Info Call (30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FCA311"/>
                </a:solidFill>
                <a:latin typeface="Montserrat"/>
              </a:rPr>
              <a:t>🚀 RECAP</a:t>
            </a:r>
          </a:p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The Flow — Every Client, Every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4320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 w="12700">
            <a:solidFill>
              <a:srgbClr val="354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971800"/>
            <a:ext cx="21488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FCA311"/>
                </a:solidFill>
                <a:latin typeface="Montserrat"/>
              </a:rPr>
              <a:t>1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Jotform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A8C4"/>
                </a:solidFill>
                <a:latin typeface="Roboto"/>
              </a:rPr>
              <a:t>Client completes the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3520440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FCA311"/>
                </a:solidFill>
                <a:latin typeface="Roboto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0168" y="274320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 w="12700">
            <a:solidFill>
              <a:srgbClr val="354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1336" y="2971800"/>
            <a:ext cx="21488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FCA311"/>
                </a:solidFill>
                <a:latin typeface="Montserrat"/>
              </a:rPr>
              <a:t>2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Payment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A8C4"/>
                </a:solidFill>
                <a:latin typeface="Roboto"/>
              </a:rPr>
              <a:t>Full / plan / custom — via Jotform, Square, or Split-it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3520440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FCA311"/>
                </a:solidFill>
                <a:latin typeface="Robot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3096" y="274320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 w="12700">
            <a:solidFill>
              <a:srgbClr val="354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2971800"/>
            <a:ext cx="21488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FCA311"/>
                </a:solidFill>
                <a:latin typeface="Montserrat"/>
              </a:rPr>
              <a:t>3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Agreement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A8C4"/>
                </a:solidFill>
                <a:latin typeface="Roboto"/>
              </a:rPr>
              <a:t>“Just need your autograph here”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7696" y="3520440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FCA311"/>
                </a:solidFill>
                <a:latin typeface="Robot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6024" y="274320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 w="12700">
            <a:solidFill>
              <a:srgbClr val="354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7192" y="2971800"/>
            <a:ext cx="21488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FCA311"/>
                </a:solidFill>
                <a:latin typeface="Montserrat"/>
              </a:rPr>
              <a:t>4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Calendly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A8C4"/>
                </a:solidFill>
                <a:latin typeface="Roboto"/>
              </a:rPr>
              <a:t>15-min onboarding call — Blessing or Kristine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C9D4EA"/>
                </a:solidFill>
                <a:latin typeface="Roboto"/>
              </a:rPr>
              <a:t>Questions? Grab your team lead. Now go make it smooth. 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A6478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