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29184"/>
            <a:ext cx="11496751" cy="6199632"/>
          </a:xfrm>
          <a:prstGeom prst="roundRect">
            <a:avLst>
              <a:gd name="adj" fmla="val 3687"/>
            </a:avLst>
          </a:prstGeom>
          <a:noFill/>
          <a:ln w="12700">
            <a:solidFill>
              <a:srgbClr val="E0C0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F5E7DF"/>
                </a:solidFill>
                <a:latin typeface="Montserrat"/>
              </a:rPr>
              <a:t>MODULE 13   |   VIDEO 13.1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950976"/>
            <a:ext cx="10469880" cy="12801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9713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ontserrat"/>
              </a:rPr>
              <a:t>Free Workshops as a Growth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534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5E7DF"/>
                </a:solidFill>
                <a:latin typeface="Montserrat"/>
              </a:rPr>
              <a:t>Give value first — the business follows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FFFFFF"/>
                </a:solidFill>
                <a:latin typeface="Montserrat"/>
              </a:rPr>
              <a:t>L U K E   H A W K I N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Why free workshops are high‑leverage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909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7171B"/>
                </a:solidFill>
                <a:latin typeface="Montserrat"/>
              </a:rPr>
              <a:t>Grow your audience fast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4E4E55"/>
                </a:solidFill>
                <a:latin typeface="Montserrat"/>
              </a:rPr>
              <a:t>A single workshop can generate weeks of leads in one event.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301294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958084"/>
            <a:ext cx="9345167" cy="909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7171B"/>
                </a:solidFill>
                <a:latin typeface="Montserrat"/>
              </a:rPr>
              <a:t>Build trust through value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4E4E55"/>
                </a:solidFill>
                <a:latin typeface="Montserrat"/>
              </a:rPr>
              <a:t>They experience your results before you ever make an offer.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92277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867912"/>
            <a:ext cx="9345167" cy="909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7171B"/>
                </a:solidFill>
                <a:latin typeface="Montserrat"/>
              </a:rPr>
              <a:t>Fill programs organically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4E4E55"/>
                </a:solidFill>
                <a:latin typeface="Montserrat"/>
              </a:rPr>
              <a:t>You create warm, self‑selected buyers instead of cold prospects.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4832603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4777740"/>
            <a:ext cx="9345167" cy="909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7171B"/>
                </a:solidFill>
                <a:latin typeface="Montserrat"/>
              </a:rPr>
              <a:t>Test messages and offers quickly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4E4E55"/>
                </a:solidFill>
                <a:latin typeface="Montserrat"/>
              </a:rPr>
              <a:t>You learn what lands (and what doesn’t)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7171B"/>
                </a:solidFill>
                <a:latin typeface="Montserrat"/>
              </a:rPr>
              <a:t>Teach a transformation, not just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938528"/>
            <a:ext cx="10104120" cy="3703320"/>
          </a:xfrm>
          <a:prstGeom prst="roundRect">
            <a:avLst>
              <a:gd name="adj" fmla="val 5925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17320" y="2231136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D2A4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231136"/>
            <a:ext cx="1371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spc="250">
                <a:solidFill>
                  <a:srgbClr val="FFFFFF"/>
                </a:solidFill>
                <a:latin typeface="Montserrat"/>
              </a:rPr>
              <a:t>KEY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83464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ontserrat"/>
              </a:rPr>
              <a:t>Your goal is a before → after shift.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29184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E7DF"/>
                </a:solidFill>
                <a:latin typeface="Montserrat"/>
              </a:rPr>
              <a:t>Don’t deliver more tips. Deliver a change the audience can feel inside the room.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3785616"/>
            <a:ext cx="9372600" cy="1600200"/>
          </a:xfrm>
          <a:prstGeom prst="roundRect">
            <a:avLst>
              <a:gd name="adj" fmla="val 9142"/>
            </a:avLst>
          </a:prstGeom>
          <a:solidFill>
            <a:srgbClr val="CE9E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1640" y="40599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8528" y="3986784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Define one clear outcome: “Before this… After this…”</a:t>
            </a:r>
          </a:p>
        </p:txBody>
      </p:sp>
      <p:sp>
        <p:nvSpPr>
          <p:cNvPr id="16" name="Oval 15"/>
          <p:cNvSpPr/>
          <p:nvPr/>
        </p:nvSpPr>
        <p:spPr>
          <a:xfrm>
            <a:off x="1691640" y="4498848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38528" y="4425696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Give them a quick win they can do right now.</a:t>
            </a:r>
          </a:p>
        </p:txBody>
      </p:sp>
      <p:sp>
        <p:nvSpPr>
          <p:cNvPr id="18" name="Oval 17"/>
          <p:cNvSpPr/>
          <p:nvPr/>
        </p:nvSpPr>
        <p:spPr>
          <a:xfrm>
            <a:off x="1691640" y="493776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38528" y="4864608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Anchor the offer as the next step to deepen that shift.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60–90 minute workshop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852928"/>
            <a:ext cx="2974848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3040" y="2829153"/>
            <a:ext cx="2791968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2852928"/>
            <a:ext cx="282854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WELCOME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5–10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1584" y="33375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30496" y="2852928"/>
            <a:ext cx="2974848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21936" y="2829153"/>
            <a:ext cx="2791968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3648" y="2852928"/>
            <a:ext cx="282854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TEACH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35–50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0480" y="33375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2" y="2852928"/>
            <a:ext cx="2974848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0832" y="2829153"/>
            <a:ext cx="2791968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2544" y="2852928"/>
            <a:ext cx="282854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OFFER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10–15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5230368"/>
            <a:ext cx="973836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5230368"/>
            <a:ext cx="9189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Flow rule: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Open strong → teach one big idea (3 points) → include an in-room experience → deliver a clean, simple CTA.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What to offer at the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7101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Strategy Call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Fastest path for high‑ticket buyers who want a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145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Starter Course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Low‑friction next step that deepens the quick win.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02167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1189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Challenge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Short sprint that builds momentum + accountability.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128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7101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Live Bootcamp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High energy, high value, great bridge to programs.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8172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9145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Community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Belonging + ongoing support keeps people engaged.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02167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1189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Bonus Gift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Template, checklist, or guide that increases follow‑up.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Online vs In‑Person — key differences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5029200" cy="548640"/>
          </a:xfrm>
          <a:prstGeom prst="roundRect">
            <a:avLst>
              <a:gd name="adj" fmla="val 2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847088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ontserrat"/>
              </a:rPr>
              <a:t>ONLINE (Webinar / Zoom)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47088"/>
            <a:ext cx="5029200" cy="548640"/>
          </a:xfrm>
          <a:prstGeom prst="roundRect">
            <a:avLst>
              <a:gd name="adj" fmla="val 2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47088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ontserrat"/>
              </a:rPr>
              <a:t>IN‑PERSON (Room / Event)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532888"/>
            <a:ext cx="5029200" cy="3337560"/>
          </a:xfrm>
          <a:prstGeom prst="roundRect">
            <a:avLst>
              <a:gd name="adj" fmla="val 438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07592" y="276148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715768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Attention is fragile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Shorter segments, more variety, more resets.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07592" y="3364991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319272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Energy must be generated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You lead the state through camera + voice.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07592" y="3968496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922776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Interaction is chat‑based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Polls, chat prompts, name call‑outs.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07592" y="4572000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526280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Tech is a variable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Audio, camera, internet, backups matter.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07592" y="5175503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5129783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Q&amp;A needs structure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Timebox, pre‑frame, moderate questions.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532888"/>
            <a:ext cx="5029200" cy="3337560"/>
          </a:xfrm>
          <a:prstGeom prst="roundRect">
            <a:avLst>
              <a:gd name="adj" fmla="val 438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65392" y="276148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715768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Attention is embodied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Your presence holds the room more naturally.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65392" y="3364991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319272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Energy is shared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Room dynamics create momentum and trust.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65392" y="3968496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3922776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Interaction is physical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Hands up, pair shares, demos, movement.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65392" y="4572000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526280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Tech is simpler (but louder)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AV, mic handling, and room acoustics matter.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65392" y="5175503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5129783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Timeboxing feels different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Applause, transitions, and movement take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How to fill your free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Organic posts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Short story + clear outcome + simple link to register.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2623021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568157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Email list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3-touch invite: announcement → reminder → “last chance”.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142923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088059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Partnerships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Joint promo with aligned communities (value swap, not a pitch).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3662825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3607961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Referrals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“Bring a friend” with a simple bonus or giveaway.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" y="418272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4127862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Paid ads (simple lead)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One promise, one audience, one CTA. Test small, iterate fast.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26464" y="470262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9072" y="4647764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DM invites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Personal message + outcome + “want the link?” (no pressure).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26464" y="522253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19072" y="5167666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Local meetups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Community boards, studios, coworking spaces, recovery groups, events.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Conversion benchmarks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10287000" cy="530352"/>
          </a:xfrm>
          <a:prstGeom prst="roundRect">
            <a:avLst>
              <a:gd name="adj" fmla="val 24137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847088"/>
            <a:ext cx="374903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00">
                <a:solidFill>
                  <a:srgbClr val="FFFFFF"/>
                </a:solidFill>
                <a:latin typeface="Montserrat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847088"/>
            <a:ext cx="1920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spc="200">
                <a:solidFill>
                  <a:srgbClr val="FFFFFF"/>
                </a:solidFill>
                <a:latin typeface="Montserrat"/>
              </a:rPr>
              <a:t>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847088"/>
            <a:ext cx="33832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00">
                <a:solidFill>
                  <a:srgbClr val="FFFFFF"/>
                </a:solidFill>
                <a:latin typeface="Montserrat"/>
              </a:rPr>
              <a:t>HOW TO IMPROVE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514600"/>
            <a:ext cx="10287000" cy="838200"/>
          </a:xfrm>
          <a:prstGeom prst="roundRect">
            <a:avLst>
              <a:gd name="adj" fmla="val 1309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2750820"/>
            <a:ext cx="137160" cy="137160"/>
          </a:xfrm>
          <a:prstGeom prst="roundRect">
            <a:avLst>
              <a:gd name="adj" fmla="val 3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514600"/>
            <a:ext cx="347472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Show‑up rate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Registered → attends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514600"/>
            <a:ext cx="192024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7171B"/>
                </a:solidFill>
                <a:latin typeface="Montserrat"/>
              </a:rPr>
              <a:t>35–60%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514600"/>
            <a:ext cx="338328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E4E55"/>
                </a:solidFill>
                <a:latin typeface="Montserrat"/>
              </a:rPr>
              <a:t>Reminder sequence + calendar holds + clear “why attend live”.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480816"/>
            <a:ext cx="10287000" cy="838200"/>
          </a:xfrm>
          <a:prstGeom prst="roundRect">
            <a:avLst>
              <a:gd name="adj" fmla="val 1309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3717035"/>
            <a:ext cx="137160" cy="137160"/>
          </a:xfrm>
          <a:prstGeom prst="roundRect">
            <a:avLst>
              <a:gd name="adj" fmla="val 3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3480816"/>
            <a:ext cx="347472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Offer take‑rate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Attends → buys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3480816"/>
            <a:ext cx="192024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7171B"/>
                </a:solidFill>
                <a:latin typeface="Montserrat"/>
              </a:rPr>
              <a:t>8–20%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480816"/>
            <a:ext cx="338328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E4E55"/>
                </a:solidFill>
                <a:latin typeface="Montserrat"/>
              </a:rPr>
              <a:t>Clarity + proof + urgency + tight Q&amp;A (pre‑handle objections).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447032"/>
            <a:ext cx="10287000" cy="838200"/>
          </a:xfrm>
          <a:prstGeom prst="roundRect">
            <a:avLst>
              <a:gd name="adj" fmla="val 1309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71600" y="4683251"/>
            <a:ext cx="137160" cy="137160"/>
          </a:xfrm>
          <a:prstGeom prst="roundRect">
            <a:avLst>
              <a:gd name="adj" fmla="val 3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447032"/>
            <a:ext cx="347472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Call‑booking rate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Attends → books 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447032"/>
            <a:ext cx="192024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7171B"/>
                </a:solidFill>
                <a:latin typeface="Montserrat"/>
              </a:rPr>
              <a:t>15–30%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447032"/>
            <a:ext cx="338328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E4E55"/>
                </a:solidFill>
                <a:latin typeface="Montserrat"/>
              </a:rPr>
              <a:t>Simple CTA + one booking link + time‑boxed bonus for fast 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5394960"/>
            <a:ext cx="1028700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5394960"/>
            <a:ext cx="9738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Optimization rule: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fix the weakest link first (registration → show‑up → value → offer → follow‑up).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Simple free → paid funnel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167128"/>
            <a:ext cx="1356359" cy="1371600"/>
          </a:xfrm>
          <a:prstGeom prst="roundRect">
            <a:avLst>
              <a:gd name="adj" fmla="val 8089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3040" y="2143353"/>
            <a:ext cx="117348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2167128"/>
            <a:ext cx="12100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Traffic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Posts • Ads • Partners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3096" y="26517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38856" y="2167128"/>
            <a:ext cx="1356359" cy="1371600"/>
          </a:xfrm>
          <a:prstGeom prst="roundRect">
            <a:avLst>
              <a:gd name="adj" fmla="val 8089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30296" y="2143353"/>
            <a:ext cx="117348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2008" y="2167128"/>
            <a:ext cx="12100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Registration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One promise, one CTA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0352" y="26517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6112" y="2167128"/>
            <a:ext cx="1356359" cy="1371600"/>
          </a:xfrm>
          <a:prstGeom prst="roundRect">
            <a:avLst>
              <a:gd name="adj" fmla="val 8089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97551" y="2143353"/>
            <a:ext cx="117348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9264" y="2167128"/>
            <a:ext cx="12100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Show‑up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Reminders + calendar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8" y="26517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73368" y="2167128"/>
            <a:ext cx="1356359" cy="1371600"/>
          </a:xfrm>
          <a:prstGeom prst="roundRect">
            <a:avLst>
              <a:gd name="adj" fmla="val 8089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64807" y="2143353"/>
            <a:ext cx="117348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167128"/>
            <a:ext cx="12100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Value + Quick Win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Result in the 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4863" y="26517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0624" y="2167128"/>
            <a:ext cx="1356359" cy="1371600"/>
          </a:xfrm>
          <a:prstGeom prst="roundRect">
            <a:avLst>
              <a:gd name="adj" fmla="val 8089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2063" y="2143353"/>
            <a:ext cx="117348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3776" y="2167128"/>
            <a:ext cx="12100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Offer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Simple + specific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2119" y="26517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07880" y="2167128"/>
            <a:ext cx="1356359" cy="1371600"/>
          </a:xfrm>
          <a:prstGeom prst="roundRect">
            <a:avLst>
              <a:gd name="adj" fmla="val 8089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99320" y="2143353"/>
            <a:ext cx="117348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1032" y="2167128"/>
            <a:ext cx="12100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Follow‑up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Sequence + deadline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69767" y="3813048"/>
            <a:ext cx="5852160" cy="1051560"/>
          </a:xfrm>
          <a:prstGeom prst="roundRect">
            <a:avLst>
              <a:gd name="adj" fmla="val 1043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279495" y="3789273"/>
            <a:ext cx="5632704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44087" y="3922776"/>
            <a:ext cx="5303520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Close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Calls booked → decisions made → clients served.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25880" y="5230368"/>
            <a:ext cx="973836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0200" y="5230368"/>
            <a:ext cx="9189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Tracking rule: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measure each drop‑off (traffic → registrations → show‑ups → offer views → follow‑up clicks → closes).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Pitfalls to avoid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Too much content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Less is more: one big idea + 3 points + one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270967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654808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Weak opening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No hook = no attention. Start with a promise, problem, or pattern interrupt.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31622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261360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No quick win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Give a tangible result inside the room — momentum creates trust.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392277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3867912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Confusing offer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One clear next step. One CTA. One place to click/scan.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" y="4529327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4474463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No urgency (or no follow‑up)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Create a real deadline and run a simple follow‑up sequence (replay → FAQ → reminders).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26464" y="51358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9072" y="5081016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Tech untested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Always run a rehearsal + backups (slides, mic, internet, links, QR codes).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29184"/>
            <a:ext cx="11496751" cy="6199632"/>
          </a:xfrm>
          <a:prstGeom prst="roundRect">
            <a:avLst>
              <a:gd name="adj" fmla="val 3687"/>
            </a:avLst>
          </a:prstGeom>
          <a:noFill/>
          <a:ln w="12700">
            <a:solidFill>
              <a:srgbClr val="E0C0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F5E7DF"/>
                </a:solidFill>
                <a:latin typeface="Montserrat"/>
              </a:rPr>
              <a:t>MODULE 13   |   VIDEO 13.1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950976"/>
            <a:ext cx="10469880" cy="12801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1828800" cy="12801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D8A994"/>
                </a:solidFill>
                <a:latin typeface="Montserrat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40280"/>
            <a:ext cx="871697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Montserrat"/>
              </a:rPr>
              <a:t>A free workshop is not a gift — it’s an investment.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403600"/>
            <a:ext cx="8351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5E7DF"/>
                </a:solidFill>
                <a:latin typeface="Montserrat"/>
              </a:rPr>
              <a:t>Give value freely, and the right people will pay to go deeper.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4480560"/>
            <a:ext cx="146304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0" b="1">
                <a:solidFill>
                  <a:srgbClr val="D8A994"/>
                </a:solidFill>
                <a:latin typeface="Montserrat"/>
              </a:rPr>
              <a:t>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FFFFFF"/>
                </a:solidFill>
                <a:latin typeface="Montserrat"/>
              </a:rPr>
              <a:t>L U K E   H A W K I N 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5-part workshop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3456432"/>
          </a:xfrm>
          <a:prstGeom prst="roundRect">
            <a:avLst>
              <a:gd name="adj" fmla="val 582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3456432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6095847" y="2395728"/>
            <a:ext cx="0" cy="1252728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377440" y="3282696"/>
            <a:ext cx="3718407" cy="365760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95847" y="3282696"/>
            <a:ext cx="3718408" cy="365760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206240" y="3648456"/>
            <a:ext cx="1889607" cy="1106424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3648456"/>
            <a:ext cx="1889608" cy="1106424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21427" y="2574036"/>
            <a:ext cx="2148840" cy="2148840"/>
          </a:xfrm>
          <a:prstGeom prst="ellipse">
            <a:avLst/>
          </a:prstGeom>
          <a:solidFill>
            <a:srgbClr val="FCFAF9"/>
          </a:solidFill>
          <a:ln w="19050">
            <a:solidFill>
              <a:srgbClr val="C484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8587" y="3191256"/>
            <a:ext cx="1874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7171B"/>
                </a:solidFill>
                <a:latin typeface="Montserrat"/>
              </a:rPr>
              <a:t>ONE BIG IDEA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Threads through every part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4247" y="2048256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15687" y="2026310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7127" y="2157984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STORY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Relate, humanize, build trust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328" y="3044952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72768" y="3023006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4208" y="3154680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HOOK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Pattern interrupt + promise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7167" y="3044952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58607" y="3023006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0047" y="3154680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TEACH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1 idea • 3 points • clarity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4224528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71800" y="4202582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4334256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EXPERIENCE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Exercise that creates a quick win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8135" y="4224528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59575" y="4202582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1015" y="4334256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OFFER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Natural next step + clear CTA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5413248"/>
            <a:ext cx="1028700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5413248"/>
            <a:ext cx="9738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Thread rule: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the One Big Idea should be felt in every section — not just taught in the middle.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Create interactive moments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10287000" cy="713232"/>
          </a:xfrm>
          <a:prstGeom prst="roundRect">
            <a:avLst>
              <a:gd name="adj" fmla="val 20512"/>
            </a:avLst>
          </a:prstGeom>
          <a:solidFill>
            <a:srgbClr val="E9D6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938528"/>
            <a:ext cx="9646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spc="250">
                <a:solidFill>
                  <a:srgbClr val="17171B"/>
                </a:solidFill>
                <a:latin typeface="Montserrat"/>
              </a:rPr>
              <a:t>PROMPT</a:t>
            </a:r>
          </a:p>
          <a:p>
            <a:pPr algn="l">
              <a:lnSpc>
                <a:spcPct val="110000"/>
              </a:lnSpc>
            </a:pPr>
            <a:r>
              <a:rPr sz="1300" b="1">
                <a:solidFill>
                  <a:srgbClr val="17171B"/>
                </a:solidFill>
                <a:latin typeface="Montserrat"/>
              </a:rPr>
              <a:t>Where can you add a 30–90 second interaction every 5–7 minutes?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715768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61288" y="269016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71016" y="296265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6207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Polls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Fast state check + instant data to teach from.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715768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81728" y="269016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91456" y="296265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86207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Breakouts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Small groups = safety, speed, and deeper buy-in.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15768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02167" y="269016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11896" y="296265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86207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Pair shares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Turn reflection into connection (and commitment).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133087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61288" y="4107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71016" y="4379975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427939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Hands‑up checks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Quick calibration: “Who relates?” “Who’s in?”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133087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81728" y="4107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91456" y="4379975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427939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Chat prompts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Names + responses = belonging (and retention).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4133087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02167" y="4107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11896" y="4379975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427939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Micro‑practices + demos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Do it live. Make the win feel in‑room.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5394960"/>
            <a:ext cx="1028700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5394960"/>
            <a:ext cx="9738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Timing rule: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keep interactions short, frequent, and outcome‑linked — momentum stays high and conversions rise naturally.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The transformation arc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1671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3040" y="21433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21671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START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Current state + pain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8025" y="26517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6937" y="21671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8377" y="21433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0089" y="21671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Belief shift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Old → new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3363" y="26517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2275" y="21671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93715" y="21433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75427" y="21671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Decision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Choose the new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8700" y="26517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7612" y="21671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09052" y="21433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0764" y="21671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Experience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Make it felt in-room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4038" y="26517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32950" y="21671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24390" y="21433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6102" y="21671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END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New state + capability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69767" y="3813048"/>
            <a:ext cx="5852160" cy="1051560"/>
          </a:xfrm>
          <a:prstGeom prst="roundRect">
            <a:avLst>
              <a:gd name="adj" fmla="val 1043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79495" y="3789273"/>
            <a:ext cx="5632704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44087" y="3922776"/>
            <a:ext cx="5303520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Close the gap with experience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Design a moment that proves the transformation is possible right now.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5880" y="5230368"/>
            <a:ext cx="973836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0200" y="5230368"/>
            <a:ext cx="9189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Facilitation rule: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make the audience clearly feel where they started and where they are now — in under 10 minutes.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Quick win principle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938528"/>
            <a:ext cx="10104120" cy="3703320"/>
          </a:xfrm>
          <a:prstGeom prst="roundRect">
            <a:avLst>
              <a:gd name="adj" fmla="val 5925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17320" y="2231136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D2A4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231136"/>
            <a:ext cx="1371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spc="250">
                <a:solidFill>
                  <a:srgbClr val="FFFFFF"/>
                </a:solidFill>
                <a:latin typeface="Montserrat"/>
              </a:rPr>
              <a:t>KEY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83464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ontserrat"/>
              </a:rPr>
              <a:t>Give them a tangible result in the room.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29184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E7DF"/>
                </a:solidFill>
                <a:latin typeface="Montserrat"/>
              </a:rPr>
              <a:t>A quick win creates momentum, increases trust, and makes your offer feel like the natural next step.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3785616"/>
            <a:ext cx="9372600" cy="1600200"/>
          </a:xfrm>
          <a:prstGeom prst="roundRect">
            <a:avLst>
              <a:gd name="adj" fmla="val 9142"/>
            </a:avLst>
          </a:prstGeom>
          <a:solidFill>
            <a:srgbClr val="CE9E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1640" y="40599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8528" y="3986784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Give a quick win they can do right now (2–5 minutes).</a:t>
            </a:r>
          </a:p>
        </p:txBody>
      </p:sp>
      <p:sp>
        <p:nvSpPr>
          <p:cNvPr id="16" name="Oval 15"/>
          <p:cNvSpPr/>
          <p:nvPr/>
        </p:nvSpPr>
        <p:spPr>
          <a:xfrm>
            <a:off x="1691640" y="4498848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38528" y="4425696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Momentum builds trust: “This works… and fast.”</a:t>
            </a:r>
          </a:p>
        </p:txBody>
      </p:sp>
      <p:sp>
        <p:nvSpPr>
          <p:cNvPr id="18" name="Oval 17"/>
          <p:cNvSpPr/>
          <p:nvPr/>
        </p:nvSpPr>
        <p:spPr>
          <a:xfrm>
            <a:off x="1691640" y="493776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38528" y="4864608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Position your offer as the next step to deepen the same result.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Visual aids that help (not distract)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909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7171B"/>
                </a:solidFill>
                <a:latin typeface="Montserrat"/>
              </a:rPr>
              <a:t>Slides = clarity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4E4E55"/>
                </a:solidFill>
                <a:latin typeface="Montserrat"/>
              </a:rPr>
              <a:t>Use clean headlines, simple diagrams, and one idea per slide — so the message lands fast.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301294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958084"/>
            <a:ext cx="9345167" cy="909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7171B"/>
                </a:solidFill>
                <a:latin typeface="Montserrat"/>
              </a:rPr>
              <a:t>Workbook = practice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4E4E55"/>
                </a:solidFill>
                <a:latin typeface="Montserrat"/>
              </a:rPr>
              <a:t>Turn insight into action with prompts, exercises, and space to write — so they leave with a result.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92277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867912"/>
            <a:ext cx="9345167" cy="909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7171B"/>
                </a:solidFill>
                <a:latin typeface="Montserrat"/>
              </a:rPr>
              <a:t>Props = anchors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4E4E55"/>
                </a:solidFill>
                <a:latin typeface="Montserrat"/>
              </a:rPr>
              <a:t>Use props sparingly to make an abstract idea physical — and tie it to one clear takeaway.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4832603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4777740"/>
            <a:ext cx="9345167" cy="909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7171B"/>
                </a:solidFill>
                <a:latin typeface="Montserrat"/>
              </a:rPr>
              <a:t>Keep it consistent with your brand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4E4E55"/>
                </a:solidFill>
                <a:latin typeface="Montserrat"/>
              </a:rPr>
              <a:t>Consistency builds trust: same fonts, colors, and layout rhythm — so visuals support authority (not noise).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Logistics &amp; ops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Room setup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Stage sightlines, aisle space, and a clear “focus zone” up front.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2623021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568157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Seating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Choose layout to match the experience: theatre, classroom, circle, cabaret.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142923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088059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AV test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Mic levels, music, video playback, click-through speed, and backups.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3662825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3607961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Slide remote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Fresh batteries + a spare. Know where “blank screen” lives.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" y="418272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4127862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Music cues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Walk-on, breaks, experience sections, and close. Volume pre-set.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26464" y="470262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9072" y="4647764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Timekeeper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Hard stops for teach/experience/offer so the close lands clean.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26464" y="522253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19072" y="5167666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Roles (host, chat, sales support)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Clear hand-offs, Q&amp;A routing, links ready, and objection coverage.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Run-of-show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852928"/>
            <a:ext cx="939545" cy="1371600"/>
          </a:xfrm>
          <a:prstGeom prst="roundRect">
            <a:avLst>
              <a:gd name="adj" fmla="val 11678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3040" y="2829153"/>
            <a:ext cx="756665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2852928"/>
            <a:ext cx="793241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7171B"/>
                </a:solidFill>
                <a:latin typeface="Montserrat"/>
              </a:rPr>
              <a:t>OPEN DOORS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T –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6282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22041" y="2852928"/>
            <a:ext cx="939545" cy="1371600"/>
          </a:xfrm>
          <a:prstGeom prst="roundRect">
            <a:avLst>
              <a:gd name="adj" fmla="val 11678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13482" y="2829153"/>
            <a:ext cx="756665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5194" y="2852928"/>
            <a:ext cx="793241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7171B"/>
                </a:solidFill>
                <a:latin typeface="Montserrat"/>
              </a:rPr>
              <a:t>START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T – 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6723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72483" y="2852928"/>
            <a:ext cx="939545" cy="1371600"/>
          </a:xfrm>
          <a:prstGeom prst="roundRect">
            <a:avLst>
              <a:gd name="adj" fmla="val 11678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63923" y="2829153"/>
            <a:ext cx="756665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45635" y="2852928"/>
            <a:ext cx="793241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7171B"/>
                </a:solidFill>
                <a:latin typeface="Montserrat"/>
              </a:rPr>
              <a:t>HOOK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3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7166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2926" y="2852928"/>
            <a:ext cx="939545" cy="1371600"/>
          </a:xfrm>
          <a:prstGeom prst="roundRect">
            <a:avLst>
              <a:gd name="adj" fmla="val 11678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14366" y="2829153"/>
            <a:ext cx="756665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6078" y="2852928"/>
            <a:ext cx="793241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7171B"/>
                </a:solidFill>
                <a:latin typeface="Montserrat"/>
              </a:rPr>
              <a:t>TEACH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20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7608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73368" y="2852928"/>
            <a:ext cx="939545" cy="1371600"/>
          </a:xfrm>
          <a:prstGeom prst="roundRect">
            <a:avLst>
              <a:gd name="adj" fmla="val 11678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64807" y="2829153"/>
            <a:ext cx="756665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852928"/>
            <a:ext cx="793241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7171B"/>
                </a:solidFill>
                <a:latin typeface="Montserrat"/>
              </a:rPr>
              <a:t>EXPERIENCE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10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8050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23809" y="2852928"/>
            <a:ext cx="939545" cy="1371600"/>
          </a:xfrm>
          <a:prstGeom prst="roundRect">
            <a:avLst>
              <a:gd name="adj" fmla="val 11678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15249" y="2829153"/>
            <a:ext cx="756665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6961" y="2852928"/>
            <a:ext cx="793241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7171B"/>
                </a:solidFill>
                <a:latin typeface="Montserrat"/>
              </a:rPr>
              <a:t>TEACH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15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8491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74252" y="2852928"/>
            <a:ext cx="939545" cy="1371600"/>
          </a:xfrm>
          <a:prstGeom prst="roundRect">
            <a:avLst>
              <a:gd name="adj" fmla="val 11678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65692" y="2829153"/>
            <a:ext cx="756665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47404" y="2852928"/>
            <a:ext cx="793241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7171B"/>
                </a:solidFill>
                <a:latin typeface="Montserrat"/>
              </a:rPr>
              <a:t>OFFER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12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8934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24694" y="2852928"/>
            <a:ext cx="939545" cy="1371600"/>
          </a:xfrm>
          <a:prstGeom prst="roundRect">
            <a:avLst>
              <a:gd name="adj" fmla="val 11678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216134" y="2829153"/>
            <a:ext cx="756665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97846" y="2852928"/>
            <a:ext cx="793241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7171B"/>
                </a:solidFill>
                <a:latin typeface="Montserrat"/>
              </a:rPr>
              <a:t>Q&amp;A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10 MIN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25880" y="5230368"/>
            <a:ext cx="973836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00200" y="5230368"/>
            <a:ext cx="9189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End cap: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Close clean → invite photos/connection → direct them to the next step (QR / link / table) before they disperse.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Brief your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57276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E4E55"/>
                </a:solidFill>
                <a:latin typeface="Montserrat"/>
              </a:rPr>
              <a:t>Clarity reduces friction — and keeps the experience consistent.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993392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1288" y="1967788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71016" y="2240280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139696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Outcomes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What “success” looks like for the audience and the team.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993392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1728" y="1967788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91456" y="2240280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139696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Run sheet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Minute‑by‑minute flow, timing cues, and who owns each beat.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93392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02167" y="1967788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11896" y="2240280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139696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Hand‑offs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Exact “who says what next” moments (zero awkward transitions).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064508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61288" y="403890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71016" y="431139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4210812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FAQs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Common questions + the exact answers your team will repeat.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064508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81728" y="403890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91456" y="431139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210812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Objection roles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Who handles what — and when to escalate to you.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4064508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02167" y="403890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11896" y="431139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4210812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After‑action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Post‑event tasks + a short debrief slot to improve fast.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Do this / Avoid this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5029200" cy="548640"/>
          </a:xfrm>
          <a:prstGeom prst="roundRect">
            <a:avLst>
              <a:gd name="adj" fmla="val 2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847088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ontserrat"/>
              </a:rPr>
              <a:t>DO THIS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47088"/>
            <a:ext cx="5029200" cy="548640"/>
          </a:xfrm>
          <a:prstGeom prst="roundRect">
            <a:avLst>
              <a:gd name="adj" fmla="val 2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47088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ontserrat"/>
              </a:rPr>
              <a:t>AVOID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532888"/>
            <a:ext cx="5029200" cy="3337560"/>
          </a:xfrm>
          <a:prstGeom prst="roundRect">
            <a:avLst>
              <a:gd name="adj" fmla="val 438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07592" y="276148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715768"/>
            <a:ext cx="4251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Simplicity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One big idea, clear steps, clean next 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07592" y="376732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721608"/>
            <a:ext cx="4251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Pacing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Timebox sections, leave space for questions &amp; reflection.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07592" y="477316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727448"/>
            <a:ext cx="4251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Presence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Stay grounded. Lead the room with calm certainty.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532888"/>
            <a:ext cx="5029200" cy="3337560"/>
          </a:xfrm>
          <a:prstGeom prst="roundRect">
            <a:avLst>
              <a:gd name="adj" fmla="val 438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65392" y="276148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715768"/>
            <a:ext cx="425196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Cramming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Too much content. Too little integration.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65392" y="351586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470148"/>
            <a:ext cx="425196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Rushing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No pauses. No space for the lesson to land.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427024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224528"/>
            <a:ext cx="425196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Over‑selling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Pressure before value erodes trust.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65392" y="502462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978908"/>
            <a:ext cx="425196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Tech risk without backup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No test run, no redundancy, no plan B.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29184"/>
            <a:ext cx="11496751" cy="6199632"/>
          </a:xfrm>
          <a:prstGeom prst="roundRect">
            <a:avLst>
              <a:gd name="adj" fmla="val 3687"/>
            </a:avLst>
          </a:prstGeom>
          <a:noFill/>
          <a:ln w="12700">
            <a:solidFill>
              <a:srgbClr val="E0C0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F5E7DF"/>
                </a:solidFill>
                <a:latin typeface="Montserrat"/>
              </a:rPr>
              <a:t>MODULE 13   |   VIDEO 13.2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950976"/>
            <a:ext cx="10469880" cy="12801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1828800" cy="12801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D8A994"/>
                </a:solidFill>
                <a:latin typeface="Montserrat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40280"/>
            <a:ext cx="871697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Montserrat"/>
              </a:rPr>
              <a:t>The best workshops don’t just teach — they create a felt experience of what’s possible.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4480560"/>
            <a:ext cx="146304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0" b="1">
                <a:solidFill>
                  <a:srgbClr val="D8A994"/>
                </a:solidFill>
                <a:latin typeface="Montserrat"/>
              </a:rPr>
              <a:t>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FFFFFF"/>
                </a:solidFill>
                <a:latin typeface="Montserrat"/>
              </a:rPr>
              <a:t>L U K E   H A W K I N 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29184"/>
            <a:ext cx="11496751" cy="6199632"/>
          </a:xfrm>
          <a:prstGeom prst="roundRect">
            <a:avLst>
              <a:gd name="adj" fmla="val 3687"/>
            </a:avLst>
          </a:prstGeom>
          <a:noFill/>
          <a:ln w="12700">
            <a:solidFill>
              <a:srgbClr val="E0C0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F5E7DF"/>
                </a:solidFill>
                <a:latin typeface="Montserrat"/>
              </a:rPr>
              <a:t>MODULE 13   |   VIDEO 13.3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950976"/>
            <a:ext cx="10469880" cy="12801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9713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ontserrat"/>
              </a:rPr>
              <a:t>Webinar Mastery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534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5E7DF"/>
                </a:solidFill>
                <a:latin typeface="Montserrat"/>
              </a:rPr>
              <a:t>Convert online audiences with the same power as the 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FFFFFF"/>
                </a:solidFill>
                <a:latin typeface="Montserrat"/>
              </a:rPr>
              <a:t>L U K E   H A W K I N 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13.3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Webinar vs Live — what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5029200" cy="548640"/>
          </a:xfrm>
          <a:prstGeom prst="roundRect">
            <a:avLst>
              <a:gd name="adj" fmla="val 2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847088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ontserrat"/>
              </a:rPr>
              <a:t>WEBINAR (Online)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47088"/>
            <a:ext cx="5029200" cy="548640"/>
          </a:xfrm>
          <a:prstGeom prst="roundRect">
            <a:avLst>
              <a:gd name="adj" fmla="val 2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47088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ontserrat"/>
              </a:rPr>
              <a:t>LIVE (In‑Room)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532888"/>
            <a:ext cx="5029200" cy="3337560"/>
          </a:xfrm>
          <a:prstGeom prst="roundRect">
            <a:avLst>
              <a:gd name="adj" fmla="val 438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07592" y="276148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715768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Attention windows are shorter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Segment tighter. Reset focus often.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07592" y="3364991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319272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Distractions are everywhere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Tabs, phones, kids, notifications.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07592" y="3968496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922776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Energy must be transmitted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Voice + camera do the heavy lifting.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07592" y="4572000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526280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Engagement is chat‑based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Polls, Qs, name call‑outs, prompts.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07592" y="5175503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5129783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Timeboxing must be strict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Keep pace. Use clear transitions.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532888"/>
            <a:ext cx="5029200" cy="3337560"/>
          </a:xfrm>
          <a:prstGeom prst="roundRect">
            <a:avLst>
              <a:gd name="adj" fmla="val 438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65392" y="276148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715768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Attention is embodied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Presence holds the room naturally.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65392" y="3364991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319272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Energy transfers faster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Room feedback creates momentum.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65392" y="3968496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3922776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Visual variety is physical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Movement, props, demos, room shifts.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65392" y="4572000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526280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Engagement is relational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Eye contact, laughter, shared moments.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65392" y="5175503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5129783"/>
            <a:ext cx="425196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Timeboxing is looser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Transitions + applause take time.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13.3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Webinar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3456432"/>
          </a:xfrm>
          <a:prstGeom prst="roundRect">
            <a:avLst>
              <a:gd name="adj" fmla="val 582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3456432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6095847" y="2395728"/>
            <a:ext cx="0" cy="1252728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377440" y="3282696"/>
            <a:ext cx="3718407" cy="365760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95847" y="3282696"/>
            <a:ext cx="3718408" cy="365760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206240" y="3648456"/>
            <a:ext cx="1889607" cy="1106424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3648456"/>
            <a:ext cx="1889608" cy="1106424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21427" y="2574036"/>
            <a:ext cx="2148840" cy="2148840"/>
          </a:xfrm>
          <a:prstGeom prst="ellipse">
            <a:avLst/>
          </a:prstGeom>
          <a:solidFill>
            <a:srgbClr val="FCFAF9"/>
          </a:solidFill>
          <a:ln w="19050">
            <a:solidFill>
              <a:srgbClr val="C484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8587" y="3191256"/>
            <a:ext cx="1874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7171B"/>
                </a:solidFill>
                <a:latin typeface="Montserrat"/>
              </a:rPr>
              <a:t>ONE CLEAR ARC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Pre‑frame → Teach → Offer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4247" y="2048256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15687" y="2026310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7127" y="2157984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TEACH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Quick win in the room • 1 idea • 3 points • practice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328" y="3044952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72768" y="3023006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4208" y="3154680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PRE‑FRAME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Promise + agenda • set expectations +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7167" y="3044952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58607" y="3023006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0047" y="3154680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OFFER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Objection pre‑handle • clear CTA + next step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4224528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71800" y="4202582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4334256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ENGAGEMENT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Polls • chat • Q&amp;A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8135" y="4224528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59575" y="4202582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1015" y="4334256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CLARITY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Short segments • strong transitions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5413248"/>
            <a:ext cx="1028700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5413248"/>
            <a:ext cx="9738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Remember: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promise + quick win + pre‑handled objections + clear CTA = clean conversions online.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13.3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Keep online audiences engaged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10287000" cy="713232"/>
          </a:xfrm>
          <a:prstGeom prst="roundRect">
            <a:avLst>
              <a:gd name="adj" fmla="val 20512"/>
            </a:avLst>
          </a:prstGeom>
          <a:solidFill>
            <a:srgbClr val="E9D6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938528"/>
            <a:ext cx="9646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spc="250">
                <a:solidFill>
                  <a:srgbClr val="17171B"/>
                </a:solidFill>
                <a:latin typeface="Montserrat"/>
              </a:rPr>
              <a:t>PROMPT</a:t>
            </a:r>
          </a:p>
          <a:p>
            <a:pPr algn="l">
              <a:lnSpc>
                <a:spcPct val="110000"/>
              </a:lnSpc>
            </a:pPr>
            <a:r>
              <a:rPr sz="1300" b="1">
                <a:solidFill>
                  <a:srgbClr val="17171B"/>
                </a:solidFill>
                <a:latin typeface="Montserrat"/>
              </a:rPr>
              <a:t>Plan an engagement touchpoint every 2–4 minutes to prevent scroll‑away.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715768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61288" y="269016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71016" y="296265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6207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Polls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Quick state checks you can teach from immediately.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715768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81728" y="269016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91456" y="296265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86207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Chat prompts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Short questions that keep fingers moving and minds present.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15768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02167" y="269016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11896" y="296265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86207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Name call‑outs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Create belonging by acknowledging people in real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133087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61288" y="4107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71016" y="4379975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427939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Screen switches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Camera → slides → whiteboard → demo to reset attention.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133087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81728" y="4107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91456" y="4379975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427939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Camera moves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Stand up, step in, or change angle for energy shifts.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4133087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02167" y="4107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11896" y="4379975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427939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Short segments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Teach in tight beats (2–4 mins) with micro‑pauses.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5394960"/>
            <a:ext cx="1028700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5394960"/>
            <a:ext cx="9738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Rule: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change the stimulus before attention drops — ask, show, switch, or move.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13.3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Camera presence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Look at the lens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Eye contact = the camera, not your own image.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2623021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568157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Framing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Eyes in the top third. Keep space for your hands.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142923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088059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Lighting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Light your face from the front. Avoid backlight.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3662825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3607961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Pace + pauses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Go slightly slower than you think. Let lines land.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" y="418272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4127862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Smile in your voice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Warmth carries through tone even before words.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26464" y="470262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9072" y="4647764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Gesture in frame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Use deliberate, slower gestures where they can be seen.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26464" y="522253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19072" y="5167666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Stand if possible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Standing lifts energy, breath, and authority on camera.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13.3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Offer online vs in‑person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5029200" cy="548640"/>
          </a:xfrm>
          <a:prstGeom prst="roundRect">
            <a:avLst>
              <a:gd name="adj" fmla="val 2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847088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ontserrat"/>
              </a:rPr>
              <a:t>ONLINE (Webinar / Zoom)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47088"/>
            <a:ext cx="5029200" cy="548640"/>
          </a:xfrm>
          <a:prstGeom prst="roundRect">
            <a:avLst>
              <a:gd name="adj" fmla="val 2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47088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ontserrat"/>
              </a:rPr>
              <a:t>IN‑PERSON (Room / Event)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532888"/>
            <a:ext cx="5029200" cy="3337560"/>
          </a:xfrm>
          <a:prstGeom prst="roundRect">
            <a:avLst>
              <a:gd name="adj" fmla="val 438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07592" y="276148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715768"/>
            <a:ext cx="4251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Lower‑friction offers win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Simple next steps (low commitment) convert better on screen.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07592" y="376732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721608"/>
            <a:ext cx="4251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Bonuses create certainty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Clear deliverables reduce hesitation and increase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07592" y="477316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727448"/>
            <a:ext cx="4251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Payment plans matter more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Make the decision easy: split pay, clear checkout, fast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532888"/>
            <a:ext cx="5029200" cy="3337560"/>
          </a:xfrm>
          <a:prstGeom prst="roundRect">
            <a:avLst>
              <a:gd name="adj" fmla="val 438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65392" y="276148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715768"/>
            <a:ext cx="4251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Trust can be built faster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Presence, proximity, and social proof in the room raise conviction.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65392" y="376732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721608"/>
            <a:ext cx="4251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Scarcity feels more real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Seats, time windows, and in‑room momentum create urgency.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477316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727448"/>
            <a:ext cx="4251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High‑ticket can land cleanly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With warmth + clarity, bigger commitments can convert powerfully.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13.3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Automated vs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3246120" cy="1417320"/>
          </a:xfrm>
          <a:prstGeom prst="roundRect">
            <a:avLst>
              <a:gd name="adj" fmla="val 903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7101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993392"/>
            <a:ext cx="256946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Live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More authenticity, real-time energy, and live Q&amp;A.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47088"/>
            <a:ext cx="3246120" cy="1417320"/>
          </a:xfrm>
          <a:prstGeom prst="roundRect">
            <a:avLst>
              <a:gd name="adj" fmla="val 903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145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993392"/>
            <a:ext cx="256946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Automated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Scale faster with consistent delivery and fewer moving parts.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47088"/>
            <a:ext cx="3246120" cy="1417320"/>
          </a:xfrm>
          <a:prstGeom prst="roundRect">
            <a:avLst>
              <a:gd name="adj" fmla="val 903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02167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1189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93392"/>
            <a:ext cx="256946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Hybrid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Best of both: automated training + live Q&amp;A / close.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3584448"/>
            <a:ext cx="7360920" cy="2285999"/>
          </a:xfrm>
          <a:prstGeom prst="roundRect">
            <a:avLst>
              <a:gd name="adj" fmla="val 56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24328" y="3558844"/>
            <a:ext cx="71414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39" y="3730752"/>
            <a:ext cx="6720840" cy="201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Choose by goal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If your goal is connection + objections handled live, go Live. If your goal is scale + predictability, go Automated. If you want reach + intimacy, run Hybrid.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13.3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Post‑webinar follow‑up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852928"/>
            <a:ext cx="1118180" cy="1371600"/>
          </a:xfrm>
          <a:prstGeom prst="roundRect">
            <a:avLst>
              <a:gd name="adj" fmla="val 98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3040" y="2829153"/>
            <a:ext cx="93530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2852928"/>
            <a:ext cx="97187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7171B"/>
                </a:solidFill>
                <a:latin typeface="Montserrat"/>
              </a:rPr>
              <a:t>THANK‑YOU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DAY 0–1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4916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0676" y="2852928"/>
            <a:ext cx="1118180" cy="1371600"/>
          </a:xfrm>
          <a:prstGeom prst="roundRect">
            <a:avLst>
              <a:gd name="adj" fmla="val 98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92116" y="2829153"/>
            <a:ext cx="93530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3828" y="2852928"/>
            <a:ext cx="97187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7171B"/>
                </a:solidFill>
                <a:latin typeface="Montserrat"/>
              </a:rPr>
              <a:t>REPLAY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DAY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3993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9753" y="2852928"/>
            <a:ext cx="1118180" cy="1371600"/>
          </a:xfrm>
          <a:prstGeom prst="roundRect">
            <a:avLst>
              <a:gd name="adj" fmla="val 98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21193" y="2829153"/>
            <a:ext cx="93530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02905" y="2852928"/>
            <a:ext cx="97187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7171B"/>
                </a:solidFill>
                <a:latin typeface="Montserrat"/>
              </a:rPr>
              <a:t>NURTURE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DAYS 2–4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3069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58829" y="2852928"/>
            <a:ext cx="1118180" cy="1371600"/>
          </a:xfrm>
          <a:prstGeom prst="roundRect">
            <a:avLst>
              <a:gd name="adj" fmla="val 98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50269" y="2829153"/>
            <a:ext cx="93530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31981" y="2852928"/>
            <a:ext cx="97187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7171B"/>
                </a:solidFill>
                <a:latin typeface="Montserrat"/>
              </a:rPr>
              <a:t>FAQ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DAY 4–6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2146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7906" y="2852928"/>
            <a:ext cx="1118180" cy="1371600"/>
          </a:xfrm>
          <a:prstGeom prst="roundRect">
            <a:avLst>
              <a:gd name="adj" fmla="val 98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79346" y="2829153"/>
            <a:ext cx="93530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1058" y="2852928"/>
            <a:ext cx="97187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7171B"/>
                </a:solidFill>
                <a:latin typeface="Montserrat"/>
              </a:rPr>
              <a:t>CASE PROOF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DAY 6–8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1222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16982" y="2852928"/>
            <a:ext cx="1118180" cy="1371600"/>
          </a:xfrm>
          <a:prstGeom prst="roundRect">
            <a:avLst>
              <a:gd name="adj" fmla="val 98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08422" y="2829153"/>
            <a:ext cx="93530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0134" y="2852928"/>
            <a:ext cx="97187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7171B"/>
                </a:solidFill>
                <a:latin typeface="Montserrat"/>
              </a:rPr>
              <a:t>DEADLINE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LAST 48H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0299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46059" y="2852928"/>
            <a:ext cx="1118180" cy="1371600"/>
          </a:xfrm>
          <a:prstGeom prst="roundRect">
            <a:avLst>
              <a:gd name="adj" fmla="val 98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037499" y="2829153"/>
            <a:ext cx="93530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9211" y="2852928"/>
            <a:ext cx="97187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7171B"/>
                </a:solidFill>
                <a:latin typeface="Montserrat"/>
              </a:rPr>
              <a:t>FINAL CALL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CLOSE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25880" y="5230368"/>
            <a:ext cx="973836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00200" y="5230368"/>
            <a:ext cx="9189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Execution rule: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One email = one purpose. Keep it simple, keep it consistent, and point to one clean next step.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13.3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Key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10287000" cy="530352"/>
          </a:xfrm>
          <a:prstGeom prst="roundRect">
            <a:avLst>
              <a:gd name="adj" fmla="val 24137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847088"/>
            <a:ext cx="374903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00">
                <a:solidFill>
                  <a:srgbClr val="FFFFFF"/>
                </a:solidFill>
                <a:latin typeface="Montserrat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847088"/>
            <a:ext cx="1920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spc="200">
                <a:solidFill>
                  <a:srgbClr val="FFFFFF"/>
                </a:solidFill>
                <a:latin typeface="Montserrat"/>
              </a:rPr>
              <a:t>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847088"/>
            <a:ext cx="33832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00">
                <a:solidFill>
                  <a:srgbClr val="FFFFFF"/>
                </a:solidFill>
                <a:latin typeface="Montserrat"/>
              </a:rPr>
              <a:t>WHAT IT MEANS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514600"/>
            <a:ext cx="10287000" cy="838200"/>
          </a:xfrm>
          <a:prstGeom prst="roundRect">
            <a:avLst>
              <a:gd name="adj" fmla="val 1309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2750820"/>
            <a:ext cx="137160" cy="137160"/>
          </a:xfrm>
          <a:prstGeom prst="roundRect">
            <a:avLst>
              <a:gd name="adj" fmla="val 3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514600"/>
            <a:ext cx="347472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Registration → Show‑up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% who attend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514600"/>
            <a:ext cx="192024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7171B"/>
                </a:solidFill>
                <a:latin typeface="Montserrat"/>
              </a:rPr>
              <a:t>30–50%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514600"/>
            <a:ext cx="338328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E4E55"/>
                </a:solidFill>
                <a:latin typeface="Montserrat"/>
              </a:rPr>
              <a:t>Attendance is a function of reminders, clarity, and urgency to be live.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480816"/>
            <a:ext cx="10287000" cy="838200"/>
          </a:xfrm>
          <a:prstGeom prst="roundRect">
            <a:avLst>
              <a:gd name="adj" fmla="val 1309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3717035"/>
            <a:ext cx="137160" cy="137160"/>
          </a:xfrm>
          <a:prstGeom prst="roundRect">
            <a:avLst>
              <a:gd name="adj" fmla="val 3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3480816"/>
            <a:ext cx="347472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Watch time → Offer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% still present at pitch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3480816"/>
            <a:ext cx="192024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7171B"/>
                </a:solidFill>
                <a:latin typeface="Montserrat"/>
              </a:rPr>
              <a:t>60–80%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480816"/>
            <a:ext cx="338328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E4E55"/>
                </a:solidFill>
                <a:latin typeface="Montserrat"/>
              </a:rPr>
              <a:t>Segment pacing + interaction keep attention long enough to convert.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447032"/>
            <a:ext cx="10287000" cy="838200"/>
          </a:xfrm>
          <a:prstGeom prst="roundRect">
            <a:avLst>
              <a:gd name="adj" fmla="val 1309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71600" y="4683251"/>
            <a:ext cx="137160" cy="137160"/>
          </a:xfrm>
          <a:prstGeom prst="roundRect">
            <a:avLst>
              <a:gd name="adj" fmla="val 3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447032"/>
            <a:ext cx="347472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CTA clicks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% who take the next step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447032"/>
            <a:ext cx="192024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7171B"/>
                </a:solidFill>
                <a:latin typeface="Montserrat"/>
              </a:rPr>
              <a:t>15–30%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447032"/>
            <a:ext cx="338328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E4E55"/>
                </a:solidFill>
                <a:latin typeface="Montserrat"/>
              </a:rPr>
              <a:t>Clarity + one-link simplicity + time‑boxed bonus boosts 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5394960"/>
            <a:ext cx="1028700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5394960"/>
            <a:ext cx="9738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Optimization rule: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fix the weakest link first (reg → show‑up → watch time → CTA → purchase).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13.3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Tech setup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727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Platform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Zoom / WebinarJam / GHL / YouTube Live — know the buttons before you go live.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283098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776118"/>
            <a:ext cx="9345167" cy="727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Backup internet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Hotspot ready + device charged + quick reconnect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55884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503980"/>
            <a:ext cx="9345167" cy="727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Mic + camera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External mic preferred. Do a quick recording test for levels and lighting.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4286707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4231843"/>
            <a:ext cx="9345167" cy="727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Slides + timer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Deck loaded + backup PDF. Timebox sections so your offer isn’t rushed.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" y="5014569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4959705"/>
            <a:ext cx="9345167" cy="727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Moderator + recording + redundancy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Moderator handles chat/Q&amp;A. Start recording early. Have backups: links, files, and plan B.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29184"/>
            <a:ext cx="11496751" cy="6199632"/>
          </a:xfrm>
          <a:prstGeom prst="roundRect">
            <a:avLst>
              <a:gd name="adj" fmla="val 3687"/>
            </a:avLst>
          </a:prstGeom>
          <a:noFill/>
          <a:ln w="12700">
            <a:solidFill>
              <a:srgbClr val="E0C0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F5E7DF"/>
                </a:solidFill>
                <a:latin typeface="Montserrat"/>
              </a:rPr>
              <a:t>MODULE 13   |   VIDEO 13.3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950976"/>
            <a:ext cx="10469880" cy="12801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1828800" cy="12801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D8A994"/>
                </a:solidFill>
                <a:latin typeface="Montserrat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40280"/>
            <a:ext cx="871697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Montserrat"/>
              </a:rPr>
              <a:t>The screen is your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959100"/>
            <a:ext cx="8351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5E7DF"/>
                </a:solidFill>
                <a:latin typeface="Montserrat"/>
              </a:rPr>
              <a:t>Treat every webinar like a sold-out room — energetically, that’s what you create.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4480560"/>
            <a:ext cx="146304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0" b="1">
                <a:solidFill>
                  <a:srgbClr val="D8A994"/>
                </a:solidFill>
                <a:latin typeface="Montserrat"/>
              </a:rPr>
              <a:t>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FFFFFF"/>
                </a:solidFill>
                <a:latin typeface="Montserrat"/>
              </a:rPr>
              <a:t>L U K E   H A W K I N 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13.4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Audience profile — 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7101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Loneliness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Wanting connection without losing safety.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145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Fear of vulnerability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Hesitation to be seen fully in groups.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02167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1189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Limiting beliefs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Identity stories that keep growth stuck.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128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7101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Sobriety disconnection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Social gaps when old habits are gone.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8172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9145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Over‑thinking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Getting stuck in mind, avoiding feeling.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02167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1189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Belonging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A sober‑conscious tribe that feels safe.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13.4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Audience profile —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7101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Feel seen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Validation without judgment — “I’m not alone.”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145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Lasting relationships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Real connection that continues after the event.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02167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1189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Break patterns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Stop repeating the same loops — choose a new way.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128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7101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Sober‑conscious community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A place to belong where values and lifestyle align.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8172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9145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Usable tools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Simple practices they can apply immediately.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02167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1189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Sustained openness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Keep the heart open — without burning out or isolating.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13.4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Adapt your talk for conscious 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3456432"/>
          </a:xfrm>
          <a:prstGeom prst="roundRect">
            <a:avLst>
              <a:gd name="adj" fmla="val 582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3456432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6095847" y="2395728"/>
            <a:ext cx="0" cy="1252728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377440" y="3282696"/>
            <a:ext cx="3718407" cy="365760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95847" y="3282696"/>
            <a:ext cx="3718408" cy="365760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206240" y="3648456"/>
            <a:ext cx="1889607" cy="1106424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3648456"/>
            <a:ext cx="1889608" cy="1106424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21427" y="2574036"/>
            <a:ext cx="2148840" cy="2148840"/>
          </a:xfrm>
          <a:prstGeom prst="ellipse">
            <a:avLst/>
          </a:prstGeom>
          <a:solidFill>
            <a:srgbClr val="FCFAF9"/>
          </a:solidFill>
          <a:ln w="19050">
            <a:solidFill>
              <a:srgbClr val="C484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8587" y="3191256"/>
            <a:ext cx="1874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7171B"/>
                </a:solidFill>
                <a:latin typeface="Montserrat"/>
              </a:rPr>
              <a:t>PRESENCE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Warmth • consent • truth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4247" y="2048256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15687" y="2026310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7127" y="2157984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MISSION STORY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Why you care • why it matters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328" y="3044952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72768" y="3023006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4208" y="3154680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RAPPORT HOOK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Shared identity + safety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7167" y="3044952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58607" y="3023006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0047" y="3154680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PERMISSION INVITE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Soft ask to be open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4224528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71800" y="4202582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4334256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QUALIFY + URGENCY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Who it’s for • why now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8135" y="4224528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59575" y="4202582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1015" y="4334256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CTA + CLOSE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One clear next step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5413248"/>
            <a:ext cx="1028700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5413248"/>
            <a:ext cx="9738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Consent frame: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invite first, then lead with clarity — no pressure, only options.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13.4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Useful micro‑frames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1213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7171B"/>
                </a:solidFill>
                <a:latin typeface="Montserrat"/>
              </a:rPr>
              <a:t>“No pressure, only options”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4E4E55"/>
                </a:solidFill>
                <a:latin typeface="Montserrat"/>
              </a:rPr>
              <a:t>Keeps sovereignty high and lowers the audience’s nervous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331622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3261360"/>
            <a:ext cx="9345167" cy="1213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7171B"/>
                </a:solidFill>
                <a:latin typeface="Montserrat"/>
              </a:rPr>
              <a:t>“Take what serves”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4E4E55"/>
                </a:solidFill>
                <a:latin typeface="Montserrat"/>
              </a:rPr>
              <a:t>Invites self‑selection and makes the room feel respected.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4529327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4474463"/>
            <a:ext cx="9345167" cy="1213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7171B"/>
                </a:solidFill>
                <a:latin typeface="Montserrat"/>
              </a:rPr>
              <a:t>“We value consent and sovereignty”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4E4E55"/>
                </a:solidFill>
                <a:latin typeface="Montserrat"/>
              </a:rPr>
              <a:t>Sets a clean frame: you lead with care, not control.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13.4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Pitfalls to avoid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727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Over-teaching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Too much information flattens the room. Give one clear shift + one usable tool.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283098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776118"/>
            <a:ext cx="9345167" cy="727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Hidden agendas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In conscious spaces, people feel intent fast. Be clean, transparent, and service-led.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55884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503980"/>
            <a:ext cx="9345167" cy="727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Rushing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Speed can read like anxiety. Slow your headlines and let the emotion land.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4286707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4231843"/>
            <a:ext cx="9345167" cy="727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Not reading the room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Watch faces, breath, and energy. Adjust pace, tone, and depth in real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" y="5014569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4959705"/>
            <a:ext cx="9345167" cy="727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No decompression time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After a deep moment, pause. Create space to integrate before you transition or pitch.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29184"/>
            <a:ext cx="11496751" cy="6199632"/>
          </a:xfrm>
          <a:prstGeom prst="roundRect">
            <a:avLst>
              <a:gd name="adj" fmla="val 3687"/>
            </a:avLst>
          </a:prstGeom>
          <a:noFill/>
          <a:ln w="12700">
            <a:solidFill>
              <a:srgbClr val="E0C0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F5E7DF"/>
                </a:solidFill>
                <a:latin typeface="Montserrat"/>
              </a:rPr>
              <a:t>MODULE 13   |   VIDEO 13.5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950976"/>
            <a:ext cx="10469880" cy="12801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9713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ontserrat"/>
              </a:rPr>
              <a:t>Large Stage &amp; Corporate 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534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5E7DF"/>
                </a:solidFill>
                <a:latin typeface="Montserrat"/>
              </a:rPr>
              <a:t>Scale impact without losing message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FFFFFF"/>
                </a:solidFill>
                <a:latin typeface="Montserrat"/>
              </a:rPr>
              <a:t>L U K E   H A W K I N 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13.5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Large stage dynamics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909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7171B"/>
                </a:solidFill>
                <a:latin typeface="Montserrat"/>
              </a:rPr>
              <a:t>Room size changes the “read”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4E4E55"/>
                </a:solidFill>
                <a:latin typeface="Montserrat"/>
              </a:rPr>
              <a:t>You’re speaking to zones, not faces — simplify beats and project intent.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301294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958084"/>
            <a:ext cx="9345167" cy="909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7171B"/>
                </a:solidFill>
                <a:latin typeface="Montserrat"/>
              </a:rPr>
              <a:t>Delay &amp; pacing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4E4E55"/>
                </a:solidFill>
                <a:latin typeface="Montserrat"/>
              </a:rPr>
              <a:t>Big rooms need bigger pauses — let laughter and applause fully land.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92277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867912"/>
            <a:ext cx="9345167" cy="909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7171B"/>
                </a:solidFill>
                <a:latin typeface="Montserrat"/>
              </a:rPr>
              <a:t>Sightlines &amp; stage geography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4E4E55"/>
                </a:solidFill>
                <a:latin typeface="Montserrat"/>
              </a:rPr>
              <a:t>Choose positions deliberately so every section feels included.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4832603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4777740"/>
            <a:ext cx="9345167" cy="909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7171B"/>
                </a:solidFill>
                <a:latin typeface="Montserrat"/>
              </a:rPr>
              <a:t>Energy waves, applause timing, broader gestures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4E4E55"/>
                </a:solidFill>
                <a:latin typeface="Montserrat"/>
              </a:rPr>
              <a:t>Use bigger, cleaner movement so meaning reads from 50+ metres away.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13.5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Physical adjustments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Projection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Send your voice to the back of the room without forcing volume.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270967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654808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Mic technique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Work the mic (distance + angle). Don’t “eat the mic” or drift away mid‑line.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31622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261360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Stage zones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Use geography intentionally (center = authority, edges = connection, step‑forward = CTA).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392277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3867912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Movement arcs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Move between ideas — then stop. Stillness makes the next line land heavier.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" y="4529327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4474463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Pause discipline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Hold 2–3 seconds after headline lines. Eye contact stays — hands stay quiet.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26464" y="51358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9072" y="5081016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Monitor awareness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Stay oriented to teleprompter/confidence monitor without losing the audience.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13.5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Corporate keynote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3456432"/>
          </a:xfrm>
          <a:prstGeom prst="roundRect">
            <a:avLst>
              <a:gd name="adj" fmla="val 582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3456432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6095847" y="2395728"/>
            <a:ext cx="0" cy="1252728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377440" y="3282696"/>
            <a:ext cx="3718407" cy="365760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95847" y="3282696"/>
            <a:ext cx="3718408" cy="365760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206240" y="3648456"/>
            <a:ext cx="1889607" cy="1106424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3648456"/>
            <a:ext cx="1889608" cy="1106424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21427" y="2574036"/>
            <a:ext cx="2148840" cy="2148840"/>
          </a:xfrm>
          <a:prstGeom prst="ellipse">
            <a:avLst/>
          </a:prstGeom>
          <a:solidFill>
            <a:srgbClr val="FCFAF9"/>
          </a:solidFill>
          <a:ln w="19050">
            <a:solidFill>
              <a:srgbClr val="C484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8587" y="3191256"/>
            <a:ext cx="1874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7171B"/>
                </a:solidFill>
                <a:latin typeface="Montserrat"/>
              </a:rPr>
              <a:t>KEYNOTE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Clarity • relevance • outcomes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4247" y="2048256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15687" y="2026310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7127" y="2157984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PROBLEM TRUTH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Name the real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328" y="3044952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72768" y="3023006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4208" y="3154680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HOOK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Attention + outcome promise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7167" y="3044952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58607" y="3023006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0047" y="3154680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FRAMEWORK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Simple model people remember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4224528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71800" y="4202582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4334256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CASE STUDY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Proof with numbers + story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8135" y="4224528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59575" y="4202582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1015" y="4334256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APPLICATION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Make it usable Monday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5413248"/>
            <a:ext cx="1028700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5413248"/>
            <a:ext cx="9738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Close rule: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end with a clear call to action — one next step the audience can execute immediately.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13.5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Tailor to industry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7101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Vocabulary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Use their terms, acronyms, and role language.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145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Pain points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Name the real problems they’re measured 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02167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1189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Compliance context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Respect constraints, approvals, and risk boundaries.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128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7101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KPI mapping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Translate your message into measurable outcomes.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8172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9145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Stakeholder priorities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Align to what leaders, teams, and buyers care about.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02167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1189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Industry anchors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Use relevant examples that match their reality.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13.5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Authority brief for bookers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Bio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Your positioning, credibility, and the problem you solve — in 3–5 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270967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654808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Signature outcomes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Clear before/after results (tie to KPIs when corporate).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31622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261360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Talk menu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3–5 talk titles with one-line outcomes for 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392277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3867912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Social proof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Testimonials, logos, audience sizes, media links, and measurable results.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" y="4529327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4474463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Tech rider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Mic type, clicker, confidence monitor, playback needs, slide format + backups.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26464" y="51358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9072" y="5081016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Fees + availability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Your rate range, travel policy, and booking windows (plus clear next steps).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13.5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Manage AV &amp; tech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Soundcheck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Test mic gain, EQ, and stage volume before doors open.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2623021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568157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Slides &amp; backups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Primary deck + PDF backup + offline copy on USB/drive.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142923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088059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Clicker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Test range + batteries. Know “blank screen” + laser toggle.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3662825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3607961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Timers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Run-of-show timing + countdown cues (especially for Q&amp;A).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" y="418272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4127862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Confidence monitor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Confirm you can see slides without turning your 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26464" y="470262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9072" y="4647764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Stage map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Know safe zones, cables, monitors, and where NOT to stand.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26464" y="522253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19072" y="5167666"/>
            <a:ext cx="9345167" cy="5199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7171B"/>
                </a:solidFill>
                <a:latin typeface="Montserrat"/>
              </a:rPr>
              <a:t>Crew cues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Agree on hand signals for audio, lighting, music, and timing.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13.5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Big-stage rehearsal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852928"/>
            <a:ext cx="2974848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3040" y="2829153"/>
            <a:ext cx="2791968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2852928"/>
            <a:ext cx="282854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SCRIPT BEATS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OPEN → TEACH → CLOSE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1584" y="33375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30496" y="2852928"/>
            <a:ext cx="2974848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21936" y="2829153"/>
            <a:ext cx="2791968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3648" y="2852928"/>
            <a:ext cx="282854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BLOCKING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MOVEMENT &amp; ZONES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0480" y="33375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2" y="2852928"/>
            <a:ext cx="2974848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0832" y="2829153"/>
            <a:ext cx="2791968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2544" y="2852928"/>
            <a:ext cx="282854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MIC RUNS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PACE &amp; BREATH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5230368"/>
            <a:ext cx="973836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5230368"/>
            <a:ext cx="9189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Run-through checklist: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Slide timing • Applause lines (pause + hold) • Q&amp;A guardrails (timebox + bridge phrases)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13.5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Do this / Avoid this (corporate)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5029200" cy="548640"/>
          </a:xfrm>
          <a:prstGeom prst="roundRect">
            <a:avLst>
              <a:gd name="adj" fmla="val 2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847088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ontserrat"/>
              </a:rPr>
              <a:t>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47088"/>
            <a:ext cx="5029200" cy="548640"/>
          </a:xfrm>
          <a:prstGeom prst="roundRect">
            <a:avLst>
              <a:gd name="adj" fmla="val 2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47088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ontserrat"/>
              </a:rPr>
              <a:t>AVOID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532888"/>
            <a:ext cx="5029200" cy="3337560"/>
          </a:xfrm>
          <a:prstGeom prst="roundRect">
            <a:avLst>
              <a:gd name="adj" fmla="val 438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07592" y="276148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715768"/>
            <a:ext cx="4251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Clarity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Simple structure, clean headlines, direct takeaways.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07592" y="376732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721608"/>
            <a:ext cx="4251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Brevity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Get to the point fast. Respect time and attention.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07592" y="477316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727448"/>
            <a:ext cx="4251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Relevance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Tie everything to outcomes, KPIs, and real-world use.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532888"/>
            <a:ext cx="5029200" cy="3337560"/>
          </a:xfrm>
          <a:prstGeom prst="roundRect">
            <a:avLst>
              <a:gd name="adj" fmla="val 438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65392" y="276148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715768"/>
            <a:ext cx="4251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Jargon overload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Buzzwords without application reduce trust quickly.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65392" y="376732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721608"/>
            <a:ext cx="4251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Edgy humor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Risky jokes can damage safety and professionalism.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4773168"/>
            <a:ext cx="118872" cy="118872"/>
          </a:xfrm>
          <a:prstGeom prst="roundRect">
            <a:avLst>
              <a:gd name="adj" fmla="val 38461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727448"/>
            <a:ext cx="4251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Unproven claims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If you can’t back it up, don’t overstate it.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29184"/>
            <a:ext cx="11496751" cy="6199632"/>
          </a:xfrm>
          <a:prstGeom prst="roundRect">
            <a:avLst>
              <a:gd name="adj" fmla="val 3687"/>
            </a:avLst>
          </a:prstGeom>
          <a:noFill/>
          <a:ln w="12700">
            <a:solidFill>
              <a:srgbClr val="E0C0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F5E7DF"/>
                </a:solidFill>
                <a:latin typeface="Montserrat"/>
              </a:rPr>
              <a:t>MODULE 13   |   VIDEO 13.5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950976"/>
            <a:ext cx="10469880" cy="12801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1828800" cy="12801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D8A994"/>
                </a:solidFill>
                <a:latin typeface="Montserrat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40280"/>
            <a:ext cx="871697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Montserrat"/>
              </a:rPr>
              <a:t>The stage gets bigger, but the principles stay the same. Master the fundamentals — then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4480560"/>
            <a:ext cx="146304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0" b="1">
                <a:solidFill>
                  <a:srgbClr val="D8A994"/>
                </a:solidFill>
                <a:latin typeface="Montserrat"/>
              </a:rPr>
              <a:t>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FFFFFF"/>
                </a:solidFill>
                <a:latin typeface="Montserrat"/>
              </a:rPr>
              <a:t>L U K E   H A W K I N 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13.6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Short pitch — full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3456432"/>
          </a:xfrm>
          <a:prstGeom prst="roundRect">
            <a:avLst>
              <a:gd name="adj" fmla="val 582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3456432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6095847" y="2395728"/>
            <a:ext cx="0" cy="1252728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377440" y="3282696"/>
            <a:ext cx="3718407" cy="365760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95847" y="3282696"/>
            <a:ext cx="3718408" cy="365760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206240" y="3648456"/>
            <a:ext cx="1889607" cy="1106424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3648456"/>
            <a:ext cx="1889608" cy="1106424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21427" y="2574036"/>
            <a:ext cx="2148840" cy="2148840"/>
          </a:xfrm>
          <a:prstGeom prst="ellipse">
            <a:avLst/>
          </a:prstGeom>
          <a:solidFill>
            <a:srgbClr val="FCFAF9"/>
          </a:solidFill>
          <a:ln w="19050">
            <a:solidFill>
              <a:srgbClr val="C484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8587" y="3191256"/>
            <a:ext cx="1874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7171B"/>
                </a:solidFill>
                <a:latin typeface="Montserrat"/>
              </a:rPr>
              <a:t>10–15 MIN TALK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5 beats • one clear CTA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4247" y="2048256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15687" y="2026310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7127" y="2157984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2) MISSION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Why you do what you 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328" y="3044952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72768" y="3023006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4208" y="3154680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1) RAPPORT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Shared identity + felt “me too”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7167" y="3044952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58607" y="3023006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0047" y="3154680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3) PERMISSION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Soft invite → openness + consent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4224528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71800" y="4202582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4334256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4) QUALIFY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Who it’s for + why now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8135" y="4224528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59575" y="4202582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1015" y="4334256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5) CTA + CLOSE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One step • clear • non‑pushy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5413248"/>
            <a:ext cx="1028700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5413248"/>
            <a:ext cx="9738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Keep it clean: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one thread, one outcome, one next step — delivered with presence.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13.6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Rapport hook — examples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7101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Shared Identity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“If you’ve ever felt like you didn’t fit… you’re in the right place.”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145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Shared Moment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“Look around — every person here chose to show up. That matters.”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02167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1189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Pattern Interrupt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“Quick question — what if your ‘overthinking’ is actually your strength?”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128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7101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Audience Mirror Lines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“Some of you are open… and some of you are guarded. Both are welcome.”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8172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9145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3 Openers Included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Pick one: identity, moment, or question. Keep it under 15 seconds.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02167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1189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Delivery Note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Land the last word, then pause 2–3 seconds with eye contact.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13.6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Personal mission story — beats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2066544"/>
            <a:ext cx="310896" cy="310896"/>
          </a:xfrm>
          <a:prstGeom prst="ellipse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048256"/>
            <a:ext cx="9217152" cy="614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Inciting moment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The moment something changed — the wake‑up call, the turning point, the “I can’t keep doing this” realization.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2681020"/>
            <a:ext cx="310896" cy="310896"/>
          </a:xfrm>
          <a:prstGeom prst="ellipse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2662732"/>
            <a:ext cx="9217152" cy="614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Struggle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Name the cost — what you were dealing with internally and externally. Keep it honest, not dramatic.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3295497"/>
            <a:ext cx="310896" cy="310896"/>
          </a:xfrm>
          <a:prstGeom prst="ellipse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3277209"/>
            <a:ext cx="9217152" cy="614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Insight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The truth you saw — the belief that shifted. This is the “lesson” without teaching yet.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3909974"/>
            <a:ext cx="310896" cy="310896"/>
          </a:xfrm>
          <a:prstGeom prst="ellipse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3891686"/>
            <a:ext cx="9217152" cy="614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New path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What you did next — the decision, the first step, the practice that started changing the outcome.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4524451"/>
            <a:ext cx="310896" cy="310896"/>
          </a:xfrm>
          <a:prstGeom prst="ellipse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4506163"/>
            <a:ext cx="9217152" cy="614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Service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Why you help others now — connect your story to their journey and what’s possible for them.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5230368"/>
            <a:ext cx="973836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5230368"/>
            <a:ext cx="9189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Timing target: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60–90 seconds. Keep it tight, human, and emotionally honest — then move forward.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13.6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Permission / soft invite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7101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Ask to explore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Invite curiosity instead of forcing agreement.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145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Set safety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Create a calm container for real honesty.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02167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1189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Invite openness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Permission to feel + consider without pressure.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128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7101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Consent language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Sovereignty first: choice, pace, and boundaries.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8172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9145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Example phrasing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“If you’re open, try this with me for 60 seconds.”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02167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1189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Bridge to next step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Tie the invite to a simple, clear action after.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13.6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Qualify &amp; urgency — 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7101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Who it’s for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“If you want X and you’re tired of Y — this is for you.”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145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Why now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“If you wait 90 days, you’ll still be in the same loop — unless you decide today.”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02167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1189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Scarcity type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Seats, time, spots, bonus, cohort start — pick one real constraint.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128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7101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Time‑bound window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“Enrollment closes {date/time} — so you can stop overthinking and choose.”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8172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9145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Ethical framing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“No pressure. If it’s a fit, take the next step. If not, take the tool.”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02167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1189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One‑sentence combo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“If you’re {who} and you want {result}, this is your next step — {deadline}.”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13.6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CTA &amp; Close — Copy Bank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7101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One Step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Make the next move simple: one action, one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145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One Link / QR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One destination. No confusion. Repeat it clearly.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02167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1189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Bonus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A fast win that increases urgency and follow-through.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128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7101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Deadline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A clear time window creates action without pressure.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8172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9145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Enrollment Options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Give 1–3 clean choices (not 10) so they decide.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02167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1189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Next Touch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Tell them what happens next: email, link, or meet-up.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13.6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Delivery map — cues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167128"/>
            <a:ext cx="2135124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3040" y="2143353"/>
            <a:ext cx="1952243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2167128"/>
            <a:ext cx="198881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Pause placements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After headlines • before reveals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1860" y="26517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90772" y="2167128"/>
            <a:ext cx="2135124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82211" y="2143353"/>
            <a:ext cx="1952243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3924" y="2167128"/>
            <a:ext cx="198881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Eye contact arcs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Left → Center → Right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26517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9944" y="2167128"/>
            <a:ext cx="2135124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01383" y="2143353"/>
            <a:ext cx="1952243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167128"/>
            <a:ext cx="198881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Gesture cues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Open • point • frame • still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0203" y="26517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9116" y="2167128"/>
            <a:ext cx="2135124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20556" y="2143353"/>
            <a:ext cx="1952243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2268" y="2167128"/>
            <a:ext cx="198881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Tone switches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Warm → Declarative → Command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69767" y="3813048"/>
            <a:ext cx="5852160" cy="1051560"/>
          </a:xfrm>
          <a:prstGeom prst="roundRect">
            <a:avLst>
              <a:gd name="adj" fmla="val 1043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79495" y="3789273"/>
            <a:ext cx="5632704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4087" y="3922776"/>
            <a:ext cx="5303520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Space use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Anchor key moments to locations: center for truth, stage left/right for contrast, stillness for impact.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5230368"/>
            <a:ext cx="973836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230368"/>
            <a:ext cx="9189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Practical rule: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mark your script with [PAUSE], [LOOK], [GESTURE], [MOVE], [TONE] — then rehearse it until it’s natural.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13.6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Tone markers by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10287000" cy="530352"/>
          </a:xfrm>
          <a:prstGeom prst="roundRect">
            <a:avLst>
              <a:gd name="adj" fmla="val 24137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847088"/>
            <a:ext cx="374903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00">
                <a:solidFill>
                  <a:srgbClr val="FFFFFF"/>
                </a:solidFill>
                <a:latin typeface="Montserrat"/>
              </a:rPr>
              <a:t>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847088"/>
            <a:ext cx="1920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spc="200">
                <a:solidFill>
                  <a:srgbClr val="FFFFFF"/>
                </a:solidFill>
                <a:latin typeface="Montserrat"/>
              </a:rPr>
              <a:t>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847088"/>
            <a:ext cx="33832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00">
                <a:solidFill>
                  <a:srgbClr val="FFFFFF"/>
                </a:solidFill>
                <a:latin typeface="Montserrat"/>
              </a:rPr>
              <a:t>PURPOSE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514600"/>
            <a:ext cx="10287000" cy="838200"/>
          </a:xfrm>
          <a:prstGeom prst="roundRect">
            <a:avLst>
              <a:gd name="adj" fmla="val 1309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2750820"/>
            <a:ext cx="137160" cy="137160"/>
          </a:xfrm>
          <a:prstGeom prst="roundRect">
            <a:avLst>
              <a:gd name="adj" fmla="val 3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514600"/>
            <a:ext cx="347472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Rapport hook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“I see you” + shared humanity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514600"/>
            <a:ext cx="192024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7171B"/>
                </a:solidFill>
                <a:latin typeface="Montserrat"/>
              </a:rPr>
              <a:t>Warm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514600"/>
            <a:ext cx="338328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E4E55"/>
                </a:solidFill>
                <a:latin typeface="Montserrat"/>
              </a:rPr>
              <a:t>Build safety, trust, and connection fast.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480816"/>
            <a:ext cx="10287000" cy="838200"/>
          </a:xfrm>
          <a:prstGeom prst="roundRect">
            <a:avLst>
              <a:gd name="adj" fmla="val 1309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3717035"/>
            <a:ext cx="137160" cy="137160"/>
          </a:xfrm>
          <a:prstGeom prst="roundRect">
            <a:avLst>
              <a:gd name="adj" fmla="val 3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3480816"/>
            <a:ext cx="347472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Personal mission story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Truth &gt; perfection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3480816"/>
            <a:ext cx="192024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7171B"/>
                </a:solidFill>
                <a:latin typeface="Montserrat"/>
              </a:rPr>
              <a:t>Vulnerable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480816"/>
            <a:ext cx="338328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E4E55"/>
                </a:solidFill>
                <a:latin typeface="Montserrat"/>
              </a:rPr>
              <a:t>Create depth and emotional permission to be real.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447032"/>
            <a:ext cx="10287000" cy="838200"/>
          </a:xfrm>
          <a:prstGeom prst="roundRect">
            <a:avLst>
              <a:gd name="adj" fmla="val 1309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71600" y="4683251"/>
            <a:ext cx="137160" cy="137160"/>
          </a:xfrm>
          <a:prstGeom prst="roundRect">
            <a:avLst>
              <a:gd name="adj" fmla="val 3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447032"/>
            <a:ext cx="347472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Permission / soft invite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Open the door (no pressure)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447032"/>
            <a:ext cx="192024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7171B"/>
                </a:solidFill>
                <a:latin typeface="Montserrat"/>
              </a:rPr>
              <a:t>Curious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447032"/>
            <a:ext cx="338328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E4E55"/>
                </a:solidFill>
                <a:latin typeface="Montserrat"/>
              </a:rPr>
              <a:t>Invite reflection and choice without forcing.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5394960"/>
            <a:ext cx="1028700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5394960"/>
            <a:ext cx="9738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Close strong: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go Declarative to qualify (“this is for you if…”), then Command for the CTA (clear next step + calm certainty).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13.6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Annotated mini‑script (excerpt)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57276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E4E55"/>
                </a:solidFill>
                <a:latin typeface="Montserrat"/>
              </a:rPr>
              <a:t>A 2–3 minute festival/stage pitch with delivery cues (pause, tone, eye contact, gestures)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993392"/>
            <a:ext cx="5029200" cy="457200"/>
          </a:xfrm>
          <a:prstGeom prst="roundRect">
            <a:avLst>
              <a:gd name="adj" fmla="val 28000"/>
            </a:avLst>
          </a:prstGeom>
          <a:solidFill>
            <a:srgbClr val="E9D6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1993392"/>
            <a:ext cx="45171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00">
                <a:solidFill>
                  <a:srgbClr val="17171B"/>
                </a:solidFill>
                <a:latin typeface="Montserrat"/>
              </a:rPr>
              <a:t>SCRIPT (WHAT YOU SAY)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93392"/>
            <a:ext cx="5029200" cy="457200"/>
          </a:xfrm>
          <a:prstGeom prst="roundRect">
            <a:avLst>
              <a:gd name="adj" fmla="val 28000"/>
            </a:avLst>
          </a:prstGeom>
          <a:solidFill>
            <a:srgbClr val="E9D6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93392"/>
            <a:ext cx="45171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00">
                <a:solidFill>
                  <a:srgbClr val="17171B"/>
                </a:solidFill>
                <a:latin typeface="Montserrat"/>
              </a:rPr>
              <a:t>DELIVERY NOTES (HOW YOU SAY IT)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578608"/>
            <a:ext cx="5029200" cy="603504"/>
          </a:xfrm>
          <a:prstGeom prst="roundRect">
            <a:avLst>
              <a:gd name="adj" fmla="val 15151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39" y="2743200"/>
            <a:ext cx="274320" cy="274320"/>
          </a:xfrm>
          <a:prstGeom prst="ellipse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2651760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“Can I be honest with you?”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50" b="0">
                <a:solidFill>
                  <a:srgbClr val="4E4E55"/>
                </a:solidFill>
                <a:latin typeface="Montserrat"/>
              </a:rPr>
              <a:t>(Rapport hook — short, clean, human.)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578608"/>
            <a:ext cx="5029200" cy="603504"/>
          </a:xfrm>
          <a:prstGeom prst="roundRect">
            <a:avLst>
              <a:gd name="adj" fmla="val 15151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651760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Warm tone • soften your eyes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Pause 2s before you continue.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291840"/>
            <a:ext cx="5029200" cy="603504"/>
          </a:xfrm>
          <a:prstGeom prst="roundRect">
            <a:avLst>
              <a:gd name="adj" fmla="val 15151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34439" y="3456432"/>
            <a:ext cx="274320" cy="274320"/>
          </a:xfrm>
          <a:prstGeom prst="ellipse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19" y="3364992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“For a long time, I looked ‘fine’ on the outside… but I was disconnected on the inside.”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291840"/>
            <a:ext cx="5029200" cy="603504"/>
          </a:xfrm>
          <a:prstGeom prst="roundRect">
            <a:avLst>
              <a:gd name="adj" fmla="val 15151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364992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Slow pace • breathe low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Land “disconnected” → pause 3s → hold eye contact.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4005072"/>
            <a:ext cx="5029200" cy="603504"/>
          </a:xfrm>
          <a:prstGeom prst="roundRect">
            <a:avLst>
              <a:gd name="adj" fmla="val 15151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34439" y="4169664"/>
            <a:ext cx="274320" cy="274320"/>
          </a:xfrm>
          <a:prstGeom prst="ellipse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19" y="4078224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“And I realized something: sobriety isn’t just quitting — it’s coming home to yourself.”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50" b="0">
                <a:solidFill>
                  <a:srgbClr val="4E4E55"/>
                </a:solidFill>
                <a:latin typeface="Montserrat"/>
              </a:rPr>
              <a:t>(Insight line — frame + meaning.)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05072"/>
            <a:ext cx="5029200" cy="603504"/>
          </a:xfrm>
          <a:prstGeom prst="roundRect">
            <a:avLst>
              <a:gd name="adj" fmla="val 15151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078224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Whisper → declarative on “coming home”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Open‑palm gesture at chest (belonging).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4718304"/>
            <a:ext cx="5029200" cy="603504"/>
          </a:xfrm>
          <a:prstGeom prst="roundRect">
            <a:avLst>
              <a:gd name="adj" fmla="val 15151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34439" y="4882896"/>
            <a:ext cx="274320" cy="274320"/>
          </a:xfrm>
          <a:prstGeom prst="ellipse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19" y="479145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“So if you’ve been doing it ‘alone’… you don’t have to anymore.”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50" b="0">
                <a:solidFill>
                  <a:srgbClr val="4E4E55"/>
                </a:solidFill>
                <a:latin typeface="Montserrat"/>
              </a:rPr>
              <a:t>(Permission invite — safety + belonging.)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718304"/>
            <a:ext cx="5029200" cy="603504"/>
          </a:xfrm>
          <a:prstGeom prst="roundRect">
            <a:avLst>
              <a:gd name="adj" fmla="val 15151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791456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Genuine warmth • slow down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Sweep eye contact left → right (include the room).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5413248"/>
            <a:ext cx="1028700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5880" y="5413248"/>
            <a:ext cx="9738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7171B"/>
                </a:solidFill>
                <a:latin typeface="Montserrat"/>
              </a:rPr>
              <a:t>Rule: </a:t>
            </a:r>
            <a:r>
              <a:rPr sz="1000" b="0">
                <a:solidFill>
                  <a:srgbClr val="17171B"/>
                </a:solidFill>
                <a:latin typeface="Montserrat"/>
              </a:rPr>
              <a:t>one clear message per line. Add pauses + stillness so the room can feel it — then move into your CTA.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13.6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Adapt for different festivals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7101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Breathwork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Speak slower. Use more silence. Invite regulation + safety.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145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Yoga / Wellness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More embodiment cues. Simple practices they can do instantly.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02167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1189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Recovery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Lead with compassion. Consent language. “One step at a time.”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128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7101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Conscious Business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Tie to outcomes: clarity, leadership, impact, sustainable growth.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8172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9145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Family-Friendly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Keep language clean. Use simple examples + practical next steps.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02167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1189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Faith-Adjacent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Emphasize service, values, and integrity. Avoid “guru” energy.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29184"/>
            <a:ext cx="11496751" cy="6199632"/>
          </a:xfrm>
          <a:prstGeom prst="roundRect">
            <a:avLst>
              <a:gd name="adj" fmla="val 3687"/>
            </a:avLst>
          </a:prstGeom>
          <a:noFill/>
          <a:ln w="12700">
            <a:solidFill>
              <a:srgbClr val="E0C0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F5E7DF"/>
                </a:solidFill>
                <a:latin typeface="Montserrat"/>
              </a:rPr>
              <a:t>MODULE 13   |   VIDEO 13.6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950976"/>
            <a:ext cx="10469880" cy="12801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1828800" cy="12801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D8A994"/>
                </a:solidFill>
                <a:latin typeface="Montserrat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40280"/>
            <a:ext cx="871697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Montserrat"/>
              </a:rPr>
              <a:t>A short pitch done with full presence is worth more than a long pitch done with doubt.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4480560"/>
            <a:ext cx="146304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0" b="1">
                <a:solidFill>
                  <a:srgbClr val="D8A994"/>
                </a:solidFill>
                <a:latin typeface="Montserrat"/>
              </a:rPr>
              <a:t>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FFFFFF"/>
                </a:solidFill>
                <a:latin typeface="Montserrat"/>
              </a:rPr>
              <a:t>L U K E   H A W K I N 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29184"/>
            <a:ext cx="11496751" cy="6199632"/>
          </a:xfrm>
          <a:prstGeom prst="roundRect">
            <a:avLst>
              <a:gd name="adj" fmla="val 3687"/>
            </a:avLst>
          </a:prstGeom>
          <a:noFill/>
          <a:ln w="12700">
            <a:solidFill>
              <a:srgbClr val="E0C0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F5E7DF"/>
                </a:solidFill>
                <a:latin typeface="Montserrat"/>
              </a:rPr>
              <a:t>MODULE 13   |   VIDEO 13.7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950976"/>
            <a:ext cx="10469880" cy="12801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9713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ontserrat"/>
              </a:rPr>
              <a:t>Building Your Speaking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534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5E7DF"/>
                </a:solidFill>
                <a:latin typeface="Montserrat"/>
              </a:rPr>
              <a:t>Mission → Message → Mastery → Monetise → Multiply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FFFFFF"/>
                </a:solidFill>
                <a:latin typeface="Montserrat"/>
              </a:rPr>
              <a:t>L U K E   H A W K I N 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13.7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The 5M Model —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3456432"/>
          </a:xfrm>
          <a:prstGeom prst="roundRect">
            <a:avLst>
              <a:gd name="adj" fmla="val 582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3456432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6095847" y="2395728"/>
            <a:ext cx="0" cy="1252728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377440" y="3282696"/>
            <a:ext cx="3718407" cy="365760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95847" y="3282696"/>
            <a:ext cx="3718408" cy="365760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206240" y="3648456"/>
            <a:ext cx="1889607" cy="1106424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3648456"/>
            <a:ext cx="1889608" cy="1106424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21427" y="2574036"/>
            <a:ext cx="2148840" cy="2148840"/>
          </a:xfrm>
          <a:prstGeom prst="ellipse">
            <a:avLst/>
          </a:prstGeom>
          <a:solidFill>
            <a:srgbClr val="FCFAF9"/>
          </a:solidFill>
          <a:ln w="19050">
            <a:solidFill>
              <a:srgbClr val="C484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8587" y="3191256"/>
            <a:ext cx="1874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7171B"/>
                </a:solidFill>
                <a:latin typeface="Montserrat"/>
              </a:rPr>
              <a:t>BUSINESS SPINE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Mission → Multiply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4247" y="2048256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15687" y="2026310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7127" y="2157984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M2 — MESSAGE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One Big Idea + framework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328" y="3044952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72768" y="3023006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4208" y="3154680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M1 — MISSION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Your WHY + who you serve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7167" y="3044952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58607" y="3023006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0047" y="3154680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M3 — MASTERY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Skills + reps + feedback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4224528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71800" y="4202582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4334256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M4 — MONETISE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Offers + funnels + delivery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8135" y="4224528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59575" y="4202582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1015" y="4334256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M5 — MULTIPLY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Team + systems + scale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5413248"/>
            <a:ext cx="1028700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5413248"/>
            <a:ext cx="9738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Thread rule: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build each “M” on purpose — Mission sets direction, Multiply creates scale.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13.7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M1 —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57276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E4E55"/>
                </a:solidFill>
                <a:latin typeface="Montserrat"/>
              </a:rPr>
              <a:t>Define your WHY — and the impact you’re here to create.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5" y="1993392"/>
            <a:ext cx="10287000" cy="3877056"/>
          </a:xfrm>
          <a:prstGeom prst="roundRect">
            <a:avLst>
              <a:gd name="adj" fmla="val 5188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993392"/>
            <a:ext cx="82296" cy="3877056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6464" y="224942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19072" y="2194560"/>
            <a:ext cx="9345167" cy="698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Your WHY (purpose)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The cause you stand for — the change you want to see because you lived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6464" y="2948025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19072" y="2893161"/>
            <a:ext cx="9345167" cy="698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Who you serve (audience)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A clear person with a clear problem — not “everyone.”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6464" y="3646627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19072" y="3591763"/>
            <a:ext cx="9345167" cy="698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Problems you solve (outcomes)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Name the pains you remove and the results you create — in plain language.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6464" y="434522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19072" y="4290364"/>
            <a:ext cx="9345167" cy="698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Non‑negotiables (values)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The standards you won’t compromise — how you do the work matters.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6464" y="504383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19072" y="4988966"/>
            <a:ext cx="9345167" cy="698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Impact thesis (one sentence)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“I help [who] go from [before] to [after] so they can [meaningful result].”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13.7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M2 — Message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One Big Idea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A single core truth that the audience can repeat — and act 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270967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654808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Signature framework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A clear system that organizes your teaching (and makes you memorable).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31622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261360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Talk menu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3–5 talk titles that package your expertise for stages, workshops, and webinars.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392277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3867912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Differentiation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Your angle: what you believe that most people don’t — and why you’re right.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" y="4529327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4474463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Proof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Case studies, testimonials, results, credibility markers — shown without “trying to convince.”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26464" y="51358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9072" y="5081016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Outcomes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Name the measurable transformation: what changes, by when, and what it costs to stay the same.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13.7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M3 — Mastery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727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Delivery drills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Daily reps for voice, pauses, gestures, pacing, and presence under pressure.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283098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776118"/>
            <a:ext cx="9345167" cy="727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Story bank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Collect, tag, and practice your best stories so you can access them on demand.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55884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503980"/>
            <a:ext cx="9345167" cy="727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Objection handling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Pre-handle common doubts and respond cleanly without defensiveness or pressure.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4286707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4231843"/>
            <a:ext cx="9345167" cy="727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State management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Rituals, physiology, breath, and focus to enter certainty before you speak.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" y="5014569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4959705"/>
            <a:ext cx="9345167" cy="727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7171B"/>
                </a:solidFill>
                <a:latin typeface="Montserrat"/>
              </a:rPr>
              <a:t>Feedback loops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E4E55"/>
                </a:solidFill>
                <a:latin typeface="Montserrat"/>
              </a:rPr>
              <a:t>Record → review → refine. Use mentors, peers, and data to keep improving.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13.7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M4 — Monetise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57276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E4E55"/>
                </a:solidFill>
                <a:latin typeface="Montserrat"/>
              </a:rPr>
              <a:t>Build revenue streams that match your message (and your lifestyle)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993392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1288" y="1967788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71016" y="2240280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139696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Keynotes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Paid talks for events &amp; companies that want outcomes fast.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993392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1728" y="1967788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91456" y="2240280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139696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Workshops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Interactive learning that drives trust, leads, and conversions.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93392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02167" y="1967788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11896" y="2240280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139696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Courses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Scalable learning product that sells while you sleep.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064508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61288" y="403890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71016" y="431139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4210812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Coaching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High-touch transformation (1:1 or groups) with premium value.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064508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81728" y="403890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91456" y="431139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210812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Retainers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Recurring revenue for ongoing support, training, or advising.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4064508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02167" y="403890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11896" y="431139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4210812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Events + Licensing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Run your own events — plus affiliate / IP licensing income.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13.7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M5 — Multiply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57276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E4E55"/>
                </a:solidFill>
                <a:latin typeface="Montserrat"/>
              </a:rPr>
              <a:t>Scale impact with systems, assets, and partnerships — without losing your message.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993392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1288" y="1967788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71016" y="2240280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139696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Team Roles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Delivery, ops, sales support, content, and community — assign owners.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993392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1728" y="1967788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91456" y="2240280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139696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SOPs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Repeatable systems for events, follow-up, launches, and onboarding.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93392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02167" y="1967788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11896" y="2240280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139696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Assets Library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Slides, scripts, emails, offers, FAQs — centralized and versioned.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064508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61288" y="403890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71016" y="431139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4210812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Licensing IP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Package frameworks so others can deliver them — with quality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064508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81728" y="403890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91456" y="431139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210812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Partnerships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JV webinars, affiliates, communities, and events that expand reach.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4064508"/>
            <a:ext cx="3246120" cy="1778508"/>
          </a:xfrm>
          <a:prstGeom prst="roundRect">
            <a:avLst>
              <a:gd name="adj" fmla="val 7197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02167" y="403890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11896" y="431139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4210812"/>
            <a:ext cx="2569464" cy="1504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Media &amp; PR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Podcasts, press, and platforms that amplify authority at scale.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13.7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Revenue model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1671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3040" y="21433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21671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Free workshop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Value + quick 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8025" y="26517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6937" y="21671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8377" y="21433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0089" y="21671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Low‑ticket course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Self‑paced momentum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3363" y="26517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2275" y="21671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93715" y="21433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75427" y="21671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High‑ticket program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Coaching +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8700" y="26517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7612" y="21671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09052" y="21433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0764" y="21671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Retreats / events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High trust experiences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4038" y="26517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32950" y="21671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24390" y="21433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6102" y="21671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Upgrade points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Next best step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69767" y="3813048"/>
            <a:ext cx="5852160" cy="1051560"/>
          </a:xfrm>
          <a:prstGeom prst="roundRect">
            <a:avLst>
              <a:gd name="adj" fmla="val 1043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79495" y="3789273"/>
            <a:ext cx="5632704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44087" y="3922776"/>
            <a:ext cx="5303520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Upgrade triggers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Quick win → desire • Proof → trust • Deadline → decision.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5880" y="5230368"/>
            <a:ext cx="973836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0200" y="5230368"/>
            <a:ext cx="9189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7171B"/>
                </a:solidFill>
                <a:latin typeface="Montserrat"/>
              </a:rPr>
              <a:t>Design each step to deliver value — and make the next upgrade feel like the most natural move.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13.7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The Speaking Business Flywheel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3456432"/>
          </a:xfrm>
          <a:prstGeom prst="roundRect">
            <a:avLst>
              <a:gd name="adj" fmla="val 582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3456432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6095847" y="2395728"/>
            <a:ext cx="0" cy="1252728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377440" y="3282696"/>
            <a:ext cx="3718407" cy="365760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95847" y="3282696"/>
            <a:ext cx="3718408" cy="365760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206240" y="3648456"/>
            <a:ext cx="1889607" cy="1106424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3648456"/>
            <a:ext cx="1889608" cy="1106424"/>
          </a:xfrm>
          <a:prstGeom prst="line">
            <a:avLst/>
          </a:prstGeom>
          <a:ln w="12700">
            <a:solidFill>
              <a:srgbClr val="DDC0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21427" y="2574036"/>
            <a:ext cx="2148840" cy="2148840"/>
          </a:xfrm>
          <a:prstGeom prst="ellipse">
            <a:avLst/>
          </a:prstGeom>
          <a:solidFill>
            <a:srgbClr val="FCFAF9"/>
          </a:solidFill>
          <a:ln w="19050">
            <a:solidFill>
              <a:srgbClr val="C484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8587" y="3191256"/>
            <a:ext cx="1874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7171B"/>
                </a:solidFill>
                <a:latin typeface="Montserrat"/>
              </a:rPr>
              <a:t>MOMENTUM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Compounds when each step feeds the next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4247" y="2048256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15687" y="2026310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7127" y="2157984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VALUE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Quick wins + real outcomes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328" y="3044952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72768" y="3023006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4208" y="3154680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AUDIENCE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Attention you’ve earned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7167" y="3044952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58607" y="3023006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0047" y="3154680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OFFER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Clear next step to go deeper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4224528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71800" y="4202582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4334256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DELIVERY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Deliver &amp; over-deliver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8135" y="4224528"/>
            <a:ext cx="2743200" cy="932688"/>
          </a:xfrm>
          <a:prstGeom prst="roundRect">
            <a:avLst>
              <a:gd name="adj" fmla="val 11764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59575" y="4202582"/>
            <a:ext cx="2560320" cy="59436"/>
          </a:xfrm>
          <a:prstGeom prst="roundRect">
            <a:avLst>
              <a:gd name="adj" fmla="val 4923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1015" y="4334256"/>
            <a:ext cx="2377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PROOF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Testimonials + case studies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5413248"/>
            <a:ext cx="1028700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5413248"/>
            <a:ext cx="9738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Flywheel rule: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proof creates more audience — and the next cycle becomes easier, faster, and more profitable.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13.7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90-day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8529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3040" y="28291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28529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1ST TALK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BOOK + DELIVER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8025" y="33375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6937" y="28529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8377" y="28291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0089" y="28529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1ST WORKSHOP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RUN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3363" y="33375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2275" y="28529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93715" y="28291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75427" y="28529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1ST OFFER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LIVE CTA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8700" y="33375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7612" y="28529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09052" y="28291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0764" y="28529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10 SALES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PROOF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4038" y="33375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32950" y="28529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24390" y="28291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6102" y="28529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REFERRAL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4E4E55"/>
                </a:solidFill>
                <a:latin typeface="Montserrat"/>
              </a:rPr>
              <a:t>1ST PARTNER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5029200"/>
            <a:ext cx="9738360" cy="658368"/>
          </a:xfrm>
          <a:prstGeom prst="roundRect">
            <a:avLst>
              <a:gd name="adj" fmla="val 22222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00200" y="5029200"/>
            <a:ext cx="9189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Review KPIs weekly: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Bookings • Show-up rate • Conversions • Revenue per event • Referral sources — fix the weakest link first.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29184"/>
            <a:ext cx="11496751" cy="6199632"/>
          </a:xfrm>
          <a:prstGeom prst="roundRect">
            <a:avLst>
              <a:gd name="adj" fmla="val 3687"/>
            </a:avLst>
          </a:prstGeom>
          <a:noFill/>
          <a:ln w="12700">
            <a:solidFill>
              <a:srgbClr val="E0C0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F5E7DF"/>
                </a:solidFill>
                <a:latin typeface="Montserrat"/>
              </a:rPr>
              <a:t>MODULE 13   |   VIDEO 13.7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950976"/>
            <a:ext cx="10469880" cy="12801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1828800" cy="12801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D8A994"/>
                </a:solidFill>
                <a:latin typeface="Montserrat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40280"/>
            <a:ext cx="871697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Montserrat"/>
              </a:rPr>
              <a:t>Speaking is not just a skill — it’s a business. Build it on purpose.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4480560"/>
            <a:ext cx="146304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0" b="1">
                <a:solidFill>
                  <a:srgbClr val="D8A994"/>
                </a:solidFill>
                <a:latin typeface="Montserrat"/>
              </a:rPr>
              <a:t>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FFFFFF"/>
                </a:solidFill>
                <a:latin typeface="Montserrat"/>
              </a:rPr>
              <a:t>L U K E   H A W K I N 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29184"/>
            <a:ext cx="11496751" cy="6199632"/>
          </a:xfrm>
          <a:prstGeom prst="roundRect">
            <a:avLst>
              <a:gd name="adj" fmla="val 3687"/>
            </a:avLst>
          </a:prstGeom>
          <a:noFill/>
          <a:ln w="12700">
            <a:solidFill>
              <a:srgbClr val="E0C0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F5E7DF"/>
                </a:solidFill>
                <a:latin typeface="Montserrat"/>
              </a:rPr>
              <a:t>MODULE 13   |   VIDEO 13.8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950976"/>
            <a:ext cx="10469880" cy="12801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9713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ontserrat"/>
              </a:rPr>
              <a:t>Legacy, Post‑Event System &amp; Your Next 90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94760"/>
            <a:ext cx="8534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5E7DF"/>
                </a:solidFill>
                <a:latin typeface="Montserrat"/>
              </a:rPr>
              <a:t>What you build now, the world will remember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FFFFFF"/>
                </a:solidFill>
                <a:latin typeface="Montserrat"/>
              </a:rPr>
              <a:t>L U K E   H A W K I N 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13.8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Your post‑event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8529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3040" y="28291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28529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CAPTURE LEADS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8025" y="33375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6937" y="28529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8377" y="28291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0089" y="28529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TAG INTERESTS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3363" y="33375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2275" y="28529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93715" y="28291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75427" y="28529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SEND RECAP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8700" y="33375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7612" y="28529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09052" y="28291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0764" y="28529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DELIVER BONUS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4038" y="3337560"/>
            <a:ext cx="512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32950" y="2852928"/>
            <a:ext cx="1631289" cy="1371600"/>
          </a:xfrm>
          <a:prstGeom prst="roundRect">
            <a:avLst>
              <a:gd name="adj" fmla="val 800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24390" y="2829153"/>
            <a:ext cx="1448409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6102" y="2852928"/>
            <a:ext cx="148498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7171B"/>
                </a:solidFill>
                <a:latin typeface="Montserrat"/>
              </a:rPr>
              <a:t>CTA → BOOK CALLS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5230368"/>
            <a:ext cx="973836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00200" y="5230368"/>
            <a:ext cx="9189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System rule: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Don’t “hope” they remember you — automate the next step while the emotion is still fresh.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13.8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Lead capture ideas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7101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QR to Gift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Instant download (tool, guide, replay) in exchange for email.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145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SMS Opt‑In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Text a keyword to join — fast, simple, high show‑up rates.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02167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1189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Landing Page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Clean form + clear promise; track conversions by source.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128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7101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Paper Forms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Simple signup sheet at the exit — enter into CRM the same day.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8172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9145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Badge Scans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For conferences: capture leads with event scanners + consent.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02167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1189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Calendar Link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Book a call on the spot — one link, one clear next step.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13.8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Follow‑up sequence —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852928"/>
            <a:ext cx="1356359" cy="1371600"/>
          </a:xfrm>
          <a:prstGeom prst="roundRect">
            <a:avLst>
              <a:gd name="adj" fmla="val 8089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3040" y="2829153"/>
            <a:ext cx="117348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2852928"/>
            <a:ext cx="12100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D1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THANK‑YOU + REPLAY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3096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38856" y="2852928"/>
            <a:ext cx="1356359" cy="1371600"/>
          </a:xfrm>
          <a:prstGeom prst="roundRect">
            <a:avLst>
              <a:gd name="adj" fmla="val 8089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30296" y="2829153"/>
            <a:ext cx="117348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2008" y="2852928"/>
            <a:ext cx="12100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D2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0352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6112" y="2852928"/>
            <a:ext cx="1356359" cy="1371600"/>
          </a:xfrm>
          <a:prstGeom prst="roundRect">
            <a:avLst>
              <a:gd name="adj" fmla="val 8089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97551" y="2829153"/>
            <a:ext cx="117348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9264" y="2852928"/>
            <a:ext cx="12100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D4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FAQ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8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73368" y="2852928"/>
            <a:ext cx="1356359" cy="1371600"/>
          </a:xfrm>
          <a:prstGeom prst="roundRect">
            <a:avLst>
              <a:gd name="adj" fmla="val 8089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64807" y="2829153"/>
            <a:ext cx="117348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852928"/>
            <a:ext cx="12100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D6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BONUS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4863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0624" y="2852928"/>
            <a:ext cx="1356359" cy="1371600"/>
          </a:xfrm>
          <a:prstGeom prst="roundRect">
            <a:avLst>
              <a:gd name="adj" fmla="val 8089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2063" y="2829153"/>
            <a:ext cx="117348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3776" y="2852928"/>
            <a:ext cx="12100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D8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DEADLINE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2119" y="3337560"/>
            <a:ext cx="43891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4846B"/>
                </a:solidFill>
                <a:latin typeface="Montserrat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07880" y="2852928"/>
            <a:ext cx="1356359" cy="1371600"/>
          </a:xfrm>
          <a:prstGeom prst="roundRect">
            <a:avLst>
              <a:gd name="adj" fmla="val 8089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99320" y="2829153"/>
            <a:ext cx="1173480" cy="64008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1032" y="2852928"/>
            <a:ext cx="12100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7171B"/>
                </a:solidFill>
                <a:latin typeface="Montserrat"/>
              </a:rPr>
              <a:t>D10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>
                <a:solidFill>
                  <a:srgbClr val="4E4E55"/>
                </a:solidFill>
                <a:latin typeface="Montserrat"/>
              </a:rPr>
              <a:t>FINAL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25880" y="5029200"/>
            <a:ext cx="9738360" cy="658368"/>
          </a:xfrm>
          <a:prstGeom prst="roundRect">
            <a:avLst>
              <a:gd name="adj" fmla="val 22222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0200" y="5029200"/>
            <a:ext cx="9189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Sequencing rule: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Start with value and clarity → then add proof, answers, and a clean deadline. Each touch removes friction and increases certainty.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13.8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Testimonial &amp; proof 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1847088"/>
            <a:ext cx="10287000" cy="4023360"/>
          </a:xfrm>
          <a:prstGeom prst="roundRect">
            <a:avLst>
              <a:gd name="adj" fmla="val 5000"/>
            </a:avLst>
          </a:prstGeom>
          <a:solidFill>
            <a:srgbClr val="F6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847088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2103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048256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Prompt questions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Give 4–6 questions that pull out specific outcomes (before/after + emotion + result).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270967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654808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Video ask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Simple 20–40s request: “What changed for you?” + “What would you tell someone on the fence?”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31622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261360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Photo rights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Get explicit permission to use photos/videos for marketing (where + how long).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392277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3867912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Consent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Especially for sober/conscious spaces: confirm comfort level and preferred name/handle.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" y="4529327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4474463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Storage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One organized folder: event name → raw files → edited assets → approvals.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26464" y="51358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9072" y="5081016"/>
            <a:ext cx="9345167" cy="606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Showcase templates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4E4E55"/>
                </a:solidFill>
                <a:latin typeface="Montserrat"/>
              </a:rPr>
              <a:t>Pre-made layouts for IG, email, and landing pages so proof gets published fast.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13.8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Legacy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10287000" cy="713232"/>
          </a:xfrm>
          <a:prstGeom prst="roundRect">
            <a:avLst>
              <a:gd name="adj" fmla="val 20512"/>
            </a:avLst>
          </a:prstGeom>
          <a:solidFill>
            <a:srgbClr val="E9D6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938528"/>
            <a:ext cx="9646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spc="250">
                <a:solidFill>
                  <a:srgbClr val="17171B"/>
                </a:solidFill>
                <a:latin typeface="Montserrat"/>
              </a:rPr>
              <a:t>PROMPT</a:t>
            </a:r>
          </a:p>
          <a:p>
            <a:pPr algn="l">
              <a:lnSpc>
                <a:spcPct val="110000"/>
              </a:lnSpc>
            </a:pPr>
            <a:r>
              <a:rPr sz="1300" b="1">
                <a:solidFill>
                  <a:srgbClr val="17171B"/>
                </a:solidFill>
                <a:latin typeface="Montserrat"/>
              </a:rPr>
              <a:t>Answer these three questions — then write one sentence you’ll live by.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715768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61288" y="269016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71016" y="296265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6207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Known for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What do you want to be known for?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715768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81728" y="269016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91456" y="296265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86207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Serve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Who do you serve in 10 years?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15768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02167" y="269016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11896" y="296265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86207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Impact metrics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What impact metrics matter most?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133087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61288" y="4107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71016" y="4379975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427939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Write it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Turn answers into one sentence.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133087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81728" y="4107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91456" y="4379975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427939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Focus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Choose your top 1 metric for 90 days.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4133087"/>
            <a:ext cx="3246120" cy="1124712"/>
          </a:xfrm>
          <a:prstGeom prst="roundRect">
            <a:avLst>
              <a:gd name="adj" fmla="val 11382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02167" y="4107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11896" y="4379975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4279392"/>
            <a:ext cx="256946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Review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Weekly check-in: track → adjust.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5394960"/>
            <a:ext cx="1028700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5394960"/>
            <a:ext cx="9738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7171B"/>
                </a:solidFill>
                <a:latin typeface="Montserrat"/>
              </a:rPr>
              <a:t>If it’s not measurable, it’s not manageable — pick one North Star and let your calendar prove it.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13.8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Your next 90‑day action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10287000" cy="530352"/>
          </a:xfrm>
          <a:prstGeom prst="roundRect">
            <a:avLst>
              <a:gd name="adj" fmla="val 24137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847088"/>
            <a:ext cx="374903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00">
                <a:solidFill>
                  <a:srgbClr val="FFFFFF"/>
                </a:solidFill>
                <a:latin typeface="Montserrat"/>
              </a:rPr>
              <a:t>MILESTONE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847088"/>
            <a:ext cx="1920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spc="200">
                <a:solidFill>
                  <a:srgbClr val="FFFFFF"/>
                </a:solidFill>
                <a:latin typeface="Montserrat"/>
              </a:rPr>
              <a:t>OWNER +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847088"/>
            <a:ext cx="33832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200">
                <a:solidFill>
                  <a:srgbClr val="FFFFFF"/>
                </a:solidFill>
                <a:latin typeface="Montserrat"/>
              </a:rPr>
              <a:t>METRICS + RISKS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514600"/>
            <a:ext cx="10287000" cy="838200"/>
          </a:xfrm>
          <a:prstGeom prst="roundRect">
            <a:avLst>
              <a:gd name="adj" fmla="val 1309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2750820"/>
            <a:ext cx="137160" cy="137160"/>
          </a:xfrm>
          <a:prstGeom prst="roundRect">
            <a:avLst>
              <a:gd name="adj" fmla="val 3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514600"/>
            <a:ext cx="347472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Book &amp; deliver your next talk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Create momentum with a real room (or webinar).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514600"/>
            <a:ext cx="192024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7171B"/>
                </a:solidFill>
                <a:latin typeface="Montserrat"/>
              </a:rPr>
              <a:t>You + D14 (within 2 weeks)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514600"/>
            <a:ext cx="338328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E4E55"/>
                </a:solidFill>
                <a:latin typeface="Montserrat"/>
              </a:rPr>
              <a:t>Metric: 1 booked slot + recording. Risk: perfection → delay.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480816"/>
            <a:ext cx="10287000" cy="838200"/>
          </a:xfrm>
          <a:prstGeom prst="roundRect">
            <a:avLst>
              <a:gd name="adj" fmla="val 1309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3717035"/>
            <a:ext cx="137160" cy="137160"/>
          </a:xfrm>
          <a:prstGeom prst="roundRect">
            <a:avLst>
              <a:gd name="adj" fmla="val 3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3480816"/>
            <a:ext cx="347472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Run your first free workshop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Value + quick win + clean offer.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3480816"/>
            <a:ext cx="192024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7171B"/>
                </a:solidFill>
                <a:latin typeface="Montserrat"/>
              </a:rPr>
              <a:t>You + D30 (within 30 days)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480816"/>
            <a:ext cx="338328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E4E55"/>
                </a:solidFill>
                <a:latin typeface="Montserrat"/>
              </a:rPr>
              <a:t>Metric: show‑ups + leads captured. Risk: no follow‑up system.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447032"/>
            <a:ext cx="10287000" cy="838200"/>
          </a:xfrm>
          <a:prstGeom prst="roundRect">
            <a:avLst>
              <a:gd name="adj" fmla="val 13090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71600" y="4683251"/>
            <a:ext cx="137160" cy="137160"/>
          </a:xfrm>
          <a:prstGeom prst="roundRect">
            <a:avLst>
              <a:gd name="adj" fmla="val 33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447032"/>
            <a:ext cx="347472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7171B"/>
                </a:solidFill>
                <a:latin typeface="Montserrat"/>
              </a:rPr>
              <a:t>Close your first 10 conversations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4E4E55"/>
                </a:solidFill>
                <a:latin typeface="Montserrat"/>
              </a:rPr>
              <a:t>Build reps. Track conversion levers.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447032"/>
            <a:ext cx="192024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7171B"/>
                </a:solidFill>
                <a:latin typeface="Montserrat"/>
              </a:rPr>
              <a:t>You + D90 (by day 90)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447032"/>
            <a:ext cx="338328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E4E55"/>
                </a:solidFill>
                <a:latin typeface="Montserrat"/>
              </a:rPr>
              <a:t>Metric: #calls, #offers, #sales. Risk: unclear CTA / weak urgency.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5394960"/>
            <a:ext cx="10287000" cy="457200"/>
          </a:xfrm>
          <a:prstGeom prst="roundRect">
            <a:avLst>
              <a:gd name="adj" fmla="val 32000"/>
            </a:avLst>
          </a:prstGeom>
          <a:solidFill>
            <a:srgbClr val="E8D5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5394960"/>
            <a:ext cx="9738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71B"/>
                </a:solidFill>
                <a:latin typeface="Montserrat"/>
              </a:rPr>
              <a:t>Weekly review rhythm: </a:t>
            </a:r>
            <a:r>
              <a:rPr sz="1050" b="0">
                <a:solidFill>
                  <a:srgbClr val="17171B"/>
                </a:solidFill>
                <a:latin typeface="Montserrat"/>
              </a:rPr>
              <a:t>wins → metrics → bottleneck → next 3 actions (15 minutes, same day each week).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EBE4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MODULE 13   |   VIDEO 13.8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768096"/>
            <a:ext cx="10469880" cy="12801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93268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171B"/>
                </a:solidFill>
                <a:latin typeface="Montserrat"/>
              </a:rPr>
              <a:t>Community &amp;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D7B2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17171B"/>
                </a:solidFill>
                <a:latin typeface="Montserrat"/>
              </a:rPr>
              <a:t>L U K E   H A W K I N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7101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Group calls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Live coaching, Q&amp;A, and momentum in real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145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Peer pods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Small-group practice, feedback, and weekly check-ins.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47088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02167" y="1821484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11896" y="2093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93392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Feedback threads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Post clips, get notes, iterate fast between talks.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128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7101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Events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Live meetups &amp; challenges that strengthen identity.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81728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9145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Resource hub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Templates, swipe files, and drills in one place.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991356"/>
            <a:ext cx="3246120" cy="1851660"/>
          </a:xfrm>
          <a:prstGeom prst="roundRect">
            <a:avLst>
              <a:gd name="adj" fmla="val 6913"/>
            </a:avLst>
          </a:prstGeom>
          <a:solidFill>
            <a:srgbClr val="FC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02167" y="3965752"/>
            <a:ext cx="3026664" cy="68580"/>
          </a:xfrm>
          <a:prstGeom prst="roundRect">
            <a:avLst>
              <a:gd name="adj" fmla="val 49333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11896" y="4238244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4137660"/>
            <a:ext cx="2569464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7171B"/>
                </a:solidFill>
                <a:latin typeface="Montserrat"/>
              </a:rPr>
              <a:t>Accountability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4E4E55"/>
                </a:solidFill>
                <a:latin typeface="Montserrat"/>
              </a:rPr>
              <a:t>Commitments, scorecards, and follow-through rhythms.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29184"/>
            <a:ext cx="11496751" cy="6199632"/>
          </a:xfrm>
          <a:prstGeom prst="roundRect">
            <a:avLst>
              <a:gd name="adj" fmla="val 3687"/>
            </a:avLst>
          </a:prstGeom>
          <a:noFill/>
          <a:ln w="12700">
            <a:solidFill>
              <a:srgbClr val="E0C0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F5E7DF"/>
                </a:solidFill>
                <a:latin typeface="Montserrat"/>
              </a:rPr>
              <a:t>MODULE 13   |   VIDEO 13.8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950976"/>
            <a:ext cx="10469880" cy="12801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1828800" cy="12801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D8A994"/>
                </a:solidFill>
                <a:latin typeface="Montserrat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40280"/>
            <a:ext cx="871697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Montserrat"/>
              </a:rPr>
              <a:t>Thank you for doing the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959100"/>
            <a:ext cx="8351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5E7DF"/>
                </a:solidFill>
                <a:latin typeface="Montserrat"/>
              </a:rPr>
              <a:t>Remember: you’re not here to be perfect — you’re here to be present. Speak to serve. Lead with truth. And take the first step —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4480560"/>
            <a:ext cx="146304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0" b="1">
                <a:solidFill>
                  <a:srgbClr val="D8A994"/>
                </a:solidFill>
                <a:latin typeface="Montserrat"/>
              </a:rPr>
              <a:t>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FFFFFF"/>
                </a:solidFill>
                <a:latin typeface="Montserrat"/>
              </a:rPr>
              <a:t>L U K E   H A W K I N 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" y="-27432"/>
            <a:ext cx="12246559" cy="6912864"/>
          </a:xfrm>
          <a:prstGeom prst="rect">
            <a:avLst/>
          </a:prstGeom>
          <a:solidFill>
            <a:srgbClr val="C484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29184"/>
            <a:ext cx="11496751" cy="6199632"/>
          </a:xfrm>
          <a:prstGeom prst="roundRect">
            <a:avLst>
              <a:gd name="adj" fmla="val 3687"/>
            </a:avLst>
          </a:prstGeom>
          <a:noFill/>
          <a:ln w="12700">
            <a:solidFill>
              <a:srgbClr val="E0C0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300">
                <a:solidFill>
                  <a:srgbClr val="F5E7DF"/>
                </a:solidFill>
                <a:latin typeface="Montserrat"/>
              </a:rPr>
              <a:t>MODULE 13   |   VIDEO 13.8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950976"/>
            <a:ext cx="10469880" cy="12801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999713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ontserrat"/>
              </a:rPr>
              <a:t>This is your moment.</a:t>
            </a:r>
          </a:p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ontserrat"/>
              </a:rPr>
              <a:t>It starts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09847" y="3794760"/>
            <a:ext cx="4572000" cy="14630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8534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5E7DF"/>
                </a:solidFill>
                <a:latin typeface="Montserrat"/>
              </a:rPr>
              <a:t>Go do the work — the world is waiting for your voice.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6089904"/>
            <a:ext cx="2926080" cy="10972"/>
          </a:xfrm>
          <a:prstGeom prst="rect">
            <a:avLst/>
          </a:prstGeom>
          <a:solidFill>
            <a:srgbClr val="E0C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236208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300">
                <a:solidFill>
                  <a:srgbClr val="FFFFFF"/>
                </a:solidFill>
                <a:latin typeface="Montserrat"/>
              </a:rPr>
              <a:t>L U K E   H A W K I N 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